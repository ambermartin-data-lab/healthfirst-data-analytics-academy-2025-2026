
<file path=[Content_Types].xml><?xml version="1.0" encoding="utf-8"?>
<Types xmlns="http://schemas.openxmlformats.org/package/2006/content-types">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48" r:id="rId1"/>
  </p:sldMasterIdLst>
  <p:notesMasterIdLst>
    <p:notesMasterId r:id="rId17"/>
  </p:notesMasterIdLst>
  <p:sldIdLst>
    <p:sldId id="256" r:id="rId2"/>
    <p:sldId id="258" r:id="rId3"/>
    <p:sldId id="259" r:id="rId4"/>
    <p:sldId id="257" r:id="rId5"/>
    <p:sldId id="260" r:id="rId6"/>
    <p:sldId id="271" r:id="rId7"/>
    <p:sldId id="261" r:id="rId8"/>
    <p:sldId id="263" r:id="rId9"/>
    <p:sldId id="264" r:id="rId10"/>
    <p:sldId id="265" r:id="rId11"/>
    <p:sldId id="268" r:id="rId12"/>
    <p:sldId id="272" r:id="rId13"/>
    <p:sldId id="266" r:id="rId14"/>
    <p:sldId id="270" r:id="rId15"/>
    <p:sldId id="267" r:id="rId16"/>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 uri="GoogleSlidesCustomDataVersion2">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r:id="rId20" roundtripDataSignature="AMtx7mjL/mj1bI760Fd+eHFJU3wGSqTEPQ=="/>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33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1B785A56-19A4-4FE7-9E7A-FCCC650BDB2C}" v="2" dt="2026-06-04T12:27:59.783"/>
  </p1510:revLst>
</p1510:revInfo>
</file>

<file path=ppt/tableStyles.xml><?xml version="1.0" encoding="utf-8"?>
<a:tblStyleLst xmlns:a="http://schemas.openxmlformats.org/drawingml/2006/main" def="{BF6E8B31-96C8-443F-9208-14A7F6011B82}">
  <a:tblStyle styleId="{BF6E8B31-96C8-443F-9208-14A7F6011B82}" styleName="Table_0">
    <a:wholeTbl>
      <a:tcTxStyle b="off" i="off">
        <a:font>
          <a:latin typeface="Calibri"/>
          <a:ea typeface="Calibri"/>
          <a:cs typeface="Calibri"/>
        </a:font>
        <a:schemeClr val="dk1"/>
      </a:tcTxStyle>
      <a:tcStyle>
        <a:tcBdr>
          <a:left>
            <a:ln w="9525" cap="flat" cmpd="sng">
              <a:solidFill>
                <a:schemeClr val="accent6"/>
              </a:solidFill>
              <a:prstDash val="solid"/>
              <a:round/>
              <a:headEnd type="none" w="sm" len="sm"/>
              <a:tailEnd type="none" w="sm" len="sm"/>
            </a:ln>
          </a:left>
          <a:right>
            <a:ln w="9525" cap="flat" cmpd="sng">
              <a:solidFill>
                <a:schemeClr val="accent6"/>
              </a:solidFill>
              <a:prstDash val="solid"/>
              <a:round/>
              <a:headEnd type="none" w="sm" len="sm"/>
              <a:tailEnd type="none" w="sm" len="sm"/>
            </a:ln>
          </a:right>
          <a:top>
            <a:ln w="9525" cap="flat" cmpd="sng">
              <a:solidFill>
                <a:schemeClr val="accent6"/>
              </a:solidFill>
              <a:prstDash val="solid"/>
              <a:round/>
              <a:headEnd type="none" w="sm" len="sm"/>
              <a:tailEnd type="none" w="sm" len="sm"/>
            </a:ln>
          </a:top>
          <a:bottom>
            <a:ln w="9525" cap="flat" cmpd="sng">
              <a:solidFill>
                <a:schemeClr val="accent6"/>
              </a:solidFill>
              <a:prstDash val="solid"/>
              <a:round/>
              <a:headEnd type="none" w="sm" len="sm"/>
              <a:tailEnd type="none" w="sm" len="sm"/>
            </a:ln>
          </a:bottom>
          <a:insideH>
            <a:ln w="9525" cap="flat" cmpd="sng">
              <a:solidFill>
                <a:srgbClr val="000000">
                  <a:alpha val="0"/>
                </a:srgbClr>
              </a:solidFill>
              <a:prstDash val="solid"/>
              <a:round/>
              <a:headEnd type="none" w="sm" len="sm"/>
              <a:tailEnd type="none" w="sm" len="sm"/>
            </a:ln>
          </a:insideH>
          <a:insideV>
            <a:ln w="9525" cap="flat" cmpd="sng">
              <a:solidFill>
                <a:srgbClr val="000000">
                  <a:alpha val="0"/>
                </a:srgbClr>
              </a:solidFill>
              <a:prstDash val="solid"/>
              <a:round/>
              <a:headEnd type="none" w="sm" len="sm"/>
              <a:tailEnd type="none" w="sm" len="sm"/>
            </a:ln>
          </a:insideV>
        </a:tcBdr>
        <a:fill>
          <a:solidFill>
            <a:srgbClr val="FFFFFF">
              <a:alpha val="0"/>
            </a:srgbClr>
          </a:solidFill>
        </a:fill>
      </a:tcStyle>
    </a:wholeTbl>
    <a:band1H>
      <a:tcTxStyle/>
      <a:tcStyle>
        <a:tcBdr>
          <a:top>
            <a:ln w="9525" cap="flat" cmpd="sng">
              <a:solidFill>
                <a:schemeClr val="accent6"/>
              </a:solidFill>
              <a:prstDash val="solid"/>
              <a:round/>
              <a:headEnd type="none" w="sm" len="sm"/>
              <a:tailEnd type="none" w="sm" len="sm"/>
            </a:ln>
          </a:top>
          <a:bottom>
            <a:ln w="9525" cap="flat" cmpd="sng">
              <a:solidFill>
                <a:schemeClr val="accent6"/>
              </a:solidFill>
              <a:prstDash val="solid"/>
              <a:round/>
              <a:headEnd type="none" w="sm" len="sm"/>
              <a:tailEnd type="none" w="sm" len="sm"/>
            </a:ln>
          </a:bottom>
        </a:tcBdr>
      </a:tcStyle>
    </a:band1H>
    <a:band2H>
      <a:tcTxStyle/>
      <a:tcStyle>
        <a:tcBdr/>
      </a:tcStyle>
    </a:band2H>
    <a:band1V>
      <a:tcTxStyle/>
      <a:tcStyle>
        <a:tcBdr>
          <a:left>
            <a:ln w="9525" cap="flat" cmpd="sng">
              <a:solidFill>
                <a:schemeClr val="accent6"/>
              </a:solidFill>
              <a:prstDash val="solid"/>
              <a:round/>
              <a:headEnd type="none" w="sm" len="sm"/>
              <a:tailEnd type="none" w="sm" len="sm"/>
            </a:ln>
          </a:left>
          <a:right>
            <a:ln w="9525" cap="flat" cmpd="sng">
              <a:solidFill>
                <a:schemeClr val="accent6"/>
              </a:solidFill>
              <a:prstDash val="solid"/>
              <a:round/>
              <a:headEnd type="none" w="sm" len="sm"/>
              <a:tailEnd type="none" w="sm" len="sm"/>
            </a:ln>
          </a:right>
        </a:tcBdr>
      </a:tcStyle>
    </a:band1V>
    <a:band2V>
      <a:tcTxStyle/>
      <a:tcStyle>
        <a:tcBdr>
          <a:left>
            <a:ln w="9525" cap="flat" cmpd="sng">
              <a:solidFill>
                <a:schemeClr val="accent6"/>
              </a:solidFill>
              <a:prstDash val="solid"/>
              <a:round/>
              <a:headEnd type="none" w="sm" len="sm"/>
              <a:tailEnd type="none" w="sm" len="sm"/>
            </a:ln>
          </a:left>
          <a:right>
            <a:ln w="9525" cap="flat" cmpd="sng">
              <a:solidFill>
                <a:schemeClr val="accent6"/>
              </a:solidFill>
              <a:prstDash val="solid"/>
              <a:round/>
              <a:headEnd type="none" w="sm" len="sm"/>
              <a:tailEnd type="none" w="sm" len="sm"/>
            </a:ln>
          </a:right>
        </a:tcBdr>
      </a:tcStyle>
    </a:band2V>
    <a:lastCol>
      <a:tcTxStyle b="on" i="off"/>
      <a:tcStyle>
        <a:tcBdr/>
      </a:tcStyle>
    </a:lastCol>
    <a:firstCol>
      <a:tcTxStyle b="on" i="off"/>
      <a:tcStyle>
        <a:tcBdr/>
      </a:tcStyle>
    </a:firstCol>
    <a:lastRow>
      <a:tcTxStyle b="on" i="off"/>
      <a:tcStyle>
        <a:tcBdr>
          <a:top>
            <a:ln w="50800" cap="flat" cmpd="sng">
              <a:solidFill>
                <a:schemeClr val="accent6"/>
              </a:solidFill>
              <a:prstDash val="solid"/>
              <a:round/>
              <a:headEnd type="none" w="sm" len="sm"/>
              <a:tailEnd type="none" w="sm" len="sm"/>
            </a:ln>
          </a:top>
        </a:tcBdr>
      </a:tcStyle>
    </a:lastRow>
    <a:seCell>
      <a:tcTxStyle/>
      <a:tcStyle>
        <a:tcBdr/>
      </a:tcStyle>
    </a:seCell>
    <a:swCell>
      <a:tcTxStyle/>
      <a:tcStyle>
        <a:tcBdr/>
      </a:tcStyle>
    </a:swCell>
    <a:firstRow>
      <a:tcTxStyle b="on" i="off">
        <a:font>
          <a:latin typeface="Calibri"/>
          <a:ea typeface="Calibri"/>
          <a:cs typeface="Calibri"/>
        </a:font>
        <a:schemeClr val="lt1"/>
      </a:tcTxStyle>
      <a:tcStyle>
        <a:tcBdr/>
        <a:fill>
          <a:solidFill>
            <a:schemeClr val="accent6"/>
          </a:solidFill>
        </a:fill>
      </a:tcStyle>
    </a:firstRow>
    <a:neCell>
      <a:tcTxStyle/>
      <a:tcStyle>
        <a:tcBdr/>
      </a:tcStyle>
    </a:neCell>
    <a:nwCell>
      <a:tcTxStyle/>
      <a:tcStyle>
        <a:tcBdr/>
      </a:tcStyle>
    </a:nwCell>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35758FB7-9AC5-4552-8A53-C91805E547FA}" styleName="Themed Style 1 - Accent 5">
    <a:tblBg>
      <a:fillRef idx="2">
        <a:schemeClr val="accent5"/>
      </a:fillRef>
      <a:effectRef idx="1">
        <a:schemeClr val="accent5"/>
      </a:effectRef>
    </a:tblBg>
    <a:wholeTbl>
      <a:tcTxStyle>
        <a:fontRef idx="minor">
          <a:scrgbClr r="0" g="0" b="0"/>
        </a:fontRef>
        <a:schemeClr val="dk1"/>
      </a:tcTxStyle>
      <a:tcStyle>
        <a:tcBdr>
          <a:left>
            <a:lnRef idx="1">
              <a:schemeClr val="accent5"/>
            </a:lnRef>
          </a:left>
          <a:right>
            <a:lnRef idx="1">
              <a:schemeClr val="accent5"/>
            </a:lnRef>
          </a:right>
          <a:top>
            <a:lnRef idx="1">
              <a:schemeClr val="accent5"/>
            </a:lnRef>
          </a:top>
          <a:bottom>
            <a:lnRef idx="1">
              <a:schemeClr val="accent5"/>
            </a:lnRef>
          </a:bottom>
          <a:insideH>
            <a:lnRef idx="1">
              <a:schemeClr val="accent5"/>
            </a:lnRef>
          </a:insideH>
          <a:insideV>
            <a:lnRef idx="1">
              <a:schemeClr val="accent5"/>
            </a:lnRef>
          </a:insideV>
        </a:tcBdr>
        <a:fill>
          <a:noFill/>
        </a:fill>
      </a:tcStyle>
    </a:wholeTbl>
    <a:band1H>
      <a:tcStyle>
        <a:tcBdr/>
        <a:fill>
          <a:solidFill>
            <a:schemeClr val="accent5">
              <a:alpha val="40000"/>
            </a:schemeClr>
          </a:solidFill>
        </a:fill>
      </a:tcStyle>
    </a:band1H>
    <a:band2H>
      <a:tcStyle>
        <a:tcBdr/>
      </a:tcStyle>
    </a:band2H>
    <a:band1V>
      <a:tcStyle>
        <a:tcBdr>
          <a:top>
            <a:lnRef idx="1">
              <a:schemeClr val="accent5"/>
            </a:lnRef>
          </a:top>
          <a:bottom>
            <a:lnRef idx="1">
              <a:schemeClr val="accent5"/>
            </a:lnRef>
          </a:bottom>
        </a:tcBdr>
        <a:fill>
          <a:solidFill>
            <a:schemeClr val="accent5">
              <a:alpha val="40000"/>
            </a:schemeClr>
          </a:solidFill>
        </a:fill>
      </a:tcStyle>
    </a:band1V>
    <a:band2V>
      <a:tcStyle>
        <a:tcBdr/>
      </a:tcStyle>
    </a:band2V>
    <a:lastCol>
      <a:tcTxStyle b="on"/>
      <a:tcStyle>
        <a:tcBdr>
          <a:left>
            <a:lnRef idx="2">
              <a:schemeClr val="accent5"/>
            </a:lnRef>
          </a:left>
          <a:right>
            <a:lnRef idx="1">
              <a:schemeClr val="accent5"/>
            </a:lnRef>
          </a:right>
          <a:top>
            <a:lnRef idx="1">
              <a:schemeClr val="accent5"/>
            </a:lnRef>
          </a:top>
          <a:bottom>
            <a:lnRef idx="1">
              <a:schemeClr val="accent5"/>
            </a:lnRef>
          </a:bottom>
          <a:insideH>
            <a:lnRef idx="1">
              <a:schemeClr val="accent5"/>
            </a:lnRef>
          </a:insideH>
          <a:insideV>
            <a:ln>
              <a:noFill/>
            </a:ln>
          </a:insideV>
        </a:tcBdr>
      </a:tcStyle>
    </a:lastCol>
    <a:firstCol>
      <a:tcTxStyle b="on"/>
      <a:tcStyle>
        <a:tcBdr>
          <a:left>
            <a:lnRef idx="1">
              <a:schemeClr val="accent5"/>
            </a:lnRef>
          </a:left>
          <a:right>
            <a:lnRef idx="2">
              <a:schemeClr val="accent5"/>
            </a:lnRef>
          </a:right>
          <a:top>
            <a:lnRef idx="1">
              <a:schemeClr val="accent5"/>
            </a:lnRef>
          </a:top>
          <a:bottom>
            <a:lnRef idx="1">
              <a:schemeClr val="accent5"/>
            </a:lnRef>
          </a:bottom>
          <a:insideH>
            <a:lnRef idx="1">
              <a:schemeClr val="accent5"/>
            </a:lnRef>
          </a:insideH>
          <a:insideV>
            <a:ln>
              <a:noFill/>
            </a:ln>
          </a:insideV>
        </a:tcBdr>
      </a:tcStyle>
    </a:firstCol>
    <a:lastRow>
      <a:tcTxStyle b="on"/>
      <a:tcStyle>
        <a:tcBdr>
          <a:left>
            <a:lnRef idx="1">
              <a:schemeClr val="accent5"/>
            </a:lnRef>
          </a:left>
          <a:right>
            <a:lnRef idx="1">
              <a:schemeClr val="accent5"/>
            </a:lnRef>
          </a:right>
          <a:top>
            <a:lnRef idx="2">
              <a:schemeClr val="accent5"/>
            </a:lnRef>
          </a:top>
          <a:bottom>
            <a:lnRef idx="2">
              <a:schemeClr val="accent5"/>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5"/>
            </a:lnRef>
          </a:left>
          <a:right>
            <a:lnRef idx="1">
              <a:schemeClr val="accent5"/>
            </a:lnRef>
          </a:right>
          <a:top>
            <a:lnRef idx="1">
              <a:schemeClr val="accent5"/>
            </a:lnRef>
          </a:top>
          <a:bottom>
            <a:lnRef idx="2">
              <a:schemeClr val="lt1"/>
            </a:lnRef>
          </a:bottom>
          <a:insideH>
            <a:ln>
              <a:noFill/>
            </a:ln>
          </a:insideH>
          <a:insideV>
            <a:ln>
              <a:noFill/>
            </a:ln>
          </a:insideV>
        </a:tcBdr>
        <a:fill>
          <a:solidFill>
            <a:schemeClr val="accent5"/>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69C7853C-536D-4A76-A0AE-DD22124D55A5}" styleName="Themed Style 1 - Accent 3">
    <a:tblBg>
      <a:fillRef idx="2">
        <a:schemeClr val="accent3"/>
      </a:fillRef>
      <a:effectRef idx="1">
        <a:schemeClr val="accent3"/>
      </a:effectRef>
    </a:tblBg>
    <a:wholeTbl>
      <a:tcTxStyle>
        <a:fontRef idx="minor">
          <a:scrgbClr r="0" g="0" b="0"/>
        </a:fontRef>
        <a:schemeClr val="dk1"/>
      </a:tcTxStyle>
      <a:tcStyle>
        <a:tcBdr>
          <a:left>
            <a:lnRef idx="1">
              <a:schemeClr val="accent3"/>
            </a:lnRef>
          </a:left>
          <a:right>
            <a:lnRef idx="1">
              <a:schemeClr val="accent3"/>
            </a:lnRef>
          </a:right>
          <a:top>
            <a:lnRef idx="1">
              <a:schemeClr val="accent3"/>
            </a:lnRef>
          </a:top>
          <a:bottom>
            <a:lnRef idx="1">
              <a:schemeClr val="accent3"/>
            </a:lnRef>
          </a:bottom>
          <a:insideH>
            <a:lnRef idx="1">
              <a:schemeClr val="accent3"/>
            </a:lnRef>
          </a:insideH>
          <a:insideV>
            <a:lnRef idx="1">
              <a:schemeClr val="accent3"/>
            </a:lnRef>
          </a:insideV>
        </a:tcBdr>
        <a:fill>
          <a:noFill/>
        </a:fill>
      </a:tcStyle>
    </a:wholeTbl>
    <a:band1H>
      <a:tcStyle>
        <a:tcBdr/>
        <a:fill>
          <a:solidFill>
            <a:schemeClr val="accent3">
              <a:alpha val="40000"/>
            </a:schemeClr>
          </a:solidFill>
        </a:fill>
      </a:tcStyle>
    </a:band1H>
    <a:band2H>
      <a:tcStyle>
        <a:tcBdr/>
      </a:tcStyle>
    </a:band2H>
    <a:band1V>
      <a:tcStyle>
        <a:tcBdr>
          <a:top>
            <a:lnRef idx="1">
              <a:schemeClr val="accent3"/>
            </a:lnRef>
          </a:top>
          <a:bottom>
            <a:lnRef idx="1">
              <a:schemeClr val="accent3"/>
            </a:lnRef>
          </a:bottom>
        </a:tcBdr>
        <a:fill>
          <a:solidFill>
            <a:schemeClr val="accent3">
              <a:alpha val="40000"/>
            </a:schemeClr>
          </a:solidFill>
        </a:fill>
      </a:tcStyle>
    </a:band1V>
    <a:band2V>
      <a:tcStyle>
        <a:tcBdr/>
      </a:tcStyle>
    </a:band2V>
    <a:lastCol>
      <a:tcTxStyle b="on"/>
      <a:tcStyle>
        <a:tcBdr>
          <a:left>
            <a:lnRef idx="2">
              <a:schemeClr val="accent3"/>
            </a:lnRef>
          </a:left>
          <a:right>
            <a:lnRef idx="1">
              <a:schemeClr val="accent3"/>
            </a:lnRef>
          </a:right>
          <a:top>
            <a:lnRef idx="1">
              <a:schemeClr val="accent3"/>
            </a:lnRef>
          </a:top>
          <a:bottom>
            <a:lnRef idx="1">
              <a:schemeClr val="accent3"/>
            </a:lnRef>
          </a:bottom>
          <a:insideH>
            <a:lnRef idx="1">
              <a:schemeClr val="accent3"/>
            </a:lnRef>
          </a:insideH>
          <a:insideV>
            <a:ln>
              <a:noFill/>
            </a:ln>
          </a:insideV>
        </a:tcBdr>
      </a:tcStyle>
    </a:lastCol>
    <a:firstCol>
      <a:tcTxStyle b="on"/>
      <a:tcStyle>
        <a:tcBdr>
          <a:left>
            <a:lnRef idx="1">
              <a:schemeClr val="accent3"/>
            </a:lnRef>
          </a:left>
          <a:right>
            <a:lnRef idx="2">
              <a:schemeClr val="accent3"/>
            </a:lnRef>
          </a:right>
          <a:top>
            <a:lnRef idx="1">
              <a:schemeClr val="accent3"/>
            </a:lnRef>
          </a:top>
          <a:bottom>
            <a:lnRef idx="1">
              <a:schemeClr val="accent3"/>
            </a:lnRef>
          </a:bottom>
          <a:insideH>
            <a:lnRef idx="1">
              <a:schemeClr val="accent3"/>
            </a:lnRef>
          </a:insideH>
          <a:insideV>
            <a:ln>
              <a:noFill/>
            </a:ln>
          </a:insideV>
        </a:tcBdr>
      </a:tcStyle>
    </a:firstCol>
    <a:lastRow>
      <a:tcTxStyle b="on"/>
      <a:tcStyle>
        <a:tcBdr>
          <a:left>
            <a:lnRef idx="1">
              <a:schemeClr val="accent3"/>
            </a:lnRef>
          </a:left>
          <a:right>
            <a:lnRef idx="1">
              <a:schemeClr val="accent3"/>
            </a:lnRef>
          </a:right>
          <a:top>
            <a:lnRef idx="2">
              <a:schemeClr val="accent3"/>
            </a:lnRef>
          </a:top>
          <a:bottom>
            <a:lnRef idx="2">
              <a:schemeClr val="accent3"/>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3"/>
            </a:lnRef>
          </a:left>
          <a:right>
            <a:lnRef idx="1">
              <a:schemeClr val="accent3"/>
            </a:lnRef>
          </a:right>
          <a:top>
            <a:lnRef idx="1">
              <a:schemeClr val="accent3"/>
            </a:lnRef>
          </a:top>
          <a:bottom>
            <a:lnRef idx="2">
              <a:schemeClr val="lt1"/>
            </a:lnRef>
          </a:bottom>
          <a:insideH>
            <a:ln>
              <a:noFill/>
            </a:ln>
          </a:insideH>
          <a:insideV>
            <a:ln>
              <a:noFill/>
            </a:ln>
          </a:insideV>
        </a:tcBdr>
        <a:fill>
          <a:solidFill>
            <a:schemeClr val="accent3"/>
          </a:solidFill>
        </a:fill>
      </a:tcStyle>
    </a:firstRow>
  </a:tblStyle>
  <a:tblStyle styleId="{8EC20E35-A176-4012-BC5E-935CFFF8708E}" styleName="Medium Style 3">
    <a:wholeTbl>
      <a:tcTxStyle>
        <a:fontRef idx="minor"/>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dk1"/>
          </a:solidFill>
        </a:fill>
      </a:tcStyle>
    </a:lastCol>
    <a:firstCol>
      <a:tcTxStyle b="on">
        <a:fontRef idx="minor">
          <a:scrgbClr r="0" g="0" b="0"/>
        </a:fontRef>
        <a:schemeClr val="lt1"/>
      </a:tcTxStyle>
      <a:tcStyle>
        <a:tcBdr/>
        <a:fill>
          <a:solidFill>
            <a:schemeClr val="dk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dk1"/>
          </a:solidFill>
        </a:fill>
      </a:tcStyle>
    </a:firstRow>
  </a:tblStyle>
  <a:tblStyle styleId="{74C1A8A3-306A-4EB7-A6B1-4F7E0EB9C5D6}" styleName="Medium Style 3 - Accent 5">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5"/>
          </a:solidFill>
        </a:fill>
      </a:tcStyle>
    </a:lastCol>
    <a:firstCol>
      <a:tcTxStyle b="on">
        <a:fontRef idx="minor">
          <a:scrgbClr r="0" g="0" b="0"/>
        </a:fontRef>
        <a:schemeClr val="lt1"/>
      </a:tcTxStyle>
      <a:tcStyle>
        <a:tcBdr/>
        <a:fill>
          <a:solidFill>
            <a:schemeClr val="accent5"/>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5"/>
          </a:solidFill>
        </a:fill>
      </a:tcStyle>
    </a:firstRow>
  </a:tblStyle>
  <a:tblStyle styleId="{0660B408-B3CF-4A94-85FC-2B1E0A45F4A2}" styleName="Dark Style 2 - Accent 1/Accent 2">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accent1">
              <a:tint val="20000"/>
            </a:schemeClr>
          </a:solidFill>
        </a:fill>
      </a:tcStyle>
    </a:lastRow>
    <a:firstRow>
      <a:tcTxStyle b="on">
        <a:fontRef idx="minor">
          <a:scrgbClr r="0" g="0" b="0"/>
        </a:fontRef>
        <a:schemeClr val="lt1"/>
      </a:tcTxStyle>
      <a:tcStyle>
        <a:tcBdr/>
        <a:fill>
          <a:solidFill>
            <a:schemeClr val="accent2"/>
          </a:solidFill>
        </a:fill>
      </a:tcStyle>
    </a:firstRow>
  </a:tblStyle>
  <a:tblStyle styleId="{2A488322-F2BA-4B5B-9748-0D474271808F}" styleName="Medium Style 3 - Accent 6">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6"/>
          </a:solidFill>
        </a:fill>
      </a:tcStyle>
    </a:lastCol>
    <a:firstCol>
      <a:tcTxStyle b="on">
        <a:fontRef idx="minor">
          <a:scrgbClr r="0" g="0" b="0"/>
        </a:fontRef>
        <a:schemeClr val="lt1"/>
      </a:tcTxStyle>
      <a:tcStyle>
        <a:tcBdr/>
        <a:fill>
          <a:solidFill>
            <a:schemeClr val="accent6"/>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6"/>
          </a:solidFill>
        </a:fill>
      </a:tcStyle>
    </a:firstRow>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C083E6E3-FA7D-4D7B-A595-EF9225AFEA82}" styleName="Light Style 1 - Accent 3">
    <a:wholeTbl>
      <a:tcTxStyle>
        <a:fontRef idx="minor">
          <a:scrgbClr r="0" g="0" b="0"/>
        </a:fontRef>
        <a:schemeClr val="tx1"/>
      </a:tcTxStyle>
      <a:tcStyle>
        <a:tcBdr>
          <a:left>
            <a:ln>
              <a:noFill/>
            </a:ln>
          </a:left>
          <a:right>
            <a:ln>
              <a:noFill/>
            </a:ln>
          </a:right>
          <a:top>
            <a:ln w="12700" cmpd="sng">
              <a:solidFill>
                <a:schemeClr val="accent3"/>
              </a:solidFill>
            </a:ln>
          </a:top>
          <a:bottom>
            <a:ln w="12700" cmpd="sng">
              <a:solidFill>
                <a:schemeClr val="accent3"/>
              </a:solidFill>
            </a:ln>
          </a:bottom>
          <a:insideH>
            <a:ln>
              <a:noFill/>
            </a:ln>
          </a:insideH>
          <a:insideV>
            <a:ln>
              <a:noFill/>
            </a:ln>
          </a:insideV>
        </a:tcBdr>
        <a:fill>
          <a:noFill/>
        </a:fill>
      </a:tcStyle>
    </a:wholeTbl>
    <a:band1H>
      <a:tcStyle>
        <a:tcBdr/>
        <a:fill>
          <a:solidFill>
            <a:schemeClr val="accent3">
              <a:alpha val="20000"/>
            </a:schemeClr>
          </a:solidFill>
        </a:fill>
      </a:tcStyle>
    </a:band1H>
    <a:band2H>
      <a:tcStyle>
        <a:tcBdr/>
      </a:tcStyle>
    </a:band2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12700" cmpd="sng">
              <a:solidFill>
                <a:schemeClr val="accent3"/>
              </a:solidFill>
            </a:ln>
          </a:top>
        </a:tcBdr>
        <a:fill>
          <a:noFill/>
        </a:fill>
      </a:tcStyle>
    </a:lastRow>
    <a:firstRow>
      <a:tcTxStyle b="on"/>
      <a:tcStyle>
        <a:tcBdr>
          <a:bottom>
            <a:ln w="12700" cmpd="sng">
              <a:solidFill>
                <a:schemeClr val="accent3"/>
              </a:solidFill>
            </a:ln>
          </a:bottom>
        </a:tcBdr>
        <a:fill>
          <a:noFill/>
        </a:fill>
      </a:tcStyle>
    </a:firstRow>
  </a:tblStyle>
  <a:tblStyle styleId="{D27102A9-8310-4765-A935-A1911B00CA55}" styleName="Light Style 1 - Accent 4">
    <a:wholeTbl>
      <a:tcTxStyle>
        <a:fontRef idx="minor">
          <a:scrgbClr r="0" g="0" b="0"/>
        </a:fontRef>
        <a:schemeClr val="tx1"/>
      </a:tcTxStyle>
      <a:tcStyle>
        <a:tcBdr>
          <a:left>
            <a:ln>
              <a:noFill/>
            </a:ln>
          </a:left>
          <a:right>
            <a:ln>
              <a:noFill/>
            </a:ln>
          </a:right>
          <a:top>
            <a:ln w="12700" cmpd="sng">
              <a:solidFill>
                <a:schemeClr val="accent4"/>
              </a:solidFill>
            </a:ln>
          </a:top>
          <a:bottom>
            <a:ln w="12700" cmpd="sng">
              <a:solidFill>
                <a:schemeClr val="accent4"/>
              </a:solidFill>
            </a:ln>
          </a:bottom>
          <a:insideH>
            <a:ln>
              <a:noFill/>
            </a:ln>
          </a:insideH>
          <a:insideV>
            <a:ln>
              <a:noFill/>
            </a:ln>
          </a:insideV>
        </a:tcBdr>
        <a:fill>
          <a:noFill/>
        </a:fill>
      </a:tcStyle>
    </a:wholeTbl>
    <a:band1H>
      <a:tcStyle>
        <a:tcBdr/>
        <a:fill>
          <a:solidFill>
            <a:schemeClr val="accent4">
              <a:alpha val="20000"/>
            </a:schemeClr>
          </a:solidFill>
        </a:fill>
      </a:tcStyle>
    </a:band1H>
    <a:band2H>
      <a:tcStyle>
        <a:tcBdr/>
      </a:tcStyle>
    </a:band2H>
    <a:band1V>
      <a:tcStyle>
        <a:tcBdr/>
        <a:fill>
          <a:solidFill>
            <a:schemeClr val="accent4">
              <a:alpha val="20000"/>
            </a:schemeClr>
          </a:solidFill>
        </a:fill>
      </a:tcStyle>
    </a:band1V>
    <a:lastCol>
      <a:tcTxStyle b="on"/>
      <a:tcStyle>
        <a:tcBdr/>
      </a:tcStyle>
    </a:lastCol>
    <a:firstCol>
      <a:tcTxStyle b="on"/>
      <a:tcStyle>
        <a:tcBdr/>
      </a:tcStyle>
    </a:firstCol>
    <a:lastRow>
      <a:tcTxStyle b="on"/>
      <a:tcStyle>
        <a:tcBdr>
          <a:top>
            <a:ln w="12700" cmpd="sng">
              <a:solidFill>
                <a:schemeClr val="accent4"/>
              </a:solidFill>
            </a:ln>
          </a:top>
        </a:tcBdr>
        <a:fill>
          <a:noFill/>
        </a:fill>
      </a:tcStyle>
    </a:lastRow>
    <a:firstRow>
      <a:tcTxStyle b="on"/>
      <a:tcStyle>
        <a:tcBdr>
          <a:bottom>
            <a:ln w="12700" cmpd="sng">
              <a:solidFill>
                <a:schemeClr val="accent4"/>
              </a:solidFill>
            </a:ln>
          </a:bottom>
        </a:tcBdr>
        <a:fill>
          <a:noFill/>
        </a:fill>
      </a:tcStyle>
    </a:firstRow>
  </a:tblStyle>
  <a:tblStyle styleId="{616DA210-FB5B-4158-B5E0-FEB733F419BA}" styleName="Light Style 3">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band1H>
      <a:tcStyle>
        <a:tcBdr/>
        <a:fill>
          <a:solidFill>
            <a:schemeClr val="tx1">
              <a:alpha val="20000"/>
            </a:schemeClr>
          </a:solidFill>
        </a:fill>
      </a:tcStyle>
    </a:band1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50800" cmpd="dbl">
              <a:solidFill>
                <a:schemeClr val="tx1"/>
              </a:solidFill>
            </a:ln>
          </a:top>
        </a:tcBdr>
        <a:fill>
          <a:noFill/>
        </a:fill>
      </a:tcStyle>
    </a:lastRow>
    <a:firstRow>
      <a:tcTxStyle b="on"/>
      <a:tcStyle>
        <a:tcBdr>
          <a:bottom>
            <a:ln w="25400" cmpd="sng">
              <a:solidFill>
                <a:schemeClr val="tx1"/>
              </a:solidFill>
            </a:ln>
          </a:bottom>
        </a:tcBdr>
        <a:fill>
          <a:noFill/>
        </a:fill>
      </a:tcStyle>
    </a:firstRow>
  </a:tblStyl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6860"/>
    <p:restoredTop sz="94376"/>
  </p:normalViewPr>
  <p:slideViewPr>
    <p:cSldViewPr snapToGrid="0">
      <p:cViewPr varScale="1">
        <p:scale>
          <a:sx n="104" d="100"/>
          <a:sy n="104" d="100"/>
        </p:scale>
        <p:origin x="762" y="11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26" Type="http://schemas.microsoft.com/office/2015/10/relationships/revisionInfo" Target="revisionInfo.xml"/><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5" Type="http://schemas.microsoft.com/office/2016/11/relationships/changesInfo" Target="changesInfos/changesInfo1.xml"/><Relationship Id="rId2" Type="http://schemas.openxmlformats.org/officeDocument/2006/relationships/slide" Target="slides/slide1.xml"/><Relationship Id="rId16" Type="http://schemas.openxmlformats.org/officeDocument/2006/relationships/slide" Target="slides/slide15.xml"/><Relationship Id="rId20" Type="http://customschemas.google.com/relationships/presentationmetadata" Target="meta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viewProps" Target="view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Martin, Amber" userId="eee56255-8802-4179-900f-50d7ce8db22b" providerId="ADAL" clId="{E8AFD6C6-3D6C-4538-B78D-3AF791574E24}"/>
    <pc:docChg chg="custSel addSld delSld modSld sldOrd">
      <pc:chgData name="Martin, Amber" userId="eee56255-8802-4179-900f-50d7ce8db22b" providerId="ADAL" clId="{E8AFD6C6-3D6C-4538-B78D-3AF791574E24}" dt="2026-06-04T12:49:29.520" v="2683" actId="20577"/>
      <pc:docMkLst>
        <pc:docMk/>
      </pc:docMkLst>
      <pc:sldChg chg="modSp mod">
        <pc:chgData name="Martin, Amber" userId="eee56255-8802-4179-900f-50d7ce8db22b" providerId="ADAL" clId="{E8AFD6C6-3D6C-4538-B78D-3AF791574E24}" dt="2026-06-04T12:42:56.661" v="2663" actId="20577"/>
        <pc:sldMkLst>
          <pc:docMk/>
          <pc:sldMk cId="0" sldId="257"/>
        </pc:sldMkLst>
        <pc:spChg chg="mod">
          <ac:chgData name="Martin, Amber" userId="eee56255-8802-4179-900f-50d7ce8db22b" providerId="ADAL" clId="{E8AFD6C6-3D6C-4538-B78D-3AF791574E24}" dt="2026-06-04T12:42:56.661" v="2663" actId="20577"/>
          <ac:spMkLst>
            <pc:docMk/>
            <pc:sldMk cId="0" sldId="257"/>
            <ac:spMk id="133" creationId="{00000000-0000-0000-0000-000000000000}"/>
          </ac:spMkLst>
        </pc:spChg>
      </pc:sldChg>
      <pc:sldChg chg="modSp mod">
        <pc:chgData name="Martin, Amber" userId="eee56255-8802-4179-900f-50d7ce8db22b" providerId="ADAL" clId="{E8AFD6C6-3D6C-4538-B78D-3AF791574E24}" dt="2026-06-04T12:37:27.047" v="2634" actId="20577"/>
        <pc:sldMkLst>
          <pc:docMk/>
          <pc:sldMk cId="0" sldId="259"/>
        </pc:sldMkLst>
        <pc:spChg chg="mod">
          <ac:chgData name="Martin, Amber" userId="eee56255-8802-4179-900f-50d7ce8db22b" providerId="ADAL" clId="{E8AFD6C6-3D6C-4538-B78D-3AF791574E24}" dt="2026-06-04T12:37:27.047" v="2634" actId="20577"/>
          <ac:spMkLst>
            <pc:docMk/>
            <pc:sldMk cId="0" sldId="259"/>
            <ac:spMk id="151" creationId="{00000000-0000-0000-0000-000000000000}"/>
          </ac:spMkLst>
        </pc:spChg>
        <pc:spChg chg="mod">
          <ac:chgData name="Martin, Amber" userId="eee56255-8802-4179-900f-50d7ce8db22b" providerId="ADAL" clId="{E8AFD6C6-3D6C-4538-B78D-3AF791574E24}" dt="2026-06-04T12:37:08.228" v="2633" actId="20577"/>
          <ac:spMkLst>
            <pc:docMk/>
            <pc:sldMk cId="0" sldId="259"/>
            <ac:spMk id="153" creationId="{00000000-0000-0000-0000-000000000000}"/>
          </ac:spMkLst>
        </pc:spChg>
      </pc:sldChg>
      <pc:sldChg chg="modSp mod">
        <pc:chgData name="Martin, Amber" userId="eee56255-8802-4179-900f-50d7ce8db22b" providerId="ADAL" clId="{E8AFD6C6-3D6C-4538-B78D-3AF791574E24}" dt="2026-06-04T12:45:01.799" v="2664" actId="207"/>
        <pc:sldMkLst>
          <pc:docMk/>
          <pc:sldMk cId="0" sldId="260"/>
        </pc:sldMkLst>
        <pc:spChg chg="mod">
          <ac:chgData name="Martin, Amber" userId="eee56255-8802-4179-900f-50d7ce8db22b" providerId="ADAL" clId="{E8AFD6C6-3D6C-4538-B78D-3AF791574E24}" dt="2026-06-04T12:45:01.799" v="2664" actId="207"/>
          <ac:spMkLst>
            <pc:docMk/>
            <pc:sldMk cId="0" sldId="260"/>
            <ac:spMk id="163" creationId="{00000000-0000-0000-0000-000000000000}"/>
          </ac:spMkLst>
        </pc:spChg>
      </pc:sldChg>
      <pc:sldChg chg="modSp mod">
        <pc:chgData name="Martin, Amber" userId="eee56255-8802-4179-900f-50d7ce8db22b" providerId="ADAL" clId="{E8AFD6C6-3D6C-4538-B78D-3AF791574E24}" dt="2026-06-04T12:47:27.921" v="2670" actId="14100"/>
        <pc:sldMkLst>
          <pc:docMk/>
          <pc:sldMk cId="0" sldId="261"/>
        </pc:sldMkLst>
        <pc:spChg chg="mod">
          <ac:chgData name="Martin, Amber" userId="eee56255-8802-4179-900f-50d7ce8db22b" providerId="ADAL" clId="{E8AFD6C6-3D6C-4538-B78D-3AF791574E24}" dt="2026-06-04T12:28:58.427" v="2606" actId="2711"/>
          <ac:spMkLst>
            <pc:docMk/>
            <pc:sldMk cId="0" sldId="261"/>
            <ac:spMk id="3" creationId="{815FE419-DB36-CB1D-5E90-09F3FA78A5CE}"/>
          </ac:spMkLst>
        </pc:spChg>
        <pc:spChg chg="mod">
          <ac:chgData name="Martin, Amber" userId="eee56255-8802-4179-900f-50d7ce8db22b" providerId="ADAL" clId="{E8AFD6C6-3D6C-4538-B78D-3AF791574E24}" dt="2026-06-04T12:47:27.921" v="2670" actId="14100"/>
          <ac:spMkLst>
            <pc:docMk/>
            <pc:sldMk cId="0" sldId="261"/>
            <ac:spMk id="7" creationId="{57556209-ED0B-978C-FA50-D97EAFA7C41D}"/>
          </ac:spMkLst>
        </pc:spChg>
        <pc:spChg chg="mod">
          <ac:chgData name="Martin, Amber" userId="eee56255-8802-4179-900f-50d7ce8db22b" providerId="ADAL" clId="{E8AFD6C6-3D6C-4538-B78D-3AF791574E24}" dt="2026-06-04T12:47:13.905" v="2667" actId="14100"/>
          <ac:spMkLst>
            <pc:docMk/>
            <pc:sldMk cId="0" sldId="261"/>
            <ac:spMk id="12" creationId="{E6531632-2161-E905-C48F-F194A9AF8A9A}"/>
          </ac:spMkLst>
        </pc:spChg>
        <pc:spChg chg="mod">
          <ac:chgData name="Martin, Amber" userId="eee56255-8802-4179-900f-50d7ce8db22b" providerId="ADAL" clId="{E8AFD6C6-3D6C-4538-B78D-3AF791574E24}" dt="2026-06-04T12:28:18.592" v="2602" actId="2711"/>
          <ac:spMkLst>
            <pc:docMk/>
            <pc:sldMk cId="0" sldId="261"/>
            <ac:spMk id="13" creationId="{175A0A6D-3B24-45D6-6C38-9B2D18569AFC}"/>
          </ac:spMkLst>
        </pc:spChg>
      </pc:sldChg>
      <pc:sldChg chg="modSp mod">
        <pc:chgData name="Martin, Amber" userId="eee56255-8802-4179-900f-50d7ce8db22b" providerId="ADAL" clId="{E8AFD6C6-3D6C-4538-B78D-3AF791574E24}" dt="2026-06-04T12:49:29.520" v="2683" actId="20577"/>
        <pc:sldMkLst>
          <pc:docMk/>
          <pc:sldMk cId="0" sldId="263"/>
        </pc:sldMkLst>
        <pc:spChg chg="mod">
          <ac:chgData name="Martin, Amber" userId="eee56255-8802-4179-900f-50d7ce8db22b" providerId="ADAL" clId="{E8AFD6C6-3D6C-4538-B78D-3AF791574E24}" dt="2026-06-04T12:49:29.520" v="2683" actId="20577"/>
          <ac:spMkLst>
            <pc:docMk/>
            <pc:sldMk cId="0" sldId="263"/>
            <ac:spMk id="8" creationId="{92238762-BCAD-A2D0-C835-1F1556259C6A}"/>
          </ac:spMkLst>
        </pc:spChg>
      </pc:sldChg>
      <pc:sldChg chg="modSp mod">
        <pc:chgData name="Martin, Amber" userId="eee56255-8802-4179-900f-50d7ce8db22b" providerId="ADAL" clId="{E8AFD6C6-3D6C-4538-B78D-3AF791574E24}" dt="2026-06-04T12:29:57.655" v="2610" actId="2711"/>
        <pc:sldMkLst>
          <pc:docMk/>
          <pc:sldMk cId="0" sldId="264"/>
        </pc:sldMkLst>
        <pc:spChg chg="mod">
          <ac:chgData name="Martin, Amber" userId="eee56255-8802-4179-900f-50d7ce8db22b" providerId="ADAL" clId="{E8AFD6C6-3D6C-4538-B78D-3AF791574E24}" dt="2026-06-04T12:29:57.655" v="2610" actId="2711"/>
          <ac:spMkLst>
            <pc:docMk/>
            <pc:sldMk cId="0" sldId="264"/>
            <ac:spMk id="7" creationId="{C8C2A084-8939-0160-EF20-086EBE76CEAD}"/>
          </ac:spMkLst>
        </pc:spChg>
      </pc:sldChg>
      <pc:sldChg chg="modSp mod">
        <pc:chgData name="Martin, Amber" userId="eee56255-8802-4179-900f-50d7ce8db22b" providerId="ADAL" clId="{E8AFD6C6-3D6C-4538-B78D-3AF791574E24}" dt="2026-06-04T12:30:20.766" v="2611" actId="2711"/>
        <pc:sldMkLst>
          <pc:docMk/>
          <pc:sldMk cId="0" sldId="265"/>
        </pc:sldMkLst>
        <pc:spChg chg="mod">
          <ac:chgData name="Martin, Amber" userId="eee56255-8802-4179-900f-50d7ce8db22b" providerId="ADAL" clId="{E8AFD6C6-3D6C-4538-B78D-3AF791574E24}" dt="2026-06-04T12:30:20.766" v="2611" actId="2711"/>
          <ac:spMkLst>
            <pc:docMk/>
            <pc:sldMk cId="0" sldId="265"/>
            <ac:spMk id="3" creationId="{3F9A6626-985C-8CF5-E2EE-B9501C8B0456}"/>
          </ac:spMkLst>
        </pc:spChg>
      </pc:sldChg>
      <pc:sldChg chg="modSp mod">
        <pc:chgData name="Martin, Amber" userId="eee56255-8802-4179-900f-50d7ce8db22b" providerId="ADAL" clId="{E8AFD6C6-3D6C-4538-B78D-3AF791574E24}" dt="2026-06-04T12:32:47.712" v="2624" actId="2711"/>
        <pc:sldMkLst>
          <pc:docMk/>
          <pc:sldMk cId="0" sldId="266"/>
        </pc:sldMkLst>
        <pc:spChg chg="mod">
          <ac:chgData name="Martin, Amber" userId="eee56255-8802-4179-900f-50d7ce8db22b" providerId="ADAL" clId="{E8AFD6C6-3D6C-4538-B78D-3AF791574E24}" dt="2026-06-04T12:32:47.712" v="2624" actId="2711"/>
          <ac:spMkLst>
            <pc:docMk/>
            <pc:sldMk cId="0" sldId="266"/>
            <ac:spMk id="5" creationId="{571EA208-3941-2FAD-C0DA-FF7EBCE0BD10}"/>
          </ac:spMkLst>
        </pc:spChg>
      </pc:sldChg>
      <pc:sldChg chg="modSp mod">
        <pc:chgData name="Martin, Amber" userId="eee56255-8802-4179-900f-50d7ce8db22b" providerId="ADAL" clId="{E8AFD6C6-3D6C-4538-B78D-3AF791574E24}" dt="2026-06-04T12:33:26.166" v="2627" actId="2711"/>
        <pc:sldMkLst>
          <pc:docMk/>
          <pc:sldMk cId="0" sldId="267"/>
        </pc:sldMkLst>
        <pc:spChg chg="mod">
          <ac:chgData name="Martin, Amber" userId="eee56255-8802-4179-900f-50d7ce8db22b" providerId="ADAL" clId="{E8AFD6C6-3D6C-4538-B78D-3AF791574E24}" dt="2026-06-04T12:33:26.166" v="2627" actId="2711"/>
          <ac:spMkLst>
            <pc:docMk/>
            <pc:sldMk cId="0" sldId="267"/>
            <ac:spMk id="2" creationId="{6C2C5BBD-6FFE-02A0-79DB-934C50231D6A}"/>
          </ac:spMkLst>
        </pc:spChg>
      </pc:sldChg>
      <pc:sldChg chg="modSp mod">
        <pc:chgData name="Martin, Amber" userId="eee56255-8802-4179-900f-50d7ce8db22b" providerId="ADAL" clId="{E8AFD6C6-3D6C-4538-B78D-3AF791574E24}" dt="2026-06-04T12:31:10.531" v="2616" actId="1076"/>
        <pc:sldMkLst>
          <pc:docMk/>
          <pc:sldMk cId="575634180" sldId="268"/>
        </pc:sldMkLst>
        <pc:spChg chg="mod">
          <ac:chgData name="Martin, Amber" userId="eee56255-8802-4179-900f-50d7ce8db22b" providerId="ADAL" clId="{E8AFD6C6-3D6C-4538-B78D-3AF791574E24}" dt="2026-06-04T12:30:56.703" v="2614" actId="255"/>
          <ac:spMkLst>
            <pc:docMk/>
            <pc:sldMk cId="575634180" sldId="268"/>
            <ac:spMk id="2" creationId="{B508F5CC-626B-7686-4C26-4E69B91D64D5}"/>
          </ac:spMkLst>
        </pc:spChg>
        <pc:spChg chg="mod">
          <ac:chgData name="Martin, Amber" userId="eee56255-8802-4179-900f-50d7ce8db22b" providerId="ADAL" clId="{E8AFD6C6-3D6C-4538-B78D-3AF791574E24}" dt="2026-06-04T12:30:44.511" v="2613" actId="2711"/>
          <ac:spMkLst>
            <pc:docMk/>
            <pc:sldMk cId="575634180" sldId="268"/>
            <ac:spMk id="3" creationId="{91EE4D24-93C6-02B1-76D7-A45C72B47F0D}"/>
          </ac:spMkLst>
        </pc:spChg>
        <pc:spChg chg="mod">
          <ac:chgData name="Martin, Amber" userId="eee56255-8802-4179-900f-50d7ce8db22b" providerId="ADAL" clId="{E8AFD6C6-3D6C-4538-B78D-3AF791574E24}" dt="2026-06-04T12:30:38.035" v="2612" actId="2711"/>
          <ac:spMkLst>
            <pc:docMk/>
            <pc:sldMk cId="575634180" sldId="268"/>
            <ac:spMk id="8" creationId="{B532E7DB-49EF-0A09-77B9-926BC65B9A8B}"/>
          </ac:spMkLst>
        </pc:spChg>
        <pc:picChg chg="mod">
          <ac:chgData name="Martin, Amber" userId="eee56255-8802-4179-900f-50d7ce8db22b" providerId="ADAL" clId="{E8AFD6C6-3D6C-4538-B78D-3AF791574E24}" dt="2026-06-04T12:31:10.531" v="2616" actId="1076"/>
          <ac:picMkLst>
            <pc:docMk/>
            <pc:sldMk cId="575634180" sldId="268"/>
            <ac:picMk id="6" creationId="{3B69FD35-D4D2-F76D-2EC6-FB0AF9A64034}"/>
          </ac:picMkLst>
        </pc:picChg>
      </pc:sldChg>
      <pc:sldChg chg="modSp mod">
        <pc:chgData name="Martin, Amber" userId="eee56255-8802-4179-900f-50d7ce8db22b" providerId="ADAL" clId="{E8AFD6C6-3D6C-4538-B78D-3AF791574E24}" dt="2026-06-04T12:33:13.519" v="2626" actId="2711"/>
        <pc:sldMkLst>
          <pc:docMk/>
          <pc:sldMk cId="455688511" sldId="270"/>
        </pc:sldMkLst>
        <pc:spChg chg="mod">
          <ac:chgData name="Martin, Amber" userId="eee56255-8802-4179-900f-50d7ce8db22b" providerId="ADAL" clId="{E8AFD6C6-3D6C-4538-B78D-3AF791574E24}" dt="2026-06-04T12:33:03.551" v="2625" actId="2711"/>
          <ac:spMkLst>
            <pc:docMk/>
            <pc:sldMk cId="455688511" sldId="270"/>
            <ac:spMk id="161" creationId="{F4FA4CB2-1BAF-2A3E-7C87-BCEC1CDDBE32}"/>
          </ac:spMkLst>
        </pc:spChg>
        <pc:spChg chg="mod">
          <ac:chgData name="Martin, Amber" userId="eee56255-8802-4179-900f-50d7ce8db22b" providerId="ADAL" clId="{E8AFD6C6-3D6C-4538-B78D-3AF791574E24}" dt="2026-06-04T12:33:13.519" v="2626" actId="2711"/>
          <ac:spMkLst>
            <pc:docMk/>
            <pc:sldMk cId="455688511" sldId="270"/>
            <ac:spMk id="162" creationId="{C05AD797-0EEE-A775-CBD5-846862FCE3DC}"/>
          </ac:spMkLst>
        </pc:spChg>
      </pc:sldChg>
      <pc:sldChg chg="modSp mod">
        <pc:chgData name="Martin, Amber" userId="eee56255-8802-4179-900f-50d7ce8db22b" providerId="ADAL" clId="{E8AFD6C6-3D6C-4538-B78D-3AF791574E24}" dt="2026-06-04T12:27:50.679" v="2601" actId="2711"/>
        <pc:sldMkLst>
          <pc:docMk/>
          <pc:sldMk cId="3483222910" sldId="271"/>
        </pc:sldMkLst>
        <pc:spChg chg="mod">
          <ac:chgData name="Martin, Amber" userId="eee56255-8802-4179-900f-50d7ce8db22b" providerId="ADAL" clId="{E8AFD6C6-3D6C-4538-B78D-3AF791574E24}" dt="2026-06-04T12:27:20.828" v="2598" actId="2711"/>
          <ac:spMkLst>
            <pc:docMk/>
            <pc:sldMk cId="3483222910" sldId="271"/>
            <ac:spMk id="10" creationId="{590B5B1D-338E-EF60-C697-00F135593F45}"/>
          </ac:spMkLst>
        </pc:spChg>
        <pc:spChg chg="mod">
          <ac:chgData name="Martin, Amber" userId="eee56255-8802-4179-900f-50d7ce8db22b" providerId="ADAL" clId="{E8AFD6C6-3D6C-4538-B78D-3AF791574E24}" dt="2026-06-04T12:27:35.788" v="2599" actId="2711"/>
          <ac:spMkLst>
            <pc:docMk/>
            <pc:sldMk cId="3483222910" sldId="271"/>
            <ac:spMk id="20" creationId="{7E2E3EC2-E310-FDEE-4CC9-9CA6949E178B}"/>
          </ac:spMkLst>
        </pc:spChg>
        <pc:spChg chg="mod">
          <ac:chgData name="Martin, Amber" userId="eee56255-8802-4179-900f-50d7ce8db22b" providerId="ADAL" clId="{E8AFD6C6-3D6C-4538-B78D-3AF791574E24}" dt="2026-06-04T12:27:43.823" v="2600" actId="2711"/>
          <ac:spMkLst>
            <pc:docMk/>
            <pc:sldMk cId="3483222910" sldId="271"/>
            <ac:spMk id="21" creationId="{6C27BDE0-0CC2-58C1-47AF-2BC325E16500}"/>
          </ac:spMkLst>
        </pc:spChg>
        <pc:spChg chg="mod">
          <ac:chgData name="Martin, Amber" userId="eee56255-8802-4179-900f-50d7ce8db22b" providerId="ADAL" clId="{E8AFD6C6-3D6C-4538-B78D-3AF791574E24}" dt="2026-06-04T12:27:50.679" v="2601" actId="2711"/>
          <ac:spMkLst>
            <pc:docMk/>
            <pc:sldMk cId="3483222910" sldId="271"/>
            <ac:spMk id="27" creationId="{BAF74E4D-6818-AF0C-95DF-38C1892B413A}"/>
          </ac:spMkLst>
        </pc:spChg>
        <pc:graphicFrameChg chg="modGraphic">
          <ac:chgData name="Martin, Amber" userId="eee56255-8802-4179-900f-50d7ce8db22b" providerId="ADAL" clId="{E8AFD6C6-3D6C-4538-B78D-3AF791574E24}" dt="2026-06-04T12:26:55.532" v="2595" actId="2711"/>
          <ac:graphicFrameMkLst>
            <pc:docMk/>
            <pc:sldMk cId="3483222910" sldId="271"/>
            <ac:graphicFrameMk id="23" creationId="{D5F18CEC-6FBC-0282-5630-1B52947AA1E7}"/>
          </ac:graphicFrameMkLst>
        </pc:graphicFrameChg>
        <pc:graphicFrameChg chg="modGraphic">
          <ac:chgData name="Martin, Amber" userId="eee56255-8802-4179-900f-50d7ce8db22b" providerId="ADAL" clId="{E8AFD6C6-3D6C-4538-B78D-3AF791574E24}" dt="2026-06-04T12:27:03.825" v="2596" actId="2711"/>
          <ac:graphicFrameMkLst>
            <pc:docMk/>
            <pc:sldMk cId="3483222910" sldId="271"/>
            <ac:graphicFrameMk id="25" creationId="{F1959AFD-011F-A41E-ABBB-8F0CDCBAF8BA}"/>
          </ac:graphicFrameMkLst>
        </pc:graphicFrameChg>
        <pc:graphicFrameChg chg="modGraphic">
          <ac:chgData name="Martin, Amber" userId="eee56255-8802-4179-900f-50d7ce8db22b" providerId="ADAL" clId="{E8AFD6C6-3D6C-4538-B78D-3AF791574E24}" dt="2026-06-04T12:27:09.853" v="2597" actId="2711"/>
          <ac:graphicFrameMkLst>
            <pc:docMk/>
            <pc:sldMk cId="3483222910" sldId="271"/>
            <ac:graphicFrameMk id="28" creationId="{81601495-26CE-29FC-AD19-3C29A5A0D061}"/>
          </ac:graphicFrameMkLst>
        </pc:graphicFrameChg>
        <pc:cxnChg chg="mod">
          <ac:chgData name="Martin, Amber" userId="eee56255-8802-4179-900f-50d7ce8db22b" providerId="ADAL" clId="{E8AFD6C6-3D6C-4538-B78D-3AF791574E24}" dt="2026-06-02T13:54:43.783" v="98" actId="1076"/>
          <ac:cxnSpMkLst>
            <pc:docMk/>
            <pc:sldMk cId="3483222910" sldId="271"/>
            <ac:cxnSpMk id="30" creationId="{49461501-6BCC-A836-BE7B-0BD807DE5EAD}"/>
          </ac:cxnSpMkLst>
        </pc:cxnChg>
      </pc:sldChg>
      <pc:sldChg chg="addSp delSp modSp new mod ord modNotesTx">
        <pc:chgData name="Martin, Amber" userId="eee56255-8802-4179-900f-50d7ce8db22b" providerId="ADAL" clId="{E8AFD6C6-3D6C-4538-B78D-3AF791574E24}" dt="2026-06-04T12:32:23.892" v="2623" actId="14100"/>
        <pc:sldMkLst>
          <pc:docMk/>
          <pc:sldMk cId="2427882965" sldId="272"/>
        </pc:sldMkLst>
        <pc:spChg chg="add mod">
          <ac:chgData name="Martin, Amber" userId="eee56255-8802-4179-900f-50d7ce8db22b" providerId="ADAL" clId="{E8AFD6C6-3D6C-4538-B78D-3AF791574E24}" dt="2026-06-02T13:52:03.227" v="54" actId="1076"/>
          <ac:spMkLst>
            <pc:docMk/>
            <pc:sldMk cId="2427882965" sldId="272"/>
            <ac:spMk id="2" creationId="{E7C64205-3F49-DF7E-6FB2-0D57FBACA8A1}"/>
          </ac:spMkLst>
        </pc:spChg>
        <pc:spChg chg="add mod">
          <ac:chgData name="Martin, Amber" userId="eee56255-8802-4179-900f-50d7ce8db22b" providerId="ADAL" clId="{E8AFD6C6-3D6C-4538-B78D-3AF791574E24}" dt="2026-06-04T12:32:11.748" v="2622" actId="1076"/>
          <ac:spMkLst>
            <pc:docMk/>
            <pc:sldMk cId="2427882965" sldId="272"/>
            <ac:spMk id="3" creationId="{8E16C36F-83E5-1BA8-6641-C2CB1EFB0BE6}"/>
          </ac:spMkLst>
        </pc:spChg>
        <pc:spChg chg="add mod">
          <ac:chgData name="Martin, Amber" userId="eee56255-8802-4179-900f-50d7ce8db22b" providerId="ADAL" clId="{E8AFD6C6-3D6C-4538-B78D-3AF791574E24}" dt="2026-06-02T14:50:37.913" v="1712" actId="14100"/>
          <ac:spMkLst>
            <pc:docMk/>
            <pc:sldMk cId="2427882965" sldId="272"/>
            <ac:spMk id="7" creationId="{F2F0DD3C-1A89-0F79-6DDB-0247ADB5B52C}"/>
          </ac:spMkLst>
        </pc:spChg>
        <pc:spChg chg="add mod">
          <ac:chgData name="Martin, Amber" userId="eee56255-8802-4179-900f-50d7ce8db22b" providerId="ADAL" clId="{E8AFD6C6-3D6C-4538-B78D-3AF791574E24}" dt="2026-06-04T12:31:26.295" v="2617" actId="2711"/>
          <ac:spMkLst>
            <pc:docMk/>
            <pc:sldMk cId="2427882965" sldId="272"/>
            <ac:spMk id="8" creationId="{0BAE3B89-CB10-35A0-1650-7A4417B4AAD4}"/>
          </ac:spMkLst>
        </pc:spChg>
        <pc:spChg chg="add mod">
          <ac:chgData name="Martin, Amber" userId="eee56255-8802-4179-900f-50d7ce8db22b" providerId="ADAL" clId="{E8AFD6C6-3D6C-4538-B78D-3AF791574E24}" dt="2026-06-04T12:31:44.095" v="2619" actId="2711"/>
          <ac:spMkLst>
            <pc:docMk/>
            <pc:sldMk cId="2427882965" sldId="272"/>
            <ac:spMk id="11" creationId="{D500E1F4-D8B5-5BE2-22EE-73CC3EC3196D}"/>
          </ac:spMkLst>
        </pc:spChg>
        <pc:spChg chg="add mod">
          <ac:chgData name="Martin, Amber" userId="eee56255-8802-4179-900f-50d7ce8db22b" providerId="ADAL" clId="{E8AFD6C6-3D6C-4538-B78D-3AF791574E24}" dt="2026-06-04T12:31:35.342" v="2618" actId="2711"/>
          <ac:spMkLst>
            <pc:docMk/>
            <pc:sldMk cId="2427882965" sldId="272"/>
            <ac:spMk id="16" creationId="{DE8C12B8-99DA-2EA3-7E77-4D12F6FA96D7}"/>
          </ac:spMkLst>
        </pc:spChg>
        <pc:spChg chg="add mod">
          <ac:chgData name="Martin, Amber" userId="eee56255-8802-4179-900f-50d7ce8db22b" providerId="ADAL" clId="{E8AFD6C6-3D6C-4538-B78D-3AF791574E24}" dt="2026-06-04T12:32:02.479" v="2621" actId="2711"/>
          <ac:spMkLst>
            <pc:docMk/>
            <pc:sldMk cId="2427882965" sldId="272"/>
            <ac:spMk id="17" creationId="{671B1E3F-26BA-B99D-0629-7EE145003B10}"/>
          </ac:spMkLst>
        </pc:spChg>
        <pc:graphicFrameChg chg="add mod modGraphic">
          <ac:chgData name="Martin, Amber" userId="eee56255-8802-4179-900f-50d7ce8db22b" providerId="ADAL" clId="{E8AFD6C6-3D6C-4538-B78D-3AF791574E24}" dt="2026-06-02T15:16:13.556" v="2263" actId="1076"/>
          <ac:graphicFrameMkLst>
            <pc:docMk/>
            <pc:sldMk cId="2427882965" sldId="272"/>
            <ac:graphicFrameMk id="5" creationId="{E9385EEB-3681-DDD3-D526-EC01958639D7}"/>
          </ac:graphicFrameMkLst>
        </pc:graphicFrameChg>
        <pc:picChg chg="add mod">
          <ac:chgData name="Martin, Amber" userId="eee56255-8802-4179-900f-50d7ce8db22b" providerId="ADAL" clId="{E8AFD6C6-3D6C-4538-B78D-3AF791574E24}" dt="2026-06-04T12:32:23.892" v="2623" actId="14100"/>
          <ac:picMkLst>
            <pc:docMk/>
            <pc:sldMk cId="2427882965" sldId="272"/>
            <ac:picMk id="13" creationId="{C4475CC8-C81D-589B-FD9B-3722B84BB4E0}"/>
          </ac:picMkLst>
        </pc:picChg>
      </pc:sldChg>
      <pc:sldChg chg="new del">
        <pc:chgData name="Martin, Amber" userId="eee56255-8802-4179-900f-50d7ce8db22b" providerId="ADAL" clId="{E8AFD6C6-3D6C-4538-B78D-3AF791574E24}" dt="2026-06-03T14:09:39.120" v="2594" actId="47"/>
        <pc:sldMkLst>
          <pc:docMk/>
          <pc:sldMk cId="76880797" sldId="273"/>
        </pc:sldMkLst>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txBody>
          <a:bodyPr/>
          <a:lstStyle/>
          <a:p>
            <a:endParaRPr lang="en-US"/>
          </a:p>
        </p:txBody>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L="914400" marR="0" lvl="1"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2pPr>
            <a:lvl3pPr marL="1371600" marR="0" lvl="2"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3pPr>
            <a:lvl4pPr marL="1828800" marR="0" lvl="3"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4pPr>
            <a:lvl5pPr marL="2286000" marR="0" lvl="4"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5pPr>
            <a:lvl6pPr marL="2743200" marR="0" lvl="5"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6pPr>
            <a:lvl7pPr marL="3200400" marR="0" lvl="6"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7pPr>
            <a:lvl8pPr marL="3657600" marR="0" lvl="7"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8pPr>
            <a:lvl9pPr marL="4114800" marR="0" lvl="8"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US"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0"/>
        <p:cNvGrpSpPr/>
        <p:nvPr/>
      </p:nvGrpSpPr>
      <p:grpSpPr>
        <a:xfrm>
          <a:off x="0" y="0"/>
          <a:ext cx="0" cy="0"/>
          <a:chOff x="0" y="0"/>
          <a:chExt cx="0" cy="0"/>
        </a:xfrm>
      </p:grpSpPr>
      <p:sp>
        <p:nvSpPr>
          <p:cNvPr id="121" name="Google Shape;121;p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txBody>
          <a:bodyPr/>
          <a:lstStyle/>
          <a:p>
            <a:endParaRPr lang="en-US"/>
          </a:p>
        </p:txBody>
      </p:sp>
      <p:sp>
        <p:nvSpPr>
          <p:cNvPr id="122" name="Google Shape;122;p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23" name="Google Shape;123;p1: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6"/>
        <p:cNvGrpSpPr/>
        <p:nvPr/>
      </p:nvGrpSpPr>
      <p:grpSpPr>
        <a:xfrm>
          <a:off x="0" y="0"/>
          <a:ext cx="0" cy="0"/>
          <a:chOff x="0" y="0"/>
          <a:chExt cx="0" cy="0"/>
        </a:xfrm>
      </p:grpSpPr>
      <p:sp>
        <p:nvSpPr>
          <p:cNvPr id="137" name="Google Shape;137;p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txBody>
          <a:bodyPr/>
          <a:lstStyle/>
          <a:p>
            <a:endParaRPr lang="en-US"/>
          </a:p>
        </p:txBody>
      </p:sp>
      <p:sp>
        <p:nvSpPr>
          <p:cNvPr id="138" name="Google Shape;138;p3: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39" name="Google Shape;139;p3: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2</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6"/>
        <p:cNvGrpSpPr/>
        <p:nvPr/>
      </p:nvGrpSpPr>
      <p:grpSpPr>
        <a:xfrm>
          <a:off x="0" y="0"/>
          <a:ext cx="0" cy="0"/>
          <a:chOff x="0" y="0"/>
          <a:chExt cx="0" cy="0"/>
        </a:xfrm>
      </p:grpSpPr>
      <p:sp>
        <p:nvSpPr>
          <p:cNvPr id="147" name="Google Shape;147;p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txBody>
          <a:bodyPr/>
          <a:lstStyle/>
          <a:p>
            <a:endParaRPr lang="en-US"/>
          </a:p>
        </p:txBody>
      </p:sp>
      <p:sp>
        <p:nvSpPr>
          <p:cNvPr id="148" name="Google Shape;148;p4: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49" name="Google Shape;149;p4: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3</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7"/>
        <p:cNvGrpSpPr/>
        <p:nvPr/>
      </p:nvGrpSpPr>
      <p:grpSpPr>
        <a:xfrm>
          <a:off x="0" y="0"/>
          <a:ext cx="0" cy="0"/>
          <a:chOff x="0" y="0"/>
          <a:chExt cx="0" cy="0"/>
        </a:xfrm>
      </p:grpSpPr>
      <p:sp>
        <p:nvSpPr>
          <p:cNvPr id="128" name="Google Shape;128;p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txBody>
          <a:bodyPr/>
          <a:lstStyle/>
          <a:p>
            <a:endParaRPr lang="en-US"/>
          </a:p>
        </p:txBody>
      </p:sp>
      <p:sp>
        <p:nvSpPr>
          <p:cNvPr id="129" name="Google Shape;129;p2: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30" name="Google Shape;130;p2: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4</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5"/>
        <p:cNvGrpSpPr/>
        <p:nvPr/>
      </p:nvGrpSpPr>
      <p:grpSpPr>
        <a:xfrm>
          <a:off x="0" y="0"/>
          <a:ext cx="0" cy="0"/>
          <a:chOff x="0" y="0"/>
          <a:chExt cx="0" cy="0"/>
        </a:xfrm>
      </p:grpSpPr>
      <p:sp>
        <p:nvSpPr>
          <p:cNvPr id="156" name="Google Shape;156;p5: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57" name="Google Shape;157;p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4"/>
        <p:cNvGrpSpPr/>
        <p:nvPr/>
      </p:nvGrpSpPr>
      <p:grpSpPr>
        <a:xfrm>
          <a:off x="0" y="0"/>
          <a:ext cx="0" cy="0"/>
          <a:chOff x="0" y="0"/>
          <a:chExt cx="0" cy="0"/>
        </a:xfrm>
      </p:grpSpPr>
      <p:sp>
        <p:nvSpPr>
          <p:cNvPr id="165" name="Google Shape;165;p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txBody>
          <a:bodyPr/>
          <a:lstStyle/>
          <a:p>
            <a:endParaRPr lang="en-US"/>
          </a:p>
        </p:txBody>
      </p:sp>
      <p:sp>
        <p:nvSpPr>
          <p:cNvPr id="166" name="Google Shape;166;p6: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
        <p:nvSpPr>
          <p:cNvPr id="167" name="Google Shape;167;p6: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7</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7"/>
        <p:cNvGrpSpPr/>
        <p:nvPr/>
      </p:nvGrpSpPr>
      <p:grpSpPr>
        <a:xfrm>
          <a:off x="0" y="0"/>
          <a:ext cx="0" cy="0"/>
          <a:chOff x="0" y="0"/>
          <a:chExt cx="0" cy="0"/>
        </a:xfrm>
      </p:grpSpPr>
      <p:sp>
        <p:nvSpPr>
          <p:cNvPr id="178" name="Google Shape;178;p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txBody>
          <a:bodyPr/>
          <a:lstStyle/>
          <a:p>
            <a:endParaRPr lang="en-US"/>
          </a:p>
        </p:txBody>
      </p:sp>
      <p:sp>
        <p:nvSpPr>
          <p:cNvPr id="179" name="Google Shape;179;p8: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80" name="Google Shape;180;p8: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8</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4"/>
        <p:cNvGrpSpPr/>
        <p:nvPr/>
      </p:nvGrpSpPr>
      <p:grpSpPr>
        <a:xfrm>
          <a:off x="0" y="0"/>
          <a:ext cx="0" cy="0"/>
          <a:chOff x="0" y="0"/>
          <a:chExt cx="0" cy="0"/>
        </a:xfrm>
      </p:grpSpPr>
      <p:sp>
        <p:nvSpPr>
          <p:cNvPr id="185" name="Google Shape;185;p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txBody>
          <a:bodyPr/>
          <a:lstStyle/>
          <a:p>
            <a:endParaRPr lang="en-US"/>
          </a:p>
        </p:txBody>
      </p:sp>
      <p:sp>
        <p:nvSpPr>
          <p:cNvPr id="186" name="Google Shape;186;p9: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87" name="Google Shape;187;p9: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9</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1"/>
        <p:cNvGrpSpPr/>
        <p:nvPr/>
      </p:nvGrpSpPr>
      <p:grpSpPr>
        <a:xfrm>
          <a:off x="0" y="0"/>
          <a:ext cx="0" cy="0"/>
          <a:chOff x="0" y="0"/>
          <a:chExt cx="0" cy="0"/>
        </a:xfrm>
      </p:grpSpPr>
      <p:sp>
        <p:nvSpPr>
          <p:cNvPr id="192" name="Google Shape;192;p1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txBody>
          <a:bodyPr/>
          <a:lstStyle/>
          <a:p>
            <a:endParaRPr lang="en-US"/>
          </a:p>
        </p:txBody>
      </p:sp>
      <p:sp>
        <p:nvSpPr>
          <p:cNvPr id="193" name="Google Shape;193;p10: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94" name="Google Shape;194;p10: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10</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1">
          <a:extLst>
            <a:ext uri="{FF2B5EF4-FFF2-40B4-BE49-F238E27FC236}">
              <a16:creationId xmlns:a16="http://schemas.microsoft.com/office/drawing/2014/main" id="{64BD5DBF-D879-B982-8DBC-D553B966CAE6}"/>
            </a:ext>
          </a:extLst>
        </p:cNvPr>
        <p:cNvGrpSpPr/>
        <p:nvPr/>
      </p:nvGrpSpPr>
      <p:grpSpPr>
        <a:xfrm>
          <a:off x="0" y="0"/>
          <a:ext cx="0" cy="0"/>
          <a:chOff x="0" y="0"/>
          <a:chExt cx="0" cy="0"/>
        </a:xfrm>
      </p:grpSpPr>
      <p:sp>
        <p:nvSpPr>
          <p:cNvPr id="192" name="Google Shape;192;p10:notes">
            <a:extLst>
              <a:ext uri="{FF2B5EF4-FFF2-40B4-BE49-F238E27FC236}">
                <a16:creationId xmlns:a16="http://schemas.microsoft.com/office/drawing/2014/main" id="{52CAFA36-1C92-D4A9-A358-C39D6B71A7E1}"/>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txBody>
          <a:bodyPr/>
          <a:lstStyle/>
          <a:p>
            <a:endParaRPr lang="en-US"/>
          </a:p>
        </p:txBody>
      </p:sp>
      <p:sp>
        <p:nvSpPr>
          <p:cNvPr id="193" name="Google Shape;193;p10:notes">
            <a:extLst>
              <a:ext uri="{FF2B5EF4-FFF2-40B4-BE49-F238E27FC236}">
                <a16:creationId xmlns:a16="http://schemas.microsoft.com/office/drawing/2014/main" id="{AA7EF5A3-EE62-4807-C5BA-A648A70D28C9}"/>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94" name="Google Shape;194;p10:notes">
            <a:extLst>
              <a:ext uri="{FF2B5EF4-FFF2-40B4-BE49-F238E27FC236}">
                <a16:creationId xmlns:a16="http://schemas.microsoft.com/office/drawing/2014/main" id="{B8819B3E-F508-4B96-64A6-E320EA57A9C8}"/>
              </a:ext>
            </a:extLst>
          </p:cNvPr>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11</a:t>
            </a:fld>
            <a:endParaRPr/>
          </a:p>
        </p:txBody>
      </p:sp>
    </p:spTree>
    <p:extLst>
      <p:ext uri="{BB962C8B-B14F-4D97-AF65-F5344CB8AC3E}">
        <p14:creationId xmlns:p14="http://schemas.microsoft.com/office/powerpoint/2010/main" val="283990293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US" dirty="0"/>
              <a:t>The Chi – square statistic is extremely high (106,247.33) which is rare. Indicating that the observed differences are substantial, this means claims with poor documentation behaved very differently from claims with complete documentation.</a:t>
            </a:r>
          </a:p>
        </p:txBody>
      </p:sp>
      <p:sp>
        <p:nvSpPr>
          <p:cNvPr id="4" name="Slide Number Placeholder 3"/>
          <p:cNvSpPr>
            <a:spLocks noGrp="1"/>
          </p:cNvSpPr>
          <p:nvPr>
            <p:ph type="sldNum" idx="12"/>
          </p:nvPr>
        </p:nvSpPr>
        <p:spPr/>
        <p:txBody>
          <a:bodyPr/>
          <a:lstStyle/>
          <a:p>
            <a:pPr marL="0" marR="0" lvl="0" indent="0" algn="r" rtl="0">
              <a:spcBef>
                <a:spcPts val="0"/>
              </a:spcBef>
              <a:spcAft>
                <a:spcPts val="0"/>
              </a:spcAft>
              <a:buNone/>
            </a:pPr>
            <a:fld id="{00000000-1234-1234-1234-123412341234}" type="slidenum">
              <a:rPr lang="en-US" sz="1200" b="0" i="0" u="none" strike="noStrike" cap="none" smtClean="0">
                <a:solidFill>
                  <a:schemeClr val="dk1"/>
                </a:solidFill>
                <a:latin typeface="Calibri"/>
                <a:ea typeface="Calibri"/>
                <a:cs typeface="Calibri"/>
                <a:sym typeface="Calibri"/>
              </a:rPr>
              <a:t>12</a:t>
            </a:fld>
            <a:endParaRPr lang="en-US" sz="12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1487732452"/>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8"/>
        <p:cNvGrpSpPr/>
        <p:nvPr/>
      </p:nvGrpSpPr>
      <p:grpSpPr>
        <a:xfrm>
          <a:off x="0" y="0"/>
          <a:ext cx="0" cy="0"/>
          <a:chOff x="0" y="0"/>
          <a:chExt cx="0" cy="0"/>
        </a:xfrm>
      </p:grpSpPr>
      <p:sp>
        <p:nvSpPr>
          <p:cNvPr id="199" name="Google Shape;199;p1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txBody>
          <a:bodyPr/>
          <a:lstStyle/>
          <a:p>
            <a:endParaRPr lang="en-US"/>
          </a:p>
        </p:txBody>
      </p:sp>
      <p:sp>
        <p:nvSpPr>
          <p:cNvPr id="200" name="Google Shape;200;p1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01" name="Google Shape;201;p11: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13</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5">
          <a:extLst>
            <a:ext uri="{FF2B5EF4-FFF2-40B4-BE49-F238E27FC236}">
              <a16:creationId xmlns:a16="http://schemas.microsoft.com/office/drawing/2014/main" id="{CBBD14A9-B2B1-260B-9075-16470B876244}"/>
            </a:ext>
          </a:extLst>
        </p:cNvPr>
        <p:cNvGrpSpPr/>
        <p:nvPr/>
      </p:nvGrpSpPr>
      <p:grpSpPr>
        <a:xfrm>
          <a:off x="0" y="0"/>
          <a:ext cx="0" cy="0"/>
          <a:chOff x="0" y="0"/>
          <a:chExt cx="0" cy="0"/>
        </a:xfrm>
      </p:grpSpPr>
      <p:sp>
        <p:nvSpPr>
          <p:cNvPr id="156" name="Google Shape;156;p5:notes">
            <a:extLst>
              <a:ext uri="{FF2B5EF4-FFF2-40B4-BE49-F238E27FC236}">
                <a16:creationId xmlns:a16="http://schemas.microsoft.com/office/drawing/2014/main" id="{D61827BC-867C-A923-2131-1784614B1EB2}"/>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
        <p:nvSpPr>
          <p:cNvPr id="157" name="Google Shape;157;p5:notes">
            <a:extLst>
              <a:ext uri="{FF2B5EF4-FFF2-40B4-BE49-F238E27FC236}">
                <a16:creationId xmlns:a16="http://schemas.microsoft.com/office/drawing/2014/main" id="{15F534CC-9CD8-0B8E-8FBD-4259D7D04302}"/>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a:p>
        </p:txBody>
      </p:sp>
    </p:spTree>
    <p:extLst>
      <p:ext uri="{BB962C8B-B14F-4D97-AF65-F5344CB8AC3E}">
        <p14:creationId xmlns:p14="http://schemas.microsoft.com/office/powerpoint/2010/main" val="1748171585"/>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5"/>
        <p:cNvGrpSpPr/>
        <p:nvPr/>
      </p:nvGrpSpPr>
      <p:grpSpPr>
        <a:xfrm>
          <a:off x="0" y="0"/>
          <a:ext cx="0" cy="0"/>
          <a:chOff x="0" y="0"/>
          <a:chExt cx="0" cy="0"/>
        </a:xfrm>
      </p:grpSpPr>
      <p:sp>
        <p:nvSpPr>
          <p:cNvPr id="206" name="Google Shape;206;p1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txBody>
          <a:bodyPr/>
          <a:lstStyle/>
          <a:p>
            <a:endParaRPr lang="en-US"/>
          </a:p>
        </p:txBody>
      </p:sp>
      <p:sp>
        <p:nvSpPr>
          <p:cNvPr id="207" name="Google Shape;207;p12: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08" name="Google Shape;208;p12: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15</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p:cSld name="Title">
    <p:spTree>
      <p:nvGrpSpPr>
        <p:cNvPr id="1" name="Shape 19"/>
        <p:cNvGrpSpPr/>
        <p:nvPr/>
      </p:nvGrpSpPr>
      <p:grpSpPr>
        <a:xfrm>
          <a:off x="0" y="0"/>
          <a:ext cx="0" cy="0"/>
          <a:chOff x="0" y="0"/>
          <a:chExt cx="0" cy="0"/>
        </a:xfrm>
      </p:grpSpPr>
      <p:sp>
        <p:nvSpPr>
          <p:cNvPr id="20" name="Google Shape;20;p16"/>
          <p:cNvSpPr txBox="1">
            <a:spLocks noGrp="1"/>
          </p:cNvSpPr>
          <p:nvPr>
            <p:ph type="ctrTitle"/>
          </p:nvPr>
        </p:nvSpPr>
        <p:spPr>
          <a:xfrm>
            <a:off x="457200" y="1070901"/>
            <a:ext cx="11265407" cy="1499616"/>
          </a:xfrm>
          <a:prstGeom prst="rect">
            <a:avLst/>
          </a:prstGeom>
          <a:noFill/>
          <a:ln>
            <a:noFill/>
          </a:ln>
        </p:spPr>
        <p:txBody>
          <a:bodyPr spcFirstLastPara="1" wrap="square" lIns="91425" tIns="45700" rIns="91425" bIns="45700" anchor="ctr" anchorCtr="0">
            <a:noAutofit/>
          </a:bodyPr>
          <a:lstStyle>
            <a:lvl1pPr lvl="0" algn="l">
              <a:lnSpc>
                <a:spcPct val="90000"/>
              </a:lnSpc>
              <a:spcBef>
                <a:spcPts val="0"/>
              </a:spcBef>
              <a:spcAft>
                <a:spcPts val="0"/>
              </a:spcAft>
              <a:buClr>
                <a:schemeClr val="dk1"/>
              </a:buClr>
              <a:buSzPts val="4400"/>
              <a:buFont typeface="Calibri"/>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1" name="Google Shape;21;p16"/>
          <p:cNvSpPr>
            <a:spLocks noGrp="1"/>
          </p:cNvSpPr>
          <p:nvPr>
            <p:ph type="pic" idx="2"/>
          </p:nvPr>
        </p:nvSpPr>
        <p:spPr>
          <a:xfrm>
            <a:off x="448055" y="3103684"/>
            <a:ext cx="11274551" cy="3287971"/>
          </a:xfrm>
          <a:prstGeom prst="rect">
            <a:avLst/>
          </a:prstGeom>
          <a:solidFill>
            <a:schemeClr val="accent2"/>
          </a:solidFill>
          <a:ln>
            <a:noFill/>
          </a:ln>
        </p:spPr>
        <p:txBody>
          <a:bodyPr/>
          <a:lstStyle/>
          <a:p>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22"/>
        <p:cNvGrpSpPr/>
        <p:nvPr/>
      </p:nvGrpSpPr>
      <p:grpSpPr>
        <a:xfrm>
          <a:off x="0" y="0"/>
          <a:ext cx="0" cy="0"/>
          <a:chOff x="0" y="0"/>
          <a:chExt cx="0" cy="0"/>
        </a:xfrm>
      </p:grpSpPr>
      <p:sp>
        <p:nvSpPr>
          <p:cNvPr id="23" name="Google Shape;23;p17"/>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4" name="Google Shape;24;p17"/>
          <p:cNvSpPr txBox="1">
            <a:spLocks noGrp="1"/>
          </p:cNvSpPr>
          <p:nvPr>
            <p:ph type="body" idx="1"/>
          </p:nvPr>
        </p:nvSpPr>
        <p:spPr>
          <a:xfrm>
            <a:off x="838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5" name="Google Shape;25;p17"/>
          <p:cNvSpPr txBox="1">
            <a:spLocks noGrp="1"/>
          </p:cNvSpPr>
          <p:nvPr>
            <p:ph type="body" idx="2"/>
          </p:nvPr>
        </p:nvSpPr>
        <p:spPr>
          <a:xfrm>
            <a:off x="6172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6" name="Google Shape;26;p17"/>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7" name="Google Shape;27;p17"/>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8" name="Google Shape;28;p1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29"/>
        <p:cNvGrpSpPr/>
        <p:nvPr/>
      </p:nvGrpSpPr>
      <p:grpSpPr>
        <a:xfrm>
          <a:off x="0" y="0"/>
          <a:ext cx="0" cy="0"/>
          <a:chOff x="0" y="0"/>
          <a:chExt cx="0" cy="0"/>
        </a:xfrm>
      </p:grpSpPr>
      <p:sp>
        <p:nvSpPr>
          <p:cNvPr id="30" name="Google Shape;30;p18"/>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1" name="Google Shape;31;p18"/>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2" name="Google Shape;32;p18"/>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 subtitle">
  <p:cSld name="Title + subtitle">
    <p:spTree>
      <p:nvGrpSpPr>
        <p:cNvPr id="1" name="Shape 33"/>
        <p:cNvGrpSpPr/>
        <p:nvPr/>
      </p:nvGrpSpPr>
      <p:grpSpPr>
        <a:xfrm>
          <a:off x="0" y="0"/>
          <a:ext cx="0" cy="0"/>
          <a:chOff x="0" y="0"/>
          <a:chExt cx="0" cy="0"/>
        </a:xfrm>
      </p:grpSpPr>
      <p:sp>
        <p:nvSpPr>
          <p:cNvPr id="34" name="Google Shape;34;p19"/>
          <p:cNvSpPr txBox="1">
            <a:spLocks noGrp="1"/>
          </p:cNvSpPr>
          <p:nvPr>
            <p:ph type="ctrTitle"/>
          </p:nvPr>
        </p:nvSpPr>
        <p:spPr>
          <a:xfrm>
            <a:off x="1524000" y="1143000"/>
            <a:ext cx="9144000" cy="2585720"/>
          </a:xfrm>
          <a:prstGeom prst="rect">
            <a:avLst/>
          </a:prstGeom>
          <a:noFill/>
          <a:ln>
            <a:noFill/>
          </a:ln>
        </p:spPr>
        <p:txBody>
          <a:bodyPr spcFirstLastPara="1" wrap="square" lIns="91425" tIns="45700" rIns="91425" bIns="45700" anchor="b" anchorCtr="0">
            <a:noAutofit/>
          </a:bodyPr>
          <a:lstStyle>
            <a:lvl1pPr lvl="0" algn="ctr">
              <a:lnSpc>
                <a:spcPct val="90000"/>
              </a:lnSpc>
              <a:spcBef>
                <a:spcPts val="0"/>
              </a:spcBef>
              <a:spcAft>
                <a:spcPts val="0"/>
              </a:spcAft>
              <a:buClr>
                <a:schemeClr val="dk1"/>
              </a:buClr>
              <a:buSzPts val="4000"/>
              <a:buFont typeface="Calibri"/>
              <a:buNone/>
              <a:defRPr sz="4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5" name="Google Shape;35;p19"/>
          <p:cNvSpPr txBox="1">
            <a:spLocks noGrp="1"/>
          </p:cNvSpPr>
          <p:nvPr>
            <p:ph type="subTitle" idx="1"/>
          </p:nvPr>
        </p:nvSpPr>
        <p:spPr>
          <a:xfrm>
            <a:off x="1524000" y="3799840"/>
            <a:ext cx="9144000" cy="2052320"/>
          </a:xfrm>
          <a:prstGeom prst="rect">
            <a:avLst/>
          </a:prstGeom>
          <a:noFill/>
          <a:ln>
            <a:noFill/>
          </a:ln>
        </p:spPr>
        <p:txBody>
          <a:bodyPr spcFirstLastPara="1" wrap="square" lIns="91425" tIns="45700" rIns="91425" bIns="45700" anchor="t" anchorCtr="0">
            <a:noAutofit/>
          </a:bodyPr>
          <a:lstStyle>
            <a:lvl1pPr lvl="0" algn="ctr">
              <a:lnSpc>
                <a:spcPct val="90000"/>
              </a:lnSpc>
              <a:spcBef>
                <a:spcPts val="1000"/>
              </a:spcBef>
              <a:spcAft>
                <a:spcPts val="0"/>
              </a:spcAft>
              <a:buClr>
                <a:schemeClr val="dk1"/>
              </a:buClr>
              <a:buSzPts val="1800"/>
              <a:buNone/>
              <a:defRPr sz="1800"/>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 subtitle + picture 2">
  <p:cSld name="Title + subtitle + picture 2">
    <p:spTree>
      <p:nvGrpSpPr>
        <p:cNvPr id="1" name="Shape 36"/>
        <p:cNvGrpSpPr/>
        <p:nvPr/>
      </p:nvGrpSpPr>
      <p:grpSpPr>
        <a:xfrm>
          <a:off x="0" y="0"/>
          <a:ext cx="0" cy="0"/>
          <a:chOff x="0" y="0"/>
          <a:chExt cx="0" cy="0"/>
        </a:xfrm>
      </p:grpSpPr>
      <p:sp>
        <p:nvSpPr>
          <p:cNvPr id="37" name="Google Shape;37;p20"/>
          <p:cNvSpPr txBox="1">
            <a:spLocks noGrp="1"/>
          </p:cNvSpPr>
          <p:nvPr>
            <p:ph type="ctrTitle"/>
          </p:nvPr>
        </p:nvSpPr>
        <p:spPr>
          <a:xfrm>
            <a:off x="6108219" y="741363"/>
            <a:ext cx="5626579" cy="1286219"/>
          </a:xfrm>
          <a:prstGeom prst="rect">
            <a:avLst/>
          </a:prstGeom>
          <a:noFill/>
          <a:ln>
            <a:noFill/>
          </a:ln>
        </p:spPr>
        <p:txBody>
          <a:bodyPr spcFirstLastPara="1" wrap="square" lIns="91425" tIns="45700" rIns="91425" bIns="45700" anchor="b" anchorCtr="0">
            <a:noAutofit/>
          </a:bodyPr>
          <a:lstStyle>
            <a:lvl1pPr lvl="0" algn="l">
              <a:lnSpc>
                <a:spcPct val="90000"/>
              </a:lnSpc>
              <a:spcBef>
                <a:spcPts val="0"/>
              </a:spcBef>
              <a:spcAft>
                <a:spcPts val="0"/>
              </a:spcAft>
              <a:buClr>
                <a:schemeClr val="dk1"/>
              </a:buClr>
              <a:buSzPts val="2800"/>
              <a:buFont typeface="Calibri"/>
              <a:buNone/>
              <a:defRPr sz="28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8" name="Google Shape;38;p20"/>
          <p:cNvSpPr>
            <a:spLocks noGrp="1"/>
          </p:cNvSpPr>
          <p:nvPr>
            <p:ph type="pic" idx="2"/>
          </p:nvPr>
        </p:nvSpPr>
        <p:spPr>
          <a:xfrm>
            <a:off x="457200" y="761684"/>
            <a:ext cx="5171440" cy="5662230"/>
          </a:xfrm>
          <a:prstGeom prst="rect">
            <a:avLst/>
          </a:prstGeom>
          <a:solidFill>
            <a:schemeClr val="accent2"/>
          </a:solidFill>
          <a:ln>
            <a:noFill/>
          </a:ln>
        </p:spPr>
        <p:txBody>
          <a:bodyPr/>
          <a:lstStyle/>
          <a:p>
            <a:endParaRPr lang="en-US"/>
          </a:p>
        </p:txBody>
      </p:sp>
      <p:sp>
        <p:nvSpPr>
          <p:cNvPr id="39" name="Google Shape;39;p20"/>
          <p:cNvSpPr txBox="1">
            <a:spLocks noGrp="1"/>
          </p:cNvSpPr>
          <p:nvPr>
            <p:ph type="body" idx="1"/>
          </p:nvPr>
        </p:nvSpPr>
        <p:spPr>
          <a:xfrm>
            <a:off x="6106160" y="2235200"/>
            <a:ext cx="5628639" cy="4188713"/>
          </a:xfrm>
          <a:prstGeom prst="rect">
            <a:avLst/>
          </a:prstGeom>
          <a:noFill/>
          <a:ln>
            <a:noFill/>
          </a:ln>
        </p:spPr>
        <p:txBody>
          <a:bodyPr spcFirstLastPara="1" wrap="square" lIns="91425" tIns="45700" rIns="91425" bIns="45700" anchor="t" anchorCtr="0">
            <a:normAutofit/>
          </a:bodyPr>
          <a:lstStyle>
            <a:lvl1pPr marL="457200" lvl="0" indent="-355600" algn="l">
              <a:lnSpc>
                <a:spcPct val="90000"/>
              </a:lnSpc>
              <a:spcBef>
                <a:spcPts val="1000"/>
              </a:spcBef>
              <a:spcAft>
                <a:spcPts val="0"/>
              </a:spcAft>
              <a:buClr>
                <a:schemeClr val="dk2"/>
              </a:buClr>
              <a:buSzPts val="2000"/>
              <a:buChar char="•"/>
              <a:defRPr sz="2000">
                <a:solidFill>
                  <a:schemeClr val="dk2"/>
                </a:solidFill>
              </a:defRPr>
            </a:lvl1pPr>
            <a:lvl2pPr marL="914400" lvl="1" indent="-342900" algn="l">
              <a:lnSpc>
                <a:spcPct val="90000"/>
              </a:lnSpc>
              <a:spcBef>
                <a:spcPts val="500"/>
              </a:spcBef>
              <a:spcAft>
                <a:spcPts val="0"/>
              </a:spcAft>
              <a:buClr>
                <a:schemeClr val="dk2"/>
              </a:buClr>
              <a:buSzPts val="1800"/>
              <a:buChar char="•"/>
              <a:defRPr sz="1800">
                <a:solidFill>
                  <a:schemeClr val="dk2"/>
                </a:solidFill>
              </a:defRPr>
            </a:lvl2pPr>
            <a:lvl3pPr marL="1371600" lvl="2" indent="-330200" algn="l">
              <a:lnSpc>
                <a:spcPct val="90000"/>
              </a:lnSpc>
              <a:spcBef>
                <a:spcPts val="500"/>
              </a:spcBef>
              <a:spcAft>
                <a:spcPts val="0"/>
              </a:spcAft>
              <a:buClr>
                <a:schemeClr val="dk2"/>
              </a:buClr>
              <a:buSzPts val="1600"/>
              <a:buChar char="•"/>
              <a:defRPr sz="1600">
                <a:solidFill>
                  <a:schemeClr val="dk2"/>
                </a:solidFill>
              </a:defRPr>
            </a:lvl3pPr>
            <a:lvl4pPr marL="1828800" lvl="3" indent="-317500" algn="l">
              <a:lnSpc>
                <a:spcPct val="90000"/>
              </a:lnSpc>
              <a:spcBef>
                <a:spcPts val="500"/>
              </a:spcBef>
              <a:spcAft>
                <a:spcPts val="0"/>
              </a:spcAft>
              <a:buClr>
                <a:schemeClr val="dk2"/>
              </a:buClr>
              <a:buSzPts val="1400"/>
              <a:buChar char="•"/>
              <a:defRPr sz="1400">
                <a:solidFill>
                  <a:schemeClr val="dk2"/>
                </a:solidFill>
              </a:defRPr>
            </a:lvl4pPr>
            <a:lvl5pPr marL="2286000" lvl="4" indent="-317500" algn="l">
              <a:lnSpc>
                <a:spcPct val="90000"/>
              </a:lnSpc>
              <a:spcBef>
                <a:spcPts val="500"/>
              </a:spcBef>
              <a:spcAft>
                <a:spcPts val="0"/>
              </a:spcAft>
              <a:buClr>
                <a:schemeClr val="dk2"/>
              </a:buClr>
              <a:buSzPts val="1400"/>
              <a:buChar char="•"/>
              <a:defRPr sz="1400">
                <a:solidFill>
                  <a:schemeClr val="dk2"/>
                </a:solidFill>
              </a:defRPr>
            </a:lvl5pPr>
            <a:lvl6pPr marL="2743200" lvl="5" indent="-317500" algn="l">
              <a:lnSpc>
                <a:spcPct val="90000"/>
              </a:lnSpc>
              <a:spcBef>
                <a:spcPts val="500"/>
              </a:spcBef>
              <a:spcAft>
                <a:spcPts val="0"/>
              </a:spcAft>
              <a:buClr>
                <a:schemeClr val="dk2"/>
              </a:buClr>
              <a:buSzPts val="1400"/>
              <a:buChar char="•"/>
              <a:defRPr sz="1400">
                <a:solidFill>
                  <a:schemeClr val="dk2"/>
                </a:solidFill>
              </a:defRPr>
            </a:lvl6pPr>
            <a:lvl7pPr marL="3200400" lvl="6" indent="-317500" algn="l">
              <a:lnSpc>
                <a:spcPct val="90000"/>
              </a:lnSpc>
              <a:spcBef>
                <a:spcPts val="500"/>
              </a:spcBef>
              <a:spcAft>
                <a:spcPts val="0"/>
              </a:spcAft>
              <a:buClr>
                <a:schemeClr val="dk2"/>
              </a:buClr>
              <a:buSzPts val="1400"/>
              <a:buChar char="•"/>
              <a:defRPr sz="1400">
                <a:solidFill>
                  <a:schemeClr val="dk2"/>
                </a:solidFill>
              </a:defRPr>
            </a:lvl7pPr>
            <a:lvl8pPr marL="3657600" lvl="7" indent="-317500" algn="l">
              <a:lnSpc>
                <a:spcPct val="90000"/>
              </a:lnSpc>
              <a:spcBef>
                <a:spcPts val="500"/>
              </a:spcBef>
              <a:spcAft>
                <a:spcPts val="0"/>
              </a:spcAft>
              <a:buClr>
                <a:schemeClr val="dk2"/>
              </a:buClr>
              <a:buSzPts val="1400"/>
              <a:buChar char="•"/>
              <a:defRPr sz="1400">
                <a:solidFill>
                  <a:schemeClr val="dk2"/>
                </a:solidFill>
              </a:defRPr>
            </a:lvl8pPr>
            <a:lvl9pPr marL="4114800" lvl="8" indent="-317500" algn="l">
              <a:lnSpc>
                <a:spcPct val="90000"/>
              </a:lnSpc>
              <a:spcBef>
                <a:spcPts val="500"/>
              </a:spcBef>
              <a:spcAft>
                <a:spcPts val="0"/>
              </a:spcAft>
              <a:buClr>
                <a:schemeClr val="dk2"/>
              </a:buClr>
              <a:buSzPts val="1400"/>
              <a:buChar char="•"/>
              <a:defRPr sz="1400">
                <a:solidFill>
                  <a:schemeClr val="dk2"/>
                </a:solidFill>
              </a:defRPr>
            </a:lvl9pPr>
          </a:lstStyle>
          <a:p>
            <a:endParaRPr/>
          </a:p>
        </p:txBody>
      </p:sp>
      <p:sp>
        <p:nvSpPr>
          <p:cNvPr id="40" name="Google Shape;40;p20"/>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1" name="Google Shape;41;p20"/>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2" name="Google Shape;42;p20"/>
          <p:cNvSpPr txBox="1">
            <a:spLocks noGrp="1"/>
          </p:cNvSpPr>
          <p:nvPr>
            <p:ph type="sldNum" idx="12"/>
          </p:nvPr>
        </p:nvSpPr>
        <p:spPr>
          <a:xfrm>
            <a:off x="10682289" y="6423914"/>
            <a:ext cx="105251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55"/>
        <p:cNvGrpSpPr/>
        <p:nvPr/>
      </p:nvGrpSpPr>
      <p:grpSpPr>
        <a:xfrm>
          <a:off x="0" y="0"/>
          <a:ext cx="0" cy="0"/>
          <a:chOff x="0" y="0"/>
          <a:chExt cx="0" cy="0"/>
        </a:xfrm>
      </p:grpSpPr>
      <p:sp>
        <p:nvSpPr>
          <p:cNvPr id="56" name="Google Shape;56;p23"/>
          <p:cNvSpPr txBox="1">
            <a:spLocks noGrp="1"/>
          </p:cNvSpPr>
          <p:nvPr>
            <p:ph type="ctrTitle"/>
          </p:nvPr>
        </p:nvSpPr>
        <p:spPr>
          <a:xfrm>
            <a:off x="1524000" y="1122363"/>
            <a:ext cx="9144000" cy="2387600"/>
          </a:xfrm>
          <a:prstGeom prst="rect">
            <a:avLst/>
          </a:prstGeom>
          <a:noFill/>
          <a:ln>
            <a:noFill/>
          </a:ln>
        </p:spPr>
        <p:txBody>
          <a:bodyPr spcFirstLastPara="1" wrap="square" lIns="91425" tIns="45700" rIns="91425" bIns="45700" anchor="b" anchorCtr="0">
            <a:normAutofit/>
          </a:bodyPr>
          <a:lstStyle>
            <a:lvl1pPr lvl="0" algn="ctr">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7" name="Google Shape;57;p23"/>
          <p:cNvSpPr txBox="1">
            <a:spLocks noGrp="1"/>
          </p:cNvSpPr>
          <p:nvPr>
            <p:ph type="subTitle" idx="1"/>
          </p:nvPr>
        </p:nvSpPr>
        <p:spPr>
          <a:xfrm>
            <a:off x="1524000" y="3602038"/>
            <a:ext cx="9144000" cy="1655762"/>
          </a:xfrm>
          <a:prstGeom prst="rect">
            <a:avLst/>
          </a:prstGeom>
          <a:noFill/>
          <a:ln>
            <a:noFill/>
          </a:ln>
        </p:spPr>
        <p:txBody>
          <a:bodyPr spcFirstLastPara="1" wrap="square" lIns="91425" tIns="45700" rIns="91425" bIns="45700" anchor="t" anchorCtr="0">
            <a:normAutofit/>
          </a:bodyPr>
          <a:lstStyle>
            <a:lvl1pPr lvl="0" algn="ctr">
              <a:lnSpc>
                <a:spcPct val="90000"/>
              </a:lnSpc>
              <a:spcBef>
                <a:spcPts val="1000"/>
              </a:spcBef>
              <a:spcAft>
                <a:spcPts val="0"/>
              </a:spcAft>
              <a:buClr>
                <a:schemeClr val="dk1"/>
              </a:buClr>
              <a:buSzPts val="2400"/>
              <a:buNone/>
              <a:defRPr sz="2400"/>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a:p>
        </p:txBody>
      </p:sp>
      <p:sp>
        <p:nvSpPr>
          <p:cNvPr id="58" name="Google Shape;58;p23"/>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9" name="Google Shape;59;p23"/>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0" name="Google Shape;60;p2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61"/>
        <p:cNvGrpSpPr/>
        <p:nvPr/>
      </p:nvGrpSpPr>
      <p:grpSpPr>
        <a:xfrm>
          <a:off x="0" y="0"/>
          <a:ext cx="0" cy="0"/>
          <a:chOff x="0" y="0"/>
          <a:chExt cx="0" cy="0"/>
        </a:xfrm>
      </p:grpSpPr>
      <p:sp>
        <p:nvSpPr>
          <p:cNvPr id="62" name="Google Shape;62;p24"/>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3" name="Google Shape;63;p24"/>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64" name="Google Shape;64;p24"/>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5" name="Google Shape;65;p24"/>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6" name="Google Shape;66;p24"/>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67"/>
        <p:cNvGrpSpPr/>
        <p:nvPr/>
      </p:nvGrpSpPr>
      <p:grpSpPr>
        <a:xfrm>
          <a:off x="0" y="0"/>
          <a:ext cx="0" cy="0"/>
          <a:chOff x="0" y="0"/>
          <a:chExt cx="0" cy="0"/>
        </a:xfrm>
      </p:grpSpPr>
      <p:sp>
        <p:nvSpPr>
          <p:cNvPr id="68" name="Google Shape;68;p25"/>
          <p:cNvSpPr txBox="1">
            <a:spLocks noGrp="1"/>
          </p:cNvSpPr>
          <p:nvPr>
            <p:ph type="title"/>
          </p:nvPr>
        </p:nvSpPr>
        <p:spPr>
          <a:xfrm>
            <a:off x="831850" y="1709738"/>
            <a:ext cx="10515600" cy="2852737"/>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9" name="Google Shape;69;p25"/>
          <p:cNvSpPr txBox="1">
            <a:spLocks noGrp="1"/>
          </p:cNvSpPr>
          <p:nvPr>
            <p:ph type="body" idx="1"/>
          </p:nvPr>
        </p:nvSpPr>
        <p:spPr>
          <a:xfrm>
            <a:off x="831850" y="4589463"/>
            <a:ext cx="10515600" cy="1500187"/>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rgbClr val="888888"/>
              </a:buClr>
              <a:buSzPts val="2400"/>
              <a:buNone/>
              <a:defRPr sz="2400">
                <a:solidFill>
                  <a:srgbClr val="888888"/>
                </a:solidFill>
              </a:defRPr>
            </a:lvl1pPr>
            <a:lvl2pPr marL="914400" lvl="1" indent="-228600" algn="l">
              <a:lnSpc>
                <a:spcPct val="90000"/>
              </a:lnSpc>
              <a:spcBef>
                <a:spcPts val="500"/>
              </a:spcBef>
              <a:spcAft>
                <a:spcPts val="0"/>
              </a:spcAft>
              <a:buClr>
                <a:srgbClr val="888888"/>
              </a:buClr>
              <a:buSzPts val="2000"/>
              <a:buNone/>
              <a:defRPr sz="2000">
                <a:solidFill>
                  <a:srgbClr val="888888"/>
                </a:solidFill>
              </a:defRPr>
            </a:lvl2pPr>
            <a:lvl3pPr marL="1371600" lvl="2" indent="-228600" algn="l">
              <a:lnSpc>
                <a:spcPct val="90000"/>
              </a:lnSpc>
              <a:spcBef>
                <a:spcPts val="500"/>
              </a:spcBef>
              <a:spcAft>
                <a:spcPts val="0"/>
              </a:spcAft>
              <a:buClr>
                <a:srgbClr val="888888"/>
              </a:buClr>
              <a:buSzPts val="1800"/>
              <a:buNone/>
              <a:defRPr sz="1800">
                <a:solidFill>
                  <a:srgbClr val="888888"/>
                </a:solidFill>
              </a:defRPr>
            </a:lvl3pPr>
            <a:lvl4pPr marL="1828800" lvl="3" indent="-228600" algn="l">
              <a:lnSpc>
                <a:spcPct val="90000"/>
              </a:lnSpc>
              <a:spcBef>
                <a:spcPts val="500"/>
              </a:spcBef>
              <a:spcAft>
                <a:spcPts val="0"/>
              </a:spcAft>
              <a:buClr>
                <a:srgbClr val="888888"/>
              </a:buClr>
              <a:buSzPts val="1600"/>
              <a:buNone/>
              <a:defRPr sz="1600">
                <a:solidFill>
                  <a:srgbClr val="888888"/>
                </a:solidFill>
              </a:defRPr>
            </a:lvl4pPr>
            <a:lvl5pPr marL="2286000" lvl="4" indent="-228600" algn="l">
              <a:lnSpc>
                <a:spcPct val="90000"/>
              </a:lnSpc>
              <a:spcBef>
                <a:spcPts val="500"/>
              </a:spcBef>
              <a:spcAft>
                <a:spcPts val="0"/>
              </a:spcAft>
              <a:buClr>
                <a:srgbClr val="888888"/>
              </a:buClr>
              <a:buSzPts val="1600"/>
              <a:buNone/>
              <a:defRPr sz="1600">
                <a:solidFill>
                  <a:srgbClr val="888888"/>
                </a:solidFill>
              </a:defRPr>
            </a:lvl5pPr>
            <a:lvl6pPr marL="2743200" lvl="5" indent="-228600" algn="l">
              <a:lnSpc>
                <a:spcPct val="90000"/>
              </a:lnSpc>
              <a:spcBef>
                <a:spcPts val="500"/>
              </a:spcBef>
              <a:spcAft>
                <a:spcPts val="0"/>
              </a:spcAft>
              <a:buClr>
                <a:srgbClr val="888888"/>
              </a:buClr>
              <a:buSzPts val="1600"/>
              <a:buNone/>
              <a:defRPr sz="1600">
                <a:solidFill>
                  <a:srgbClr val="888888"/>
                </a:solidFill>
              </a:defRPr>
            </a:lvl6pPr>
            <a:lvl7pPr marL="3200400" lvl="6" indent="-228600" algn="l">
              <a:lnSpc>
                <a:spcPct val="90000"/>
              </a:lnSpc>
              <a:spcBef>
                <a:spcPts val="500"/>
              </a:spcBef>
              <a:spcAft>
                <a:spcPts val="0"/>
              </a:spcAft>
              <a:buClr>
                <a:srgbClr val="888888"/>
              </a:buClr>
              <a:buSzPts val="1600"/>
              <a:buNone/>
              <a:defRPr sz="1600">
                <a:solidFill>
                  <a:srgbClr val="888888"/>
                </a:solidFill>
              </a:defRPr>
            </a:lvl7pPr>
            <a:lvl8pPr marL="3657600" lvl="7" indent="-228600" algn="l">
              <a:lnSpc>
                <a:spcPct val="90000"/>
              </a:lnSpc>
              <a:spcBef>
                <a:spcPts val="500"/>
              </a:spcBef>
              <a:spcAft>
                <a:spcPts val="0"/>
              </a:spcAft>
              <a:buClr>
                <a:srgbClr val="888888"/>
              </a:buClr>
              <a:buSzPts val="1600"/>
              <a:buNone/>
              <a:defRPr sz="1600">
                <a:solidFill>
                  <a:srgbClr val="888888"/>
                </a:solidFill>
              </a:defRPr>
            </a:lvl8pPr>
            <a:lvl9pPr marL="4114800" lvl="8" indent="-228600" algn="l">
              <a:lnSpc>
                <a:spcPct val="90000"/>
              </a:lnSpc>
              <a:spcBef>
                <a:spcPts val="500"/>
              </a:spcBef>
              <a:spcAft>
                <a:spcPts val="0"/>
              </a:spcAft>
              <a:buClr>
                <a:srgbClr val="888888"/>
              </a:buClr>
              <a:buSzPts val="1600"/>
              <a:buNone/>
              <a:defRPr sz="1600">
                <a:solidFill>
                  <a:srgbClr val="888888"/>
                </a:solidFill>
              </a:defRPr>
            </a:lvl9pPr>
          </a:lstStyle>
          <a:p>
            <a:endParaRPr/>
          </a:p>
        </p:txBody>
      </p:sp>
      <p:sp>
        <p:nvSpPr>
          <p:cNvPr id="70" name="Google Shape;70;p25"/>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1" name="Google Shape;71;p25"/>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2" name="Google Shape;72;p25"/>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73"/>
        <p:cNvGrpSpPr/>
        <p:nvPr/>
      </p:nvGrpSpPr>
      <p:grpSpPr>
        <a:xfrm>
          <a:off x="0" y="0"/>
          <a:ext cx="0" cy="0"/>
          <a:chOff x="0" y="0"/>
          <a:chExt cx="0" cy="0"/>
        </a:xfrm>
      </p:grpSpPr>
      <p:sp>
        <p:nvSpPr>
          <p:cNvPr id="74" name="Google Shape;74;p26"/>
          <p:cNvSpPr txBox="1">
            <a:spLocks noGrp="1"/>
          </p:cNvSpPr>
          <p:nvPr>
            <p:ph type="title"/>
          </p:nvPr>
        </p:nvSpPr>
        <p:spPr>
          <a:xfrm>
            <a:off x="839788"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5" name="Google Shape;75;p26"/>
          <p:cNvSpPr txBox="1">
            <a:spLocks noGrp="1"/>
          </p:cNvSpPr>
          <p:nvPr>
            <p:ph type="body" idx="1"/>
          </p:nvPr>
        </p:nvSpPr>
        <p:spPr>
          <a:xfrm>
            <a:off x="839788" y="1681163"/>
            <a:ext cx="5157787"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76" name="Google Shape;76;p26"/>
          <p:cNvSpPr txBox="1">
            <a:spLocks noGrp="1"/>
          </p:cNvSpPr>
          <p:nvPr>
            <p:ph type="body" idx="2"/>
          </p:nvPr>
        </p:nvSpPr>
        <p:spPr>
          <a:xfrm>
            <a:off x="839788" y="2505075"/>
            <a:ext cx="5157787"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7" name="Google Shape;77;p26"/>
          <p:cNvSpPr txBox="1">
            <a:spLocks noGrp="1"/>
          </p:cNvSpPr>
          <p:nvPr>
            <p:ph type="body" idx="3"/>
          </p:nvPr>
        </p:nvSpPr>
        <p:spPr>
          <a:xfrm>
            <a:off x="6172200" y="1681163"/>
            <a:ext cx="5183188"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78" name="Google Shape;78;p26"/>
          <p:cNvSpPr txBox="1">
            <a:spLocks noGrp="1"/>
          </p:cNvSpPr>
          <p:nvPr>
            <p:ph type="body" idx="4"/>
          </p:nvPr>
        </p:nvSpPr>
        <p:spPr>
          <a:xfrm>
            <a:off x="6172200" y="2505075"/>
            <a:ext cx="5183188"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9" name="Google Shape;79;p26"/>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0" name="Google Shape;80;p26"/>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1" name="Google Shape;81;p2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82"/>
        <p:cNvGrpSpPr/>
        <p:nvPr/>
      </p:nvGrpSpPr>
      <p:grpSpPr>
        <a:xfrm>
          <a:off x="0" y="0"/>
          <a:ext cx="0" cy="0"/>
          <a:chOff x="0" y="0"/>
          <a:chExt cx="0" cy="0"/>
        </a:xfrm>
      </p:grpSpPr>
      <p:sp>
        <p:nvSpPr>
          <p:cNvPr id="83" name="Google Shape;83;p27"/>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84" name="Google Shape;84;p27"/>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5" name="Google Shape;85;p27"/>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6" name="Google Shape;86;p2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87"/>
        <p:cNvGrpSpPr/>
        <p:nvPr/>
      </p:nvGrpSpPr>
      <p:grpSpPr>
        <a:xfrm>
          <a:off x="0" y="0"/>
          <a:ext cx="0" cy="0"/>
          <a:chOff x="0" y="0"/>
          <a:chExt cx="0" cy="0"/>
        </a:xfrm>
      </p:grpSpPr>
      <p:sp>
        <p:nvSpPr>
          <p:cNvPr id="88" name="Google Shape;88;p28"/>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89" name="Google Shape;89;p28"/>
          <p:cNvSpPr txBox="1">
            <a:spLocks noGrp="1"/>
          </p:cNvSpPr>
          <p:nvPr>
            <p:ph type="body" idx="1"/>
          </p:nvPr>
        </p:nvSpPr>
        <p:spPr>
          <a:xfrm>
            <a:off x="5183188" y="987425"/>
            <a:ext cx="6172200" cy="4873625"/>
          </a:xfrm>
          <a:prstGeom prst="rect">
            <a:avLst/>
          </a:prstGeom>
          <a:noFill/>
          <a:ln>
            <a:noFill/>
          </a:ln>
        </p:spPr>
        <p:txBody>
          <a:bodyPr spcFirstLastPara="1" wrap="square" lIns="91425" tIns="45700" rIns="91425" bIns="45700" anchor="t" anchorCtr="0">
            <a:normAutofit/>
          </a:bodyPr>
          <a:lstStyle>
            <a:lvl1pPr marL="457200" lvl="0" indent="-431800" algn="l">
              <a:lnSpc>
                <a:spcPct val="90000"/>
              </a:lnSpc>
              <a:spcBef>
                <a:spcPts val="1000"/>
              </a:spcBef>
              <a:spcAft>
                <a:spcPts val="0"/>
              </a:spcAft>
              <a:buClr>
                <a:schemeClr val="dk1"/>
              </a:buClr>
              <a:buSzPts val="3200"/>
              <a:buChar char="•"/>
              <a:defRPr sz="3200"/>
            </a:lvl1pPr>
            <a:lvl2pPr marL="914400" lvl="1" indent="-406400" algn="l">
              <a:lnSpc>
                <a:spcPct val="90000"/>
              </a:lnSpc>
              <a:spcBef>
                <a:spcPts val="500"/>
              </a:spcBef>
              <a:spcAft>
                <a:spcPts val="0"/>
              </a:spcAft>
              <a:buClr>
                <a:schemeClr val="dk1"/>
              </a:buClr>
              <a:buSzPts val="2800"/>
              <a:buChar char="•"/>
              <a:defRPr sz="2800"/>
            </a:lvl2pPr>
            <a:lvl3pPr marL="1371600" lvl="2" indent="-381000" algn="l">
              <a:lnSpc>
                <a:spcPct val="90000"/>
              </a:lnSpc>
              <a:spcBef>
                <a:spcPts val="500"/>
              </a:spcBef>
              <a:spcAft>
                <a:spcPts val="0"/>
              </a:spcAft>
              <a:buClr>
                <a:schemeClr val="dk1"/>
              </a:buClr>
              <a:buSzPts val="2400"/>
              <a:buChar char="•"/>
              <a:defRPr sz="2400"/>
            </a:lvl3pPr>
            <a:lvl4pPr marL="1828800" lvl="3" indent="-355600" algn="l">
              <a:lnSpc>
                <a:spcPct val="90000"/>
              </a:lnSpc>
              <a:spcBef>
                <a:spcPts val="500"/>
              </a:spcBef>
              <a:spcAft>
                <a:spcPts val="0"/>
              </a:spcAft>
              <a:buClr>
                <a:schemeClr val="dk1"/>
              </a:buClr>
              <a:buSzPts val="2000"/>
              <a:buChar char="•"/>
              <a:defRPr sz="2000"/>
            </a:lvl4pPr>
            <a:lvl5pPr marL="2286000" lvl="4" indent="-355600" algn="l">
              <a:lnSpc>
                <a:spcPct val="90000"/>
              </a:lnSpc>
              <a:spcBef>
                <a:spcPts val="500"/>
              </a:spcBef>
              <a:spcAft>
                <a:spcPts val="0"/>
              </a:spcAft>
              <a:buClr>
                <a:schemeClr val="dk1"/>
              </a:buClr>
              <a:buSzPts val="2000"/>
              <a:buChar char="•"/>
              <a:defRPr sz="2000"/>
            </a:lvl5pPr>
            <a:lvl6pPr marL="2743200" lvl="5" indent="-355600" algn="l">
              <a:lnSpc>
                <a:spcPct val="90000"/>
              </a:lnSpc>
              <a:spcBef>
                <a:spcPts val="500"/>
              </a:spcBef>
              <a:spcAft>
                <a:spcPts val="0"/>
              </a:spcAft>
              <a:buClr>
                <a:schemeClr val="dk1"/>
              </a:buClr>
              <a:buSzPts val="2000"/>
              <a:buChar char="•"/>
              <a:defRPr sz="2000"/>
            </a:lvl6pPr>
            <a:lvl7pPr marL="3200400" lvl="6" indent="-355600" algn="l">
              <a:lnSpc>
                <a:spcPct val="90000"/>
              </a:lnSpc>
              <a:spcBef>
                <a:spcPts val="500"/>
              </a:spcBef>
              <a:spcAft>
                <a:spcPts val="0"/>
              </a:spcAft>
              <a:buClr>
                <a:schemeClr val="dk1"/>
              </a:buClr>
              <a:buSzPts val="2000"/>
              <a:buChar char="•"/>
              <a:defRPr sz="2000"/>
            </a:lvl7pPr>
            <a:lvl8pPr marL="3657600" lvl="7" indent="-355600" algn="l">
              <a:lnSpc>
                <a:spcPct val="90000"/>
              </a:lnSpc>
              <a:spcBef>
                <a:spcPts val="500"/>
              </a:spcBef>
              <a:spcAft>
                <a:spcPts val="0"/>
              </a:spcAft>
              <a:buClr>
                <a:schemeClr val="dk1"/>
              </a:buClr>
              <a:buSzPts val="2000"/>
              <a:buChar char="•"/>
              <a:defRPr sz="2000"/>
            </a:lvl8pPr>
            <a:lvl9pPr marL="4114800" lvl="8" indent="-355600" algn="l">
              <a:lnSpc>
                <a:spcPct val="90000"/>
              </a:lnSpc>
              <a:spcBef>
                <a:spcPts val="500"/>
              </a:spcBef>
              <a:spcAft>
                <a:spcPts val="0"/>
              </a:spcAft>
              <a:buClr>
                <a:schemeClr val="dk1"/>
              </a:buClr>
              <a:buSzPts val="2000"/>
              <a:buChar char="•"/>
              <a:defRPr sz="2000"/>
            </a:lvl9pPr>
          </a:lstStyle>
          <a:p>
            <a:endParaRPr/>
          </a:p>
        </p:txBody>
      </p:sp>
      <p:sp>
        <p:nvSpPr>
          <p:cNvPr id="90" name="Google Shape;90;p28"/>
          <p:cNvSpPr txBox="1">
            <a:spLocks noGrp="1"/>
          </p:cNvSpPr>
          <p:nvPr>
            <p:ph type="body" idx="2"/>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91" name="Google Shape;91;p28"/>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92" name="Google Shape;92;p28"/>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93" name="Google Shape;93;p28"/>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94"/>
        <p:cNvGrpSpPr/>
        <p:nvPr/>
      </p:nvGrpSpPr>
      <p:grpSpPr>
        <a:xfrm>
          <a:off x="0" y="0"/>
          <a:ext cx="0" cy="0"/>
          <a:chOff x="0" y="0"/>
          <a:chExt cx="0" cy="0"/>
        </a:xfrm>
      </p:grpSpPr>
      <p:sp>
        <p:nvSpPr>
          <p:cNvPr id="95" name="Google Shape;95;p29"/>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96" name="Google Shape;96;p29"/>
          <p:cNvSpPr>
            <a:spLocks noGrp="1"/>
          </p:cNvSpPr>
          <p:nvPr>
            <p:ph type="pic" idx="2"/>
          </p:nvPr>
        </p:nvSpPr>
        <p:spPr>
          <a:xfrm>
            <a:off x="5183188" y="987425"/>
            <a:ext cx="6172200" cy="4873625"/>
          </a:xfrm>
          <a:prstGeom prst="rect">
            <a:avLst/>
          </a:prstGeom>
          <a:noFill/>
          <a:ln>
            <a:noFill/>
          </a:ln>
        </p:spPr>
        <p:txBody>
          <a:bodyPr/>
          <a:lstStyle/>
          <a:p>
            <a:endParaRPr lang="en-US"/>
          </a:p>
        </p:txBody>
      </p:sp>
      <p:sp>
        <p:nvSpPr>
          <p:cNvPr id="97" name="Google Shape;97;p29"/>
          <p:cNvSpPr txBox="1">
            <a:spLocks noGrp="1"/>
          </p:cNvSpPr>
          <p:nvPr>
            <p:ph type="body" idx="1"/>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98" name="Google Shape;98;p29"/>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99" name="Google Shape;99;p29"/>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00" name="Google Shape;100;p2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101"/>
        <p:cNvGrpSpPr/>
        <p:nvPr/>
      </p:nvGrpSpPr>
      <p:grpSpPr>
        <a:xfrm>
          <a:off x="0" y="0"/>
          <a:ext cx="0" cy="0"/>
          <a:chOff x="0" y="0"/>
          <a:chExt cx="0" cy="0"/>
        </a:xfrm>
      </p:grpSpPr>
      <p:sp>
        <p:nvSpPr>
          <p:cNvPr id="102" name="Google Shape;102;p30"/>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03" name="Google Shape;103;p30"/>
          <p:cNvSpPr txBox="1">
            <a:spLocks noGrp="1"/>
          </p:cNvSpPr>
          <p:nvPr>
            <p:ph type="body" idx="1"/>
          </p:nvPr>
        </p:nvSpPr>
        <p:spPr>
          <a:xfrm rot="5400000">
            <a:off x="3920331" y="-1256506"/>
            <a:ext cx="4351338" cy="105156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04" name="Google Shape;104;p30"/>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05" name="Google Shape;105;p30"/>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06" name="Google Shape;106;p30"/>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107"/>
        <p:cNvGrpSpPr/>
        <p:nvPr/>
      </p:nvGrpSpPr>
      <p:grpSpPr>
        <a:xfrm>
          <a:off x="0" y="0"/>
          <a:ext cx="0" cy="0"/>
          <a:chOff x="0" y="0"/>
          <a:chExt cx="0" cy="0"/>
        </a:xfrm>
      </p:grpSpPr>
      <p:sp>
        <p:nvSpPr>
          <p:cNvPr id="108" name="Google Shape;108;p31"/>
          <p:cNvSpPr txBox="1">
            <a:spLocks noGrp="1"/>
          </p:cNvSpPr>
          <p:nvPr>
            <p:ph type="title"/>
          </p:nvPr>
        </p:nvSpPr>
        <p:spPr>
          <a:xfrm rot="5400000">
            <a:off x="7133431" y="1956594"/>
            <a:ext cx="5811838" cy="26289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09" name="Google Shape;109;p31"/>
          <p:cNvSpPr txBox="1">
            <a:spLocks noGrp="1"/>
          </p:cNvSpPr>
          <p:nvPr>
            <p:ph type="body" idx="1"/>
          </p:nvPr>
        </p:nvSpPr>
        <p:spPr>
          <a:xfrm rot="5400000">
            <a:off x="1799431" y="-596106"/>
            <a:ext cx="5811838" cy="77343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10" name="Google Shape;110;p3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11" name="Google Shape;111;p3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12" name="Google Shape;112;p3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Introduction bottom">
  <p:cSld name="Introduction bottom">
    <p:spTree>
      <p:nvGrpSpPr>
        <p:cNvPr id="1" name="Shape 113"/>
        <p:cNvGrpSpPr/>
        <p:nvPr/>
      </p:nvGrpSpPr>
      <p:grpSpPr>
        <a:xfrm>
          <a:off x="0" y="0"/>
          <a:ext cx="0" cy="0"/>
          <a:chOff x="0" y="0"/>
          <a:chExt cx="0" cy="0"/>
        </a:xfrm>
      </p:grpSpPr>
      <p:sp>
        <p:nvSpPr>
          <p:cNvPr id="114" name="Google Shape;114;p32"/>
          <p:cNvSpPr txBox="1">
            <a:spLocks noGrp="1"/>
          </p:cNvSpPr>
          <p:nvPr>
            <p:ph type="title"/>
          </p:nvPr>
        </p:nvSpPr>
        <p:spPr>
          <a:xfrm>
            <a:off x="457200" y="2878091"/>
            <a:ext cx="3729789" cy="3440485"/>
          </a:xfrm>
          <a:prstGeom prst="rect">
            <a:avLst/>
          </a:prstGeom>
          <a:noFill/>
          <a:ln>
            <a:noFill/>
          </a:ln>
        </p:spPr>
        <p:txBody>
          <a:bodyPr spcFirstLastPara="1" wrap="square" lIns="91425" tIns="182875" rIns="91425" bIns="182875" anchor="ctr" anchorCtr="0">
            <a:no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15" name="Google Shape;115;p32"/>
          <p:cNvSpPr>
            <a:spLocks noGrp="1"/>
          </p:cNvSpPr>
          <p:nvPr>
            <p:ph type="pic" idx="2"/>
          </p:nvPr>
        </p:nvSpPr>
        <p:spPr>
          <a:xfrm>
            <a:off x="457200" y="670560"/>
            <a:ext cx="11267440" cy="2139696"/>
          </a:xfrm>
          <a:prstGeom prst="rect">
            <a:avLst/>
          </a:prstGeom>
          <a:solidFill>
            <a:schemeClr val="accent2"/>
          </a:solidFill>
          <a:ln>
            <a:noFill/>
          </a:ln>
        </p:spPr>
        <p:txBody>
          <a:bodyPr/>
          <a:lstStyle/>
          <a:p>
            <a:endParaRPr lang="en-US"/>
          </a:p>
        </p:txBody>
      </p:sp>
      <p:sp>
        <p:nvSpPr>
          <p:cNvPr id="116" name="Google Shape;116;p32"/>
          <p:cNvSpPr txBox="1">
            <a:spLocks noGrp="1"/>
          </p:cNvSpPr>
          <p:nvPr>
            <p:ph type="body" idx="1"/>
          </p:nvPr>
        </p:nvSpPr>
        <p:spPr>
          <a:xfrm>
            <a:off x="4305827" y="2878091"/>
            <a:ext cx="7418813" cy="3440485"/>
          </a:xfrm>
          <a:prstGeom prst="rect">
            <a:avLst/>
          </a:prstGeom>
          <a:noFill/>
          <a:ln>
            <a:noFill/>
          </a:ln>
        </p:spPr>
        <p:txBody>
          <a:bodyPr spcFirstLastPara="1" wrap="square" lIns="91425" tIns="45700" rIns="91425" bIns="45700" anchor="ctr" anchorCtr="0">
            <a:normAutofit/>
          </a:bodyPr>
          <a:lstStyle>
            <a:lvl1pPr marL="457200" lvl="0" indent="-406400" algn="l">
              <a:lnSpc>
                <a:spcPct val="90000"/>
              </a:lnSpc>
              <a:spcBef>
                <a:spcPts val="1000"/>
              </a:spcBef>
              <a:spcAft>
                <a:spcPts val="0"/>
              </a:spcAft>
              <a:buClr>
                <a:schemeClr val="dk1"/>
              </a:buClr>
              <a:buSzPts val="2800"/>
              <a:buFont typeface="Arial"/>
              <a:buChar char="•"/>
              <a:defRPr/>
            </a:lvl1pPr>
            <a:lvl2pPr marL="914400" lvl="1" indent="-381000" algn="l">
              <a:lnSpc>
                <a:spcPct val="90000"/>
              </a:lnSpc>
              <a:spcBef>
                <a:spcPts val="500"/>
              </a:spcBef>
              <a:spcAft>
                <a:spcPts val="0"/>
              </a:spcAft>
              <a:buClr>
                <a:schemeClr val="dk1"/>
              </a:buClr>
              <a:buSzPts val="2400"/>
              <a:buFont typeface="Arial"/>
              <a:buChar char="•"/>
              <a:defRPr/>
            </a:lvl2pPr>
            <a:lvl3pPr marL="1371600" lvl="2" indent="-355600" algn="l">
              <a:lnSpc>
                <a:spcPct val="90000"/>
              </a:lnSpc>
              <a:spcBef>
                <a:spcPts val="500"/>
              </a:spcBef>
              <a:spcAft>
                <a:spcPts val="0"/>
              </a:spcAft>
              <a:buClr>
                <a:schemeClr val="dk1"/>
              </a:buClr>
              <a:buSzPts val="2000"/>
              <a:buFont typeface="Arial"/>
              <a:buChar char="•"/>
              <a:defRPr/>
            </a:lvl3pPr>
            <a:lvl4pPr marL="1828800" lvl="3" indent="-342900" algn="l">
              <a:lnSpc>
                <a:spcPct val="90000"/>
              </a:lnSpc>
              <a:spcBef>
                <a:spcPts val="500"/>
              </a:spcBef>
              <a:spcAft>
                <a:spcPts val="0"/>
              </a:spcAft>
              <a:buClr>
                <a:schemeClr val="dk1"/>
              </a:buClr>
              <a:buSzPts val="1800"/>
              <a:buFont typeface="Arial"/>
              <a:buChar char="•"/>
              <a:defRPr/>
            </a:lvl4pPr>
            <a:lvl5pPr marL="2286000" lvl="4" indent="-342900" algn="l">
              <a:lnSpc>
                <a:spcPct val="90000"/>
              </a:lnSpc>
              <a:spcBef>
                <a:spcPts val="500"/>
              </a:spcBef>
              <a:spcAft>
                <a:spcPts val="0"/>
              </a:spcAft>
              <a:buClr>
                <a:schemeClr val="dk1"/>
              </a:buClr>
              <a:buSzPts val="1800"/>
              <a:buFont typeface="Arial"/>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17" name="Google Shape;117;p32"/>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18" name="Google Shape;118;p32"/>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19" name="Google Shape;119;p32"/>
          <p:cNvSpPr txBox="1">
            <a:spLocks noGrp="1"/>
          </p:cNvSpPr>
          <p:nvPr>
            <p:ph type="sldNum" idx="12"/>
          </p:nvPr>
        </p:nvSpPr>
        <p:spPr>
          <a:xfrm>
            <a:off x="10672130" y="6423914"/>
            <a:ext cx="105251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extLst>
    <p:ext uri="{DCECCB84-F9BA-43D5-87BE-67443E8EF086}">
      <p15:sldGuideLst xmlns:p15="http://schemas.microsoft.com/office/powerpoint/2012/main">
        <p15:guide id="1" orient="horz">
          <p15:clr>
            <a:srgbClr val="FBAE40"/>
          </p15:clr>
        </p15:guide>
      </p15:sldGuideLst>
    </p:ext>
  </p:extLs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6"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15"/>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11" name="Google Shape;11;p15"/>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12" name="Google Shape;12;p15"/>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3" name="Google Shape;13;p15"/>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4" name="Google Shape;14;p15"/>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Calibri"/>
                <a:ea typeface="Calibri"/>
                <a:cs typeface="Calibri"/>
                <a:sym typeface="Calibri"/>
              </a:defRPr>
            </a:lvl1pPr>
            <a:lvl2pPr marL="0" marR="0" lvl="1" indent="0" algn="r" rtl="0">
              <a:spcBef>
                <a:spcPts val="0"/>
              </a:spcBef>
              <a:buNone/>
              <a:defRPr sz="1200" b="0" i="0" u="none" strike="noStrike" cap="none">
                <a:solidFill>
                  <a:srgbClr val="888888"/>
                </a:solidFill>
                <a:latin typeface="Calibri"/>
                <a:ea typeface="Calibri"/>
                <a:cs typeface="Calibri"/>
                <a:sym typeface="Calibri"/>
              </a:defRPr>
            </a:lvl2pPr>
            <a:lvl3pPr marL="0" marR="0" lvl="2" indent="0" algn="r" rtl="0">
              <a:spcBef>
                <a:spcPts val="0"/>
              </a:spcBef>
              <a:buNone/>
              <a:defRPr sz="1200" b="0" i="0" u="none" strike="noStrike" cap="none">
                <a:solidFill>
                  <a:srgbClr val="888888"/>
                </a:solidFill>
                <a:latin typeface="Calibri"/>
                <a:ea typeface="Calibri"/>
                <a:cs typeface="Calibri"/>
                <a:sym typeface="Calibri"/>
              </a:defRPr>
            </a:lvl3pPr>
            <a:lvl4pPr marL="0" marR="0" lvl="3" indent="0" algn="r" rtl="0">
              <a:spcBef>
                <a:spcPts val="0"/>
              </a:spcBef>
              <a:buNone/>
              <a:defRPr sz="1200" b="0" i="0" u="none" strike="noStrike" cap="none">
                <a:solidFill>
                  <a:srgbClr val="888888"/>
                </a:solidFill>
                <a:latin typeface="Calibri"/>
                <a:ea typeface="Calibri"/>
                <a:cs typeface="Calibri"/>
                <a:sym typeface="Calibri"/>
              </a:defRPr>
            </a:lvl4pPr>
            <a:lvl5pPr marL="0" marR="0" lvl="4" indent="0" algn="r" rtl="0">
              <a:spcBef>
                <a:spcPts val="0"/>
              </a:spcBef>
              <a:buNone/>
              <a:defRPr sz="1200" b="0" i="0" u="none" strike="noStrike" cap="none">
                <a:solidFill>
                  <a:srgbClr val="888888"/>
                </a:solidFill>
                <a:latin typeface="Calibri"/>
                <a:ea typeface="Calibri"/>
                <a:cs typeface="Calibri"/>
                <a:sym typeface="Calibri"/>
              </a:defRPr>
            </a:lvl5pPr>
            <a:lvl6pPr marL="0" marR="0" lvl="5" indent="0" algn="r" rtl="0">
              <a:spcBef>
                <a:spcPts val="0"/>
              </a:spcBef>
              <a:buNone/>
              <a:defRPr sz="1200" b="0" i="0" u="none" strike="noStrike" cap="none">
                <a:solidFill>
                  <a:srgbClr val="888888"/>
                </a:solidFill>
                <a:latin typeface="Calibri"/>
                <a:ea typeface="Calibri"/>
                <a:cs typeface="Calibri"/>
                <a:sym typeface="Calibri"/>
              </a:defRPr>
            </a:lvl6pPr>
            <a:lvl7pPr marL="0" marR="0" lvl="6" indent="0" algn="r" rtl="0">
              <a:spcBef>
                <a:spcPts val="0"/>
              </a:spcBef>
              <a:buNone/>
              <a:defRPr sz="1200" b="0" i="0" u="none" strike="noStrike" cap="none">
                <a:solidFill>
                  <a:srgbClr val="888888"/>
                </a:solidFill>
                <a:latin typeface="Calibri"/>
                <a:ea typeface="Calibri"/>
                <a:cs typeface="Calibri"/>
                <a:sym typeface="Calibri"/>
              </a:defRPr>
            </a:lvl7pPr>
            <a:lvl8pPr marL="0" marR="0" lvl="7" indent="0" algn="r" rtl="0">
              <a:spcBef>
                <a:spcPts val="0"/>
              </a:spcBef>
              <a:buNone/>
              <a:defRPr sz="1200" b="0" i="0" u="none" strike="noStrike" cap="none">
                <a:solidFill>
                  <a:srgbClr val="888888"/>
                </a:solidFill>
                <a:latin typeface="Calibri"/>
                <a:ea typeface="Calibri"/>
                <a:cs typeface="Calibri"/>
                <a:sym typeface="Calibri"/>
              </a:defRPr>
            </a:lvl8pPr>
            <a:lvl9pPr marL="0" marR="0" lvl="8" indent="0" algn="r" rtl="0">
              <a:spcBef>
                <a:spcPts val="0"/>
              </a:spcBef>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grpSp>
        <p:nvGrpSpPr>
          <p:cNvPr id="15" name="Google Shape;15;p15"/>
          <p:cNvGrpSpPr/>
          <p:nvPr/>
        </p:nvGrpSpPr>
        <p:grpSpPr>
          <a:xfrm>
            <a:off x="428696" y="482137"/>
            <a:ext cx="11301155" cy="81191"/>
            <a:chOff x="428696" y="482137"/>
            <a:chExt cx="11301155" cy="81191"/>
          </a:xfrm>
        </p:grpSpPr>
        <p:sp>
          <p:nvSpPr>
            <p:cNvPr id="16" name="Google Shape;16;p15"/>
            <p:cNvSpPr/>
            <p:nvPr/>
          </p:nvSpPr>
          <p:spPr>
            <a:xfrm rot="10800000" flipH="1">
              <a:off x="428696" y="482137"/>
              <a:ext cx="3703321" cy="81191"/>
            </a:xfrm>
            <a:prstGeom prst="rect">
              <a:avLst/>
            </a:prstGeom>
            <a:solidFill>
              <a:schemeClr val="accent3"/>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sp>
          <p:nvSpPr>
            <p:cNvPr id="17" name="Google Shape;17;p15"/>
            <p:cNvSpPr/>
            <p:nvPr/>
          </p:nvSpPr>
          <p:spPr>
            <a:xfrm rot="10800000" flipH="1">
              <a:off x="4235926" y="482137"/>
              <a:ext cx="3703321" cy="81191"/>
            </a:xfrm>
            <a:prstGeom prst="rect">
              <a:avLst/>
            </a:prstGeom>
            <a:solidFill>
              <a:schemeClr val="accen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sp>
          <p:nvSpPr>
            <p:cNvPr id="18" name="Google Shape;18;p15"/>
            <p:cNvSpPr/>
            <p:nvPr/>
          </p:nvSpPr>
          <p:spPr>
            <a:xfrm rot="10800000" flipH="1">
              <a:off x="8026530" y="482137"/>
              <a:ext cx="3703321" cy="81191"/>
            </a:xfrm>
            <a:prstGeom prst="rect">
              <a:avLst/>
            </a:prstGeom>
            <a:solidFill>
              <a:schemeClr val="accent4"/>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gr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6" r:id="rId6"/>
    <p:sldLayoutId id="2147483657" r:id="rId7"/>
    <p:sldLayoutId id="2147483658" r:id="rId8"/>
    <p:sldLayoutId id="2147483659" r:id="rId9"/>
    <p:sldLayoutId id="2147483660" r:id="rId10"/>
    <p:sldLayoutId id="2147483661" r:id="rId11"/>
    <p:sldLayoutId id="2147483662" r:id="rId12"/>
    <p:sldLayoutId id="2147483663" r:id="rId13"/>
    <p:sldLayoutId id="2147483664" r:id="rId14"/>
    <p:sldLayoutId id="2147483665" r:id="rId15"/>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6.xml"/><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7.xml"/><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8.xml"/><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9.xml"/><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0.xml"/><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1.xml"/><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2.xml"/><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3" Type="http://schemas.openxmlformats.org/officeDocument/2006/relationships/image" Target="../media/image11.jpg"/><Relationship Id="rId2" Type="http://schemas.openxmlformats.org/officeDocument/2006/relationships/notesSlide" Target="../notesSlides/notesSlide14.xml"/><Relationship Id="rId1" Type="http://schemas.openxmlformats.org/officeDocument/2006/relationships/slideLayout" Target="../slideLayouts/slideLayout15.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124"/>
        <p:cNvGrpSpPr/>
        <p:nvPr/>
      </p:nvGrpSpPr>
      <p:grpSpPr>
        <a:xfrm>
          <a:off x="0" y="0"/>
          <a:ext cx="0" cy="0"/>
          <a:chOff x="0" y="0"/>
          <a:chExt cx="0" cy="0"/>
        </a:xfrm>
      </p:grpSpPr>
      <p:sp>
        <p:nvSpPr>
          <p:cNvPr id="125" name="Google Shape;125;p1"/>
          <p:cNvSpPr txBox="1">
            <a:spLocks noGrp="1"/>
          </p:cNvSpPr>
          <p:nvPr>
            <p:ph type="ctrTitle"/>
          </p:nvPr>
        </p:nvSpPr>
        <p:spPr>
          <a:xfrm>
            <a:off x="457200" y="1070901"/>
            <a:ext cx="11265407" cy="1499616"/>
          </a:xfrm>
          <a:prstGeom prst="rect">
            <a:avLst/>
          </a:prstGeom>
          <a:noFill/>
          <a:ln>
            <a:noFill/>
          </a:ln>
        </p:spPr>
        <p:txBody>
          <a:bodyPr spcFirstLastPara="1" wrap="square" lIns="91425" tIns="45700" rIns="91425" bIns="45700" anchor="ctr" anchorCtr="0">
            <a:noAutofit/>
          </a:bodyPr>
          <a:lstStyle/>
          <a:p>
            <a:pPr marL="0" lvl="0" indent="0" algn="l" rtl="0">
              <a:lnSpc>
                <a:spcPct val="90000"/>
              </a:lnSpc>
              <a:spcBef>
                <a:spcPts val="0"/>
              </a:spcBef>
              <a:spcAft>
                <a:spcPts val="0"/>
              </a:spcAft>
              <a:buClr>
                <a:schemeClr val="dk1"/>
              </a:buClr>
              <a:buSzPts val="5400"/>
              <a:buFont typeface="Calibri"/>
              <a:buNone/>
            </a:pPr>
            <a:r>
              <a:rPr lang="en-US" sz="5400" dirty="0"/>
              <a:t>Claims Processing Risk </a:t>
            </a:r>
            <a:br>
              <a:rPr lang="en-US" sz="5400" dirty="0"/>
            </a:br>
            <a:r>
              <a:rPr lang="en-US" sz="5400" dirty="0"/>
              <a:t>&amp; Accuracy Analysis</a:t>
            </a:r>
            <a:endParaRPr dirty="0"/>
          </a:p>
        </p:txBody>
      </p:sp>
      <p:pic>
        <p:nvPicPr>
          <p:cNvPr id="126" name="Google Shape;126;p1" descr="Close-up of documents and charts"/>
          <p:cNvPicPr preferRelativeResize="0">
            <a:picLocks noGrp="1"/>
          </p:cNvPicPr>
          <p:nvPr>
            <p:ph type="pic" idx="2"/>
          </p:nvPr>
        </p:nvPicPr>
        <p:blipFill rotWithShape="1">
          <a:blip r:embed="rId3">
            <a:alphaModFix/>
          </a:blip>
          <a:srcRect t="28129" b="28129"/>
          <a:stretch/>
        </p:blipFill>
        <p:spPr>
          <a:xfrm>
            <a:off x="448055" y="3103684"/>
            <a:ext cx="11274551" cy="3287971"/>
          </a:xfrm>
          <a:prstGeom prst="rect">
            <a:avLst/>
          </a:prstGeom>
          <a:solidFill>
            <a:schemeClr val="accent2"/>
          </a:solidFill>
          <a:ln>
            <a:noFill/>
          </a:ln>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40"/>
        <p:cNvGrpSpPr/>
        <p:nvPr/>
      </p:nvGrpSpPr>
      <p:grpSpPr>
        <a:xfrm>
          <a:off x="0" y="0"/>
          <a:ext cx="0" cy="0"/>
          <a:chOff x="0" y="0"/>
          <a:chExt cx="0" cy="0"/>
        </a:xfrm>
      </p:grpSpPr>
      <p:sp>
        <p:nvSpPr>
          <p:cNvPr id="141" name="Google Shape;141;p3"/>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Calibri"/>
              <a:buNone/>
            </a:pPr>
            <a:br>
              <a:rPr lang="en-US"/>
            </a:br>
            <a:endParaRPr/>
          </a:p>
        </p:txBody>
      </p:sp>
      <p:sp>
        <p:nvSpPr>
          <p:cNvPr id="142" name="Google Shape;142;p3"/>
          <p:cNvSpPr txBox="1">
            <a:spLocks noGrp="1"/>
          </p:cNvSpPr>
          <p:nvPr>
            <p:ph type="body" idx="1"/>
          </p:nvPr>
        </p:nvSpPr>
        <p:spPr>
          <a:xfrm>
            <a:off x="562429" y="1381769"/>
            <a:ext cx="5257802" cy="4367639"/>
          </a:xfrm>
          <a:prstGeom prst="rect">
            <a:avLst/>
          </a:prstGeom>
          <a:noFill/>
          <a:ln>
            <a:noFill/>
          </a:ln>
        </p:spPr>
        <p:txBody>
          <a:bodyPr spcFirstLastPara="1" wrap="square" lIns="91425" tIns="45700" rIns="91425" bIns="45700" anchor="t" anchorCtr="0">
            <a:normAutofit lnSpcReduction="10000"/>
          </a:bodyPr>
          <a:lstStyle/>
          <a:p>
            <a:pPr marL="0" lvl="0" indent="0" algn="l" rtl="0">
              <a:lnSpc>
                <a:spcPct val="90000"/>
              </a:lnSpc>
              <a:spcBef>
                <a:spcPts val="0"/>
              </a:spcBef>
              <a:spcAft>
                <a:spcPts val="0"/>
              </a:spcAft>
              <a:buClr>
                <a:schemeClr val="dk1"/>
              </a:buClr>
              <a:buSzPts val="1400"/>
              <a:buNone/>
            </a:pPr>
            <a:r>
              <a:rPr lang="en-US" sz="2000" dirty="0"/>
              <a:t>Objective</a:t>
            </a:r>
            <a:endParaRPr sz="2000" dirty="0"/>
          </a:p>
          <a:p>
            <a:pPr marL="0" lvl="0" indent="0" algn="l" rtl="0">
              <a:lnSpc>
                <a:spcPct val="90000"/>
              </a:lnSpc>
              <a:spcBef>
                <a:spcPts val="1000"/>
              </a:spcBef>
              <a:spcAft>
                <a:spcPts val="0"/>
              </a:spcAft>
              <a:buClr>
                <a:schemeClr val="dk1"/>
              </a:buClr>
              <a:buSzPts val="1400"/>
              <a:buNone/>
            </a:pPr>
            <a:r>
              <a:rPr lang="en-US" sz="1400" dirty="0"/>
              <a:t>The goal of this project is to:</a:t>
            </a:r>
            <a:endParaRPr dirty="0"/>
          </a:p>
          <a:p>
            <a:pPr marL="228600" lvl="0" indent="-228600" algn="l" rtl="0">
              <a:lnSpc>
                <a:spcPct val="90000"/>
              </a:lnSpc>
              <a:spcBef>
                <a:spcPts val="1000"/>
              </a:spcBef>
              <a:spcAft>
                <a:spcPts val="0"/>
              </a:spcAft>
              <a:buClr>
                <a:schemeClr val="dk1"/>
              </a:buClr>
              <a:buSzPts val="1400"/>
              <a:buChar char="•"/>
            </a:pPr>
            <a:r>
              <a:rPr lang="en-US" sz="1400" dirty="0"/>
              <a:t>Identify claims that are at risk for processing delays or rework </a:t>
            </a:r>
            <a:endParaRPr dirty="0"/>
          </a:p>
          <a:p>
            <a:pPr marL="228600" lvl="0" indent="-228600" algn="l" rtl="0">
              <a:lnSpc>
                <a:spcPct val="90000"/>
              </a:lnSpc>
              <a:spcBef>
                <a:spcPts val="1000"/>
              </a:spcBef>
              <a:spcAft>
                <a:spcPts val="0"/>
              </a:spcAft>
              <a:buClr>
                <a:schemeClr val="dk1"/>
              </a:buClr>
              <a:buSzPts val="1400"/>
              <a:buChar char="•"/>
            </a:pPr>
            <a:r>
              <a:rPr lang="en-US" sz="1400" dirty="0"/>
              <a:t>Evaluate claim accuracy using denial and quality indicators </a:t>
            </a:r>
            <a:endParaRPr dirty="0"/>
          </a:p>
          <a:p>
            <a:pPr marL="228600" lvl="0" indent="-228600" algn="l" rtl="0">
              <a:lnSpc>
                <a:spcPct val="90000"/>
              </a:lnSpc>
              <a:spcBef>
                <a:spcPts val="1000"/>
              </a:spcBef>
              <a:spcAft>
                <a:spcPts val="0"/>
              </a:spcAft>
              <a:buClr>
                <a:schemeClr val="dk1"/>
              </a:buClr>
              <a:buSzPts val="1400"/>
              <a:buChar char="•"/>
            </a:pPr>
            <a:r>
              <a:rPr lang="en-US" sz="1400" dirty="0"/>
              <a:t>Analyze key drivers of processing inefficiencies </a:t>
            </a:r>
            <a:endParaRPr dirty="0"/>
          </a:p>
          <a:p>
            <a:pPr marL="228600" lvl="0" indent="-228600" algn="l" rtl="0">
              <a:lnSpc>
                <a:spcPct val="90000"/>
              </a:lnSpc>
              <a:spcBef>
                <a:spcPts val="1000"/>
              </a:spcBef>
              <a:spcAft>
                <a:spcPts val="0"/>
              </a:spcAft>
              <a:buClr>
                <a:schemeClr val="dk1"/>
              </a:buClr>
              <a:buSzPts val="1400"/>
              <a:buChar char="•"/>
            </a:pPr>
            <a:r>
              <a:rPr lang="en-US" sz="1400" dirty="0"/>
              <a:t>Provide insights that can improve operational performance and compliance </a:t>
            </a:r>
            <a:endParaRPr dirty="0"/>
          </a:p>
          <a:p>
            <a:pPr marL="228600" lvl="0" indent="-139700" algn="l" rtl="0">
              <a:lnSpc>
                <a:spcPct val="90000"/>
              </a:lnSpc>
              <a:spcBef>
                <a:spcPts val="1000"/>
              </a:spcBef>
              <a:spcAft>
                <a:spcPts val="0"/>
              </a:spcAft>
              <a:buClr>
                <a:schemeClr val="dk1"/>
              </a:buClr>
              <a:buSzPts val="1400"/>
              <a:buNone/>
            </a:pPr>
            <a:endParaRPr sz="1400" b="1" dirty="0"/>
          </a:p>
          <a:p>
            <a:pPr marL="0" lvl="0" indent="0" algn="l" rtl="0">
              <a:lnSpc>
                <a:spcPct val="90000"/>
              </a:lnSpc>
              <a:spcBef>
                <a:spcPts val="1000"/>
              </a:spcBef>
              <a:spcAft>
                <a:spcPts val="0"/>
              </a:spcAft>
              <a:buClr>
                <a:schemeClr val="dk1"/>
              </a:buClr>
              <a:buSzPts val="1400"/>
              <a:buNone/>
            </a:pPr>
            <a:r>
              <a:rPr lang="en-US" sz="2000" dirty="0"/>
              <a:t>Business Problem</a:t>
            </a:r>
            <a:endParaRPr sz="2000" dirty="0"/>
          </a:p>
          <a:p>
            <a:pPr marL="0" lvl="0" indent="0" algn="l" rtl="0">
              <a:lnSpc>
                <a:spcPct val="90000"/>
              </a:lnSpc>
              <a:spcBef>
                <a:spcPts val="1000"/>
              </a:spcBef>
              <a:spcAft>
                <a:spcPts val="0"/>
              </a:spcAft>
              <a:buClr>
                <a:schemeClr val="dk1"/>
              </a:buClr>
              <a:buSzPts val="1400"/>
              <a:buNone/>
            </a:pPr>
            <a:r>
              <a:rPr lang="en-US" sz="1400" dirty="0"/>
              <a:t>In healthcare operations, claims that are incomplete, inaccurate or improperly authorized can:</a:t>
            </a:r>
            <a:endParaRPr dirty="0"/>
          </a:p>
          <a:p>
            <a:pPr marL="228600" lvl="0" indent="-228600" algn="l" rtl="0">
              <a:lnSpc>
                <a:spcPct val="90000"/>
              </a:lnSpc>
              <a:spcBef>
                <a:spcPts val="1000"/>
              </a:spcBef>
              <a:spcAft>
                <a:spcPts val="0"/>
              </a:spcAft>
              <a:buClr>
                <a:schemeClr val="dk1"/>
              </a:buClr>
              <a:buSzPts val="1400"/>
              <a:buChar char="•"/>
            </a:pPr>
            <a:r>
              <a:rPr lang="en-US" sz="1400" dirty="0"/>
              <a:t>Delay provider reimbursement </a:t>
            </a:r>
            <a:endParaRPr dirty="0"/>
          </a:p>
          <a:p>
            <a:pPr marL="228600" lvl="0" indent="-228600" algn="l" rtl="0">
              <a:lnSpc>
                <a:spcPct val="90000"/>
              </a:lnSpc>
              <a:spcBef>
                <a:spcPts val="1000"/>
              </a:spcBef>
              <a:spcAft>
                <a:spcPts val="0"/>
              </a:spcAft>
              <a:buClr>
                <a:schemeClr val="dk1"/>
              </a:buClr>
              <a:buSzPts val="1400"/>
              <a:buChar char="•"/>
            </a:pPr>
            <a:r>
              <a:rPr lang="en-US" sz="1400" dirty="0"/>
              <a:t>Increase administrative workload due to rework </a:t>
            </a:r>
            <a:endParaRPr dirty="0"/>
          </a:p>
          <a:p>
            <a:pPr marL="228600" lvl="0" indent="-228600" algn="l" rtl="0">
              <a:lnSpc>
                <a:spcPct val="90000"/>
              </a:lnSpc>
              <a:spcBef>
                <a:spcPts val="1000"/>
              </a:spcBef>
              <a:spcAft>
                <a:spcPts val="0"/>
              </a:spcAft>
              <a:buClr>
                <a:schemeClr val="dk1"/>
              </a:buClr>
              <a:buSzPts val="1400"/>
              <a:buChar char="•"/>
            </a:pPr>
            <a:r>
              <a:rPr lang="en-US" sz="1400" dirty="0"/>
              <a:t>Contribute to higher denial rates </a:t>
            </a:r>
            <a:endParaRPr dirty="0"/>
          </a:p>
          <a:p>
            <a:pPr marL="228600" lvl="0" indent="-228600" algn="l" rtl="0">
              <a:lnSpc>
                <a:spcPct val="90000"/>
              </a:lnSpc>
              <a:spcBef>
                <a:spcPts val="1000"/>
              </a:spcBef>
              <a:spcAft>
                <a:spcPts val="0"/>
              </a:spcAft>
              <a:buClr>
                <a:schemeClr val="dk1"/>
              </a:buClr>
              <a:buSzPts val="1400"/>
              <a:buChar char="•"/>
            </a:pPr>
            <a:r>
              <a:rPr lang="en-US" sz="1400" dirty="0"/>
              <a:t>Indicate weaknesses in upstream claim submission processes </a:t>
            </a:r>
            <a:endParaRPr dirty="0"/>
          </a:p>
          <a:p>
            <a:pPr marL="228600" lvl="0" indent="-139700" algn="l" rtl="0">
              <a:lnSpc>
                <a:spcPct val="90000"/>
              </a:lnSpc>
              <a:spcBef>
                <a:spcPts val="1000"/>
              </a:spcBef>
              <a:spcAft>
                <a:spcPts val="0"/>
              </a:spcAft>
              <a:buClr>
                <a:schemeClr val="dk1"/>
              </a:buClr>
              <a:buSzPts val="1400"/>
              <a:buNone/>
            </a:pPr>
            <a:endParaRPr sz="1400" dirty="0"/>
          </a:p>
        </p:txBody>
      </p:sp>
      <p:sp>
        <p:nvSpPr>
          <p:cNvPr id="143" name="Google Shape;143;p3"/>
          <p:cNvSpPr txBox="1"/>
          <p:nvPr/>
        </p:nvSpPr>
        <p:spPr>
          <a:xfrm>
            <a:off x="626439" y="5974822"/>
            <a:ext cx="10387584" cy="307777"/>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400" b="0" i="0" u="none" strike="noStrike" cap="none" dirty="0">
                <a:solidFill>
                  <a:schemeClr val="dk1"/>
                </a:solidFill>
                <a:latin typeface="Calibri"/>
                <a:ea typeface="Calibri"/>
                <a:cs typeface="Calibri"/>
                <a:sym typeface="Calibri"/>
              </a:rPr>
              <a:t>This analysis aims to identify risk patterns and operational inefficiencies that may impact claims processing performance.</a:t>
            </a:r>
            <a:endParaRPr dirty="0"/>
          </a:p>
        </p:txBody>
      </p:sp>
      <p:sp>
        <p:nvSpPr>
          <p:cNvPr id="144" name="Google Shape;144;p3"/>
          <p:cNvSpPr txBox="1"/>
          <p:nvPr/>
        </p:nvSpPr>
        <p:spPr>
          <a:xfrm>
            <a:off x="463296" y="883178"/>
            <a:ext cx="11265407" cy="581398"/>
          </a:xfrm>
          <a:prstGeom prst="rect">
            <a:avLst/>
          </a:prstGeom>
          <a:noFill/>
          <a:ln>
            <a:noFill/>
          </a:ln>
        </p:spPr>
        <p:txBody>
          <a:bodyPr spcFirstLastPara="1" wrap="square" lIns="91425" tIns="45700" rIns="91425" bIns="45700" anchor="ctr" anchorCtr="0">
            <a:normAutofit/>
          </a:bodyPr>
          <a:lstStyle/>
          <a:p>
            <a:pPr>
              <a:lnSpc>
                <a:spcPct val="90000"/>
              </a:lnSpc>
              <a:buClr>
                <a:schemeClr val="dk1"/>
              </a:buClr>
              <a:buSzPts val="2400"/>
            </a:pPr>
            <a:r>
              <a:rPr lang="en-US" sz="2400" dirty="0">
                <a:solidFill>
                  <a:schemeClr val="dk1"/>
                </a:solidFill>
                <a:latin typeface="Calibri"/>
                <a:cs typeface="Calibri"/>
                <a:sym typeface="Calibri"/>
              </a:rPr>
              <a:t>Project Overview </a:t>
            </a:r>
            <a:endParaRPr sz="2400" dirty="0">
              <a:solidFill>
                <a:schemeClr val="dk1"/>
              </a:solidFill>
              <a:latin typeface="Calibri"/>
              <a:cs typeface="Calibri"/>
              <a:sym typeface="Calibri"/>
            </a:endParaRPr>
          </a:p>
          <a:p>
            <a:pPr marL="0" marR="0" lvl="0" indent="0" algn="l" rtl="0">
              <a:lnSpc>
                <a:spcPct val="90000"/>
              </a:lnSpc>
              <a:spcBef>
                <a:spcPts val="0"/>
              </a:spcBef>
              <a:spcAft>
                <a:spcPts val="0"/>
              </a:spcAft>
              <a:buClr>
                <a:schemeClr val="dk1"/>
              </a:buClr>
              <a:buSzPts val="2400"/>
              <a:buFont typeface="Calibri"/>
              <a:buNone/>
            </a:pPr>
            <a:endParaRPr sz="2400" b="0" u="none" dirty="0">
              <a:solidFill>
                <a:schemeClr val="dk1"/>
              </a:solidFill>
              <a:latin typeface="Calibri"/>
              <a:ea typeface="Calibri"/>
              <a:cs typeface="Calibri"/>
              <a:sym typeface="Calibri"/>
            </a:endParaRPr>
          </a:p>
        </p:txBody>
      </p:sp>
      <p:pic>
        <p:nvPicPr>
          <p:cNvPr id="145" name="Google Shape;145;p3" descr="Data Analysis for Business and Finance Concept (Provided by Getty Images)"/>
          <p:cNvPicPr preferRelativeResize="0"/>
          <p:nvPr/>
        </p:nvPicPr>
        <p:blipFill>
          <a:blip r:embed="rId3">
            <a:alphaModFix/>
          </a:blip>
          <a:stretch>
            <a:fillRect/>
          </a:stretch>
        </p:blipFill>
        <p:spPr>
          <a:xfrm>
            <a:off x="6512052" y="1560835"/>
            <a:ext cx="4841748" cy="3061552"/>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50"/>
        <p:cNvGrpSpPr/>
        <p:nvPr/>
      </p:nvGrpSpPr>
      <p:grpSpPr>
        <a:xfrm>
          <a:off x="0" y="0"/>
          <a:ext cx="0" cy="0"/>
          <a:chOff x="0" y="0"/>
          <a:chExt cx="0" cy="0"/>
        </a:xfrm>
      </p:grpSpPr>
      <p:sp>
        <p:nvSpPr>
          <p:cNvPr id="151" name="Google Shape;151;p4"/>
          <p:cNvSpPr txBox="1">
            <a:spLocks noGrp="1"/>
          </p:cNvSpPr>
          <p:nvPr>
            <p:ph type="body" idx="1"/>
          </p:nvPr>
        </p:nvSpPr>
        <p:spPr>
          <a:xfrm>
            <a:off x="667512" y="1101058"/>
            <a:ext cx="9687450" cy="1308544"/>
          </a:xfrm>
          <a:prstGeom prst="rect">
            <a:avLst/>
          </a:prstGeom>
          <a:noFill/>
          <a:ln>
            <a:noFill/>
          </a:ln>
        </p:spPr>
        <p:txBody>
          <a:bodyPr spcFirstLastPara="1" wrap="square" lIns="91425" tIns="45700" rIns="91425" bIns="45700" anchor="t" anchorCtr="0">
            <a:noAutofit/>
          </a:bodyPr>
          <a:lstStyle/>
          <a:p>
            <a:pPr marL="0" lvl="0" indent="0" algn="l" rtl="0">
              <a:lnSpc>
                <a:spcPct val="90000"/>
              </a:lnSpc>
              <a:spcBef>
                <a:spcPts val="0"/>
              </a:spcBef>
              <a:spcAft>
                <a:spcPts val="0"/>
              </a:spcAft>
              <a:buClr>
                <a:schemeClr val="dk1"/>
              </a:buClr>
              <a:buSzPts val="1400"/>
              <a:buNone/>
            </a:pPr>
            <a:r>
              <a:rPr lang="en-US" sz="1400" dirty="0"/>
              <a:t>The initial goal of this project was to evaluate Medicaid claims timeliness performance and develop a claims processing scorecard, similar to those used by regulatory agencies such as CMS and State Medicaid programs.</a:t>
            </a:r>
            <a:endParaRPr dirty="0"/>
          </a:p>
          <a:p>
            <a:pPr marL="0" lvl="0" indent="0" algn="l" rtl="0">
              <a:lnSpc>
                <a:spcPct val="90000"/>
              </a:lnSpc>
              <a:spcBef>
                <a:spcPts val="1000"/>
              </a:spcBef>
              <a:spcAft>
                <a:spcPts val="0"/>
              </a:spcAft>
              <a:buClr>
                <a:schemeClr val="dk1"/>
              </a:buClr>
              <a:buSzPts val="1400"/>
              <a:buNone/>
            </a:pPr>
            <a:r>
              <a:rPr lang="en-US" sz="1400" dirty="0"/>
              <a:t>During data exploration, it was determined that the dataset did not contain the critical data fields necessary to calculate claims processing timeliness. </a:t>
            </a:r>
            <a:endParaRPr dirty="0"/>
          </a:p>
          <a:p>
            <a:pPr marL="0" lvl="0" indent="0" algn="l" rtl="0">
              <a:lnSpc>
                <a:spcPct val="90000"/>
              </a:lnSpc>
              <a:spcBef>
                <a:spcPts val="1000"/>
              </a:spcBef>
              <a:spcAft>
                <a:spcPts val="0"/>
              </a:spcAft>
              <a:buClr>
                <a:schemeClr val="dk1"/>
              </a:buClr>
              <a:buSzPts val="1400"/>
              <a:buNone/>
            </a:pPr>
            <a:r>
              <a:rPr lang="en-US" sz="1400" dirty="0"/>
              <a:t>Examples of missing elements included:</a:t>
            </a:r>
            <a:endParaRPr dirty="0"/>
          </a:p>
          <a:p>
            <a:pPr marL="685800" lvl="1" indent="-228600" algn="l" rtl="0">
              <a:lnSpc>
                <a:spcPct val="90000"/>
              </a:lnSpc>
              <a:spcBef>
                <a:spcPts val="500"/>
              </a:spcBef>
              <a:spcAft>
                <a:spcPts val="0"/>
              </a:spcAft>
              <a:buClr>
                <a:schemeClr val="dk1"/>
              </a:buClr>
              <a:buSzPts val="1400"/>
              <a:buFont typeface="Noto Sans Symbols"/>
              <a:buChar char="▪"/>
            </a:pPr>
            <a:r>
              <a:rPr lang="en-US" sz="1400" dirty="0"/>
              <a:t>Claims receipt date</a:t>
            </a:r>
            <a:endParaRPr dirty="0"/>
          </a:p>
          <a:p>
            <a:pPr marL="685800" lvl="1" indent="-228600" algn="l" rtl="0">
              <a:lnSpc>
                <a:spcPct val="90000"/>
              </a:lnSpc>
              <a:spcBef>
                <a:spcPts val="500"/>
              </a:spcBef>
              <a:spcAft>
                <a:spcPts val="0"/>
              </a:spcAft>
              <a:buClr>
                <a:schemeClr val="dk1"/>
              </a:buClr>
              <a:buSzPts val="1400"/>
              <a:buFont typeface="Noto Sans Symbols"/>
              <a:buChar char="▪"/>
            </a:pPr>
            <a:r>
              <a:rPr lang="en-US" sz="1400" dirty="0"/>
              <a:t>Payment date</a:t>
            </a:r>
            <a:endParaRPr dirty="0"/>
          </a:p>
          <a:p>
            <a:pPr marL="685800" lvl="1" indent="-228600" algn="l" rtl="0">
              <a:lnSpc>
                <a:spcPct val="90000"/>
              </a:lnSpc>
              <a:spcBef>
                <a:spcPts val="500"/>
              </a:spcBef>
              <a:spcAft>
                <a:spcPts val="0"/>
              </a:spcAft>
              <a:buClr>
                <a:schemeClr val="dk1"/>
              </a:buClr>
              <a:buSzPts val="1400"/>
              <a:buFont typeface="Noto Sans Symbols"/>
              <a:buChar char="▪"/>
            </a:pPr>
            <a:r>
              <a:rPr lang="en-US" sz="1400" dirty="0"/>
              <a:t>Completion Date </a:t>
            </a:r>
            <a:endParaRPr dirty="0"/>
          </a:p>
          <a:p>
            <a:pPr marL="685800" lvl="1" indent="-228600" algn="l" rtl="0">
              <a:lnSpc>
                <a:spcPct val="90000"/>
              </a:lnSpc>
              <a:spcBef>
                <a:spcPts val="500"/>
              </a:spcBef>
              <a:spcAft>
                <a:spcPts val="0"/>
              </a:spcAft>
              <a:buClr>
                <a:schemeClr val="dk1"/>
              </a:buClr>
              <a:buSzPts val="1400"/>
              <a:buFont typeface="Noto Sans Symbols"/>
              <a:buChar char="▪"/>
            </a:pPr>
            <a:r>
              <a:rPr lang="en-US" sz="1400" dirty="0"/>
              <a:t>Regulatory turnaround time indicators </a:t>
            </a:r>
            <a:endParaRPr dirty="0"/>
          </a:p>
        </p:txBody>
      </p:sp>
      <p:sp>
        <p:nvSpPr>
          <p:cNvPr id="152" name="Google Shape;152;p4"/>
          <p:cNvSpPr txBox="1"/>
          <p:nvPr/>
        </p:nvSpPr>
        <p:spPr>
          <a:xfrm>
            <a:off x="562428" y="588112"/>
            <a:ext cx="4370832" cy="512946"/>
          </a:xfrm>
          <a:prstGeom prst="rect">
            <a:avLst/>
          </a:prstGeom>
          <a:noFill/>
          <a:ln>
            <a:noFill/>
          </a:ln>
        </p:spPr>
        <p:txBody>
          <a:bodyPr spcFirstLastPara="1" wrap="square" lIns="91425" tIns="45700" rIns="91425" bIns="45700" anchor="ctr" anchorCtr="0">
            <a:normAutofit/>
          </a:bodyPr>
          <a:lstStyle/>
          <a:p>
            <a:pPr>
              <a:lnSpc>
                <a:spcPct val="90000"/>
              </a:lnSpc>
              <a:buClr>
                <a:schemeClr val="dk1"/>
              </a:buClr>
              <a:buSzPts val="2400"/>
            </a:pPr>
            <a:r>
              <a:rPr lang="en-US" sz="2400" dirty="0">
                <a:solidFill>
                  <a:schemeClr val="dk1"/>
                </a:solidFill>
                <a:latin typeface="Calibri"/>
                <a:cs typeface="Calibri"/>
                <a:sym typeface="Calibri"/>
              </a:rPr>
              <a:t>Data Scope and Analytical Pivot </a:t>
            </a:r>
            <a:endParaRPr sz="2400" dirty="0">
              <a:solidFill>
                <a:schemeClr val="dk1"/>
              </a:solidFill>
              <a:latin typeface="Calibri"/>
              <a:cs typeface="Calibri"/>
              <a:sym typeface="Calibri"/>
            </a:endParaRPr>
          </a:p>
        </p:txBody>
      </p:sp>
      <p:sp>
        <p:nvSpPr>
          <p:cNvPr id="153" name="Google Shape;153;p4"/>
          <p:cNvSpPr txBox="1"/>
          <p:nvPr/>
        </p:nvSpPr>
        <p:spPr>
          <a:xfrm>
            <a:off x="562428" y="3429000"/>
            <a:ext cx="7920900" cy="904200"/>
          </a:xfrm>
          <a:prstGeom prst="rect">
            <a:avLst/>
          </a:prstGeom>
          <a:noFill/>
          <a:ln>
            <a:noFill/>
          </a:ln>
        </p:spPr>
        <p:txBody>
          <a:bodyPr spcFirstLastPara="1" wrap="square" lIns="91425" tIns="45700" rIns="91425" bIns="45700" anchor="ctr" anchorCtr="0">
            <a:normAutofit/>
          </a:bodyPr>
          <a:lstStyle/>
          <a:p>
            <a:pPr marL="0" marR="0" lvl="0" indent="0" algn="l" rtl="0">
              <a:lnSpc>
                <a:spcPct val="90000"/>
              </a:lnSpc>
              <a:spcBef>
                <a:spcPts val="0"/>
              </a:spcBef>
              <a:spcAft>
                <a:spcPts val="0"/>
              </a:spcAft>
              <a:buClr>
                <a:schemeClr val="dk1"/>
              </a:buClr>
              <a:buSzPts val="2400"/>
              <a:buFont typeface="Calibri"/>
              <a:buNone/>
            </a:pPr>
            <a:r>
              <a:rPr lang="en-US" sz="2400" dirty="0">
                <a:solidFill>
                  <a:schemeClr val="dk1"/>
                </a:solidFill>
                <a:latin typeface="Calibri"/>
                <a:cs typeface="Calibri"/>
                <a:sym typeface="Calibri"/>
              </a:rPr>
              <a:t>Analytical Pivot: Claims Processing Risk Model</a:t>
            </a:r>
            <a:endParaRPr sz="2400" dirty="0">
              <a:solidFill>
                <a:schemeClr val="dk1"/>
              </a:solidFill>
              <a:latin typeface="Calibri"/>
              <a:cs typeface="Calibri"/>
              <a:sym typeface="Calibri"/>
            </a:endParaRPr>
          </a:p>
        </p:txBody>
      </p:sp>
      <p:sp>
        <p:nvSpPr>
          <p:cNvPr id="154" name="Google Shape;154;p4"/>
          <p:cNvSpPr txBox="1"/>
          <p:nvPr/>
        </p:nvSpPr>
        <p:spPr>
          <a:xfrm>
            <a:off x="667512" y="4046935"/>
            <a:ext cx="10070510" cy="2677616"/>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400" dirty="0">
                <a:solidFill>
                  <a:schemeClr val="dk1"/>
                </a:solidFill>
                <a:latin typeface="Calibri"/>
                <a:ea typeface="Calibri"/>
                <a:cs typeface="Calibri"/>
                <a:sym typeface="Calibri"/>
              </a:rPr>
              <a:t>A true claims timeliness metric cannot be directly calculated because the dataset does not include a claim paid, adjudication, or completion date. </a:t>
            </a:r>
            <a:endParaRPr dirty="0"/>
          </a:p>
          <a:p>
            <a:pPr marL="0" marR="0" lvl="0" indent="0" algn="l" rtl="0">
              <a:spcBef>
                <a:spcPts val="0"/>
              </a:spcBef>
              <a:spcAft>
                <a:spcPts val="0"/>
              </a:spcAft>
              <a:buNone/>
            </a:pPr>
            <a:endParaRPr sz="1400" dirty="0">
              <a:solidFill>
                <a:schemeClr val="dk1"/>
              </a:solidFill>
              <a:latin typeface="Calibri"/>
              <a:ea typeface="Calibri"/>
              <a:cs typeface="Calibri"/>
              <a:sym typeface="Calibri"/>
            </a:endParaRPr>
          </a:p>
          <a:p>
            <a:pPr marL="0" marR="0" lvl="0" indent="0" algn="l" rtl="0">
              <a:spcBef>
                <a:spcPts val="0"/>
              </a:spcBef>
              <a:spcAft>
                <a:spcPts val="0"/>
              </a:spcAft>
              <a:buNone/>
            </a:pPr>
            <a:r>
              <a:rPr lang="en-US" sz="1400" dirty="0">
                <a:solidFill>
                  <a:schemeClr val="dk1"/>
                </a:solidFill>
                <a:latin typeface="Calibri"/>
                <a:ea typeface="Calibri"/>
                <a:cs typeface="Calibri"/>
                <a:sym typeface="Calibri"/>
              </a:rPr>
              <a:t>Instead of forcing an inaccurate timeliness calculation, this analysis evaluates claims processing risk using available operational indicators. The risk model identifies claims that may require additional review, rework, or follow up based on:</a:t>
            </a:r>
            <a:endParaRPr dirty="0"/>
          </a:p>
          <a:p>
            <a:pPr marL="742950" marR="0" lvl="1" indent="-285750" algn="l" rtl="0">
              <a:spcBef>
                <a:spcPts val="0"/>
              </a:spcBef>
              <a:spcAft>
                <a:spcPts val="0"/>
              </a:spcAft>
              <a:buClr>
                <a:schemeClr val="dk1"/>
              </a:buClr>
              <a:buSzPts val="1400"/>
              <a:buFont typeface="Noto Sans Symbols"/>
              <a:buChar char="▪"/>
            </a:pPr>
            <a:r>
              <a:rPr lang="en-US" sz="1400" b="0" i="0" u="none" strike="noStrike" cap="none" dirty="0">
                <a:solidFill>
                  <a:schemeClr val="dk1"/>
                </a:solidFill>
                <a:latin typeface="Calibri"/>
                <a:ea typeface="Calibri"/>
                <a:cs typeface="Calibri"/>
                <a:sym typeface="Calibri"/>
              </a:rPr>
              <a:t>Prior authorization requirements and gaps </a:t>
            </a:r>
            <a:endParaRPr dirty="0"/>
          </a:p>
          <a:p>
            <a:pPr marL="742950" marR="0" lvl="1" indent="-285750" algn="l" rtl="0">
              <a:spcBef>
                <a:spcPts val="0"/>
              </a:spcBef>
              <a:spcAft>
                <a:spcPts val="0"/>
              </a:spcAft>
              <a:buClr>
                <a:schemeClr val="dk1"/>
              </a:buClr>
              <a:buSzPts val="1400"/>
              <a:buFont typeface="Noto Sans Symbols"/>
              <a:buChar char="▪"/>
            </a:pPr>
            <a:r>
              <a:rPr lang="en-US" sz="1400" b="0" i="0" u="none" strike="noStrike" cap="none" dirty="0">
                <a:solidFill>
                  <a:schemeClr val="dk1"/>
                </a:solidFill>
                <a:latin typeface="Calibri"/>
                <a:ea typeface="Calibri"/>
                <a:cs typeface="Calibri"/>
                <a:sym typeface="Calibri"/>
              </a:rPr>
              <a:t>Documentation completeness </a:t>
            </a:r>
            <a:endParaRPr dirty="0"/>
          </a:p>
          <a:p>
            <a:pPr marL="742950" marR="0" lvl="1" indent="-285750" algn="l" rtl="0">
              <a:spcBef>
                <a:spcPts val="0"/>
              </a:spcBef>
              <a:spcAft>
                <a:spcPts val="0"/>
              </a:spcAft>
              <a:buClr>
                <a:schemeClr val="dk1"/>
              </a:buClr>
              <a:buSzPts val="1400"/>
              <a:buFont typeface="Noto Sans Symbols"/>
              <a:buChar char="▪"/>
            </a:pPr>
            <a:r>
              <a:rPr lang="en-US" sz="1400" b="0" i="0" u="none" strike="noStrike" cap="none" dirty="0">
                <a:solidFill>
                  <a:schemeClr val="dk1"/>
                </a:solidFill>
                <a:latin typeface="Calibri"/>
                <a:ea typeface="Calibri"/>
                <a:cs typeface="Calibri"/>
                <a:sym typeface="Calibri"/>
              </a:rPr>
              <a:t>Claim outcome </a:t>
            </a:r>
            <a:endParaRPr dirty="0"/>
          </a:p>
          <a:p>
            <a:pPr marL="742950" marR="0" lvl="1" indent="-285750" algn="l" rtl="0">
              <a:spcBef>
                <a:spcPts val="0"/>
              </a:spcBef>
              <a:spcAft>
                <a:spcPts val="0"/>
              </a:spcAft>
              <a:buClr>
                <a:schemeClr val="dk1"/>
              </a:buClr>
              <a:buSzPts val="1400"/>
              <a:buFont typeface="Noto Sans Symbols"/>
              <a:buChar char="▪"/>
            </a:pPr>
            <a:r>
              <a:rPr lang="en-US" sz="1400" b="0" i="0" u="none" strike="noStrike" cap="none" dirty="0">
                <a:solidFill>
                  <a:schemeClr val="dk1"/>
                </a:solidFill>
                <a:latin typeface="Calibri"/>
                <a:ea typeface="Calibri"/>
                <a:cs typeface="Calibri"/>
                <a:sym typeface="Calibri"/>
              </a:rPr>
              <a:t>Denial category </a:t>
            </a:r>
            <a:endParaRPr dirty="0"/>
          </a:p>
          <a:p>
            <a:pPr marL="742950" marR="0" lvl="1" indent="-196850" algn="l" rtl="0">
              <a:spcBef>
                <a:spcPts val="0"/>
              </a:spcBef>
              <a:spcAft>
                <a:spcPts val="0"/>
              </a:spcAft>
              <a:buClr>
                <a:schemeClr val="dk1"/>
              </a:buClr>
              <a:buSzPts val="1400"/>
              <a:buFont typeface="Noto Sans Symbols"/>
              <a:buNone/>
            </a:pPr>
            <a:endParaRPr sz="1400" b="0" i="0" u="none" strike="noStrike" cap="none" dirty="0">
              <a:solidFill>
                <a:schemeClr val="dk1"/>
              </a:solidFill>
              <a:latin typeface="Calibri"/>
              <a:ea typeface="Calibri"/>
              <a:cs typeface="Calibri"/>
              <a:sym typeface="Calibri"/>
            </a:endParaRPr>
          </a:p>
          <a:p>
            <a:pPr marL="0" marR="0" lvl="0" indent="0" algn="l" rtl="0">
              <a:spcBef>
                <a:spcPts val="0"/>
              </a:spcBef>
              <a:spcAft>
                <a:spcPts val="0"/>
              </a:spcAft>
              <a:buNone/>
            </a:pPr>
            <a:r>
              <a:rPr lang="en-US" sz="1400" dirty="0">
                <a:solidFill>
                  <a:schemeClr val="dk1"/>
                </a:solidFill>
                <a:latin typeface="Calibri"/>
                <a:ea typeface="Calibri"/>
                <a:cs typeface="Calibri"/>
                <a:sym typeface="Calibri"/>
              </a:rPr>
              <a:t>This approach reflects real-world claims operations because claims with missing authorization, incomplete documentation, or denial outcomes are more likely to experience processing delays or rework.</a:t>
            </a:r>
            <a:endParaRPr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31"/>
        <p:cNvGrpSpPr/>
        <p:nvPr/>
      </p:nvGrpSpPr>
      <p:grpSpPr>
        <a:xfrm>
          <a:off x="0" y="0"/>
          <a:ext cx="0" cy="0"/>
          <a:chOff x="0" y="0"/>
          <a:chExt cx="0" cy="0"/>
        </a:xfrm>
      </p:grpSpPr>
      <p:sp>
        <p:nvSpPr>
          <p:cNvPr id="132" name="Google Shape;132;p2"/>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Calibri"/>
              <a:buNone/>
            </a:pPr>
            <a:br>
              <a:rPr lang="en-US"/>
            </a:br>
            <a:endParaRPr/>
          </a:p>
        </p:txBody>
      </p:sp>
      <p:sp>
        <p:nvSpPr>
          <p:cNvPr id="133" name="Google Shape;133;p2"/>
          <p:cNvSpPr txBox="1">
            <a:spLocks noGrp="1"/>
          </p:cNvSpPr>
          <p:nvPr>
            <p:ph type="body" idx="1"/>
          </p:nvPr>
        </p:nvSpPr>
        <p:spPr>
          <a:xfrm>
            <a:off x="539497" y="1967484"/>
            <a:ext cx="5181600" cy="4351338"/>
          </a:xfrm>
          <a:prstGeom prst="rect">
            <a:avLst/>
          </a:prstGeom>
          <a:noFill/>
          <a:ln>
            <a:noFill/>
          </a:ln>
        </p:spPr>
        <p:txBody>
          <a:bodyPr spcFirstLastPara="1" wrap="square" lIns="91425" tIns="45700" rIns="91425" bIns="45700" anchor="t" anchorCtr="0">
            <a:normAutofit/>
          </a:bodyPr>
          <a:lstStyle/>
          <a:p>
            <a:pPr marL="228600" lvl="0" indent="-228600" algn="l" rtl="0">
              <a:lnSpc>
                <a:spcPct val="90000"/>
              </a:lnSpc>
              <a:spcBef>
                <a:spcPts val="0"/>
              </a:spcBef>
              <a:spcAft>
                <a:spcPts val="0"/>
              </a:spcAft>
              <a:buClr>
                <a:schemeClr val="dk1"/>
              </a:buClr>
              <a:buSzPts val="1400"/>
              <a:buChar char="•"/>
            </a:pPr>
            <a:r>
              <a:rPr lang="en-US" sz="1400" dirty="0"/>
              <a:t>Healthcare organizations must process claims efficiently and accurately to ensure timely reimbursement, reduce administrative burden, and maintain compliance with federal and state regulations. Inefficiencies in claims processing—such as missing documentation, authorization gaps, or claim denials—can lead to delays, increased costs, and operational risk.</a:t>
            </a:r>
            <a:endParaRPr lang="en-US" dirty="0"/>
          </a:p>
          <a:p>
            <a:pPr marL="228600" lvl="0" indent="-228600" algn="l" rtl="0">
              <a:lnSpc>
                <a:spcPct val="90000"/>
              </a:lnSpc>
              <a:spcBef>
                <a:spcPts val="0"/>
              </a:spcBef>
              <a:spcAft>
                <a:spcPts val="0"/>
              </a:spcAft>
              <a:buClr>
                <a:schemeClr val="dk1"/>
              </a:buClr>
              <a:buSzPts val="1400"/>
              <a:buChar char="•"/>
            </a:pPr>
            <a:endParaRPr sz="1400" dirty="0"/>
          </a:p>
          <a:p>
            <a:pPr marL="228600" lvl="0" indent="-228600" algn="l" rtl="0">
              <a:lnSpc>
                <a:spcPct val="90000"/>
              </a:lnSpc>
              <a:spcBef>
                <a:spcPts val="1000"/>
              </a:spcBef>
              <a:spcAft>
                <a:spcPts val="0"/>
              </a:spcAft>
              <a:buClr>
                <a:schemeClr val="dk1"/>
              </a:buClr>
              <a:buSzPts val="1400"/>
              <a:buChar char="•"/>
            </a:pPr>
            <a:r>
              <a:rPr lang="en-US" sz="1400" dirty="0"/>
              <a:t>Rather than directly measuring timeliness, this analysis identifies claims that are at risk using key operational indicators.</a:t>
            </a:r>
            <a:endParaRPr dirty="0"/>
          </a:p>
          <a:p>
            <a:pPr marL="228600" lvl="0" indent="-139700" algn="l" rtl="0">
              <a:lnSpc>
                <a:spcPct val="90000"/>
              </a:lnSpc>
              <a:spcBef>
                <a:spcPts val="1000"/>
              </a:spcBef>
              <a:spcAft>
                <a:spcPts val="0"/>
              </a:spcAft>
              <a:buClr>
                <a:schemeClr val="dk1"/>
              </a:buClr>
              <a:buSzPts val="1400"/>
              <a:buNone/>
            </a:pPr>
            <a:endParaRPr sz="1400" dirty="0"/>
          </a:p>
          <a:p>
            <a:pPr marL="228600" lvl="0" indent="-228600" algn="l" rtl="0">
              <a:lnSpc>
                <a:spcPct val="90000"/>
              </a:lnSpc>
              <a:spcBef>
                <a:spcPts val="1000"/>
              </a:spcBef>
              <a:spcAft>
                <a:spcPts val="0"/>
              </a:spcAft>
              <a:buClr>
                <a:schemeClr val="dk1"/>
              </a:buClr>
              <a:buSzPts val="1400"/>
              <a:buChar char="•"/>
            </a:pPr>
            <a:r>
              <a:rPr lang="en-US" sz="1400" dirty="0"/>
              <a:t>The analysis is performed using a synthetic medical claims dataset from Kaggle, which has been designed to simulate claim outcomes, payer behavior, prior authorization, documentation completeness, and denial codes while avoiding PHI exposure.</a:t>
            </a:r>
            <a:endParaRPr dirty="0"/>
          </a:p>
        </p:txBody>
      </p:sp>
      <p:pic>
        <p:nvPicPr>
          <p:cNvPr id="134" name="Google Shape;134;p2" descr="People attending a meeting"/>
          <p:cNvPicPr preferRelativeResize="0">
            <a:picLocks noGrp="1"/>
          </p:cNvPicPr>
          <p:nvPr>
            <p:ph type="body" idx="2"/>
          </p:nvPr>
        </p:nvPicPr>
        <p:blipFill rotWithShape="1">
          <a:blip r:embed="rId3">
            <a:alphaModFix/>
          </a:blip>
          <a:srcRect/>
          <a:stretch/>
        </p:blipFill>
        <p:spPr>
          <a:xfrm>
            <a:off x="6172200" y="1967484"/>
            <a:ext cx="5181600" cy="3458718"/>
          </a:xfrm>
          <a:prstGeom prst="rect">
            <a:avLst/>
          </a:prstGeom>
          <a:noFill/>
          <a:ln>
            <a:noFill/>
          </a:ln>
        </p:spPr>
      </p:pic>
      <p:sp>
        <p:nvSpPr>
          <p:cNvPr id="135" name="Google Shape;135;p2"/>
          <p:cNvSpPr txBox="1"/>
          <p:nvPr/>
        </p:nvSpPr>
        <p:spPr>
          <a:xfrm>
            <a:off x="539496" y="539178"/>
            <a:ext cx="11265407" cy="1499616"/>
          </a:xfrm>
          <a:prstGeom prst="rect">
            <a:avLst/>
          </a:prstGeom>
          <a:noFill/>
          <a:ln>
            <a:noFill/>
          </a:ln>
        </p:spPr>
        <p:txBody>
          <a:bodyPr spcFirstLastPara="1" wrap="square" lIns="91425" tIns="45700" rIns="91425" bIns="45700" anchor="ctr" anchorCtr="0">
            <a:normAutofit/>
          </a:bodyPr>
          <a:lstStyle/>
          <a:p>
            <a:pPr marL="0" marR="0" lvl="0" indent="0" algn="l" rtl="0">
              <a:lnSpc>
                <a:spcPct val="90000"/>
              </a:lnSpc>
              <a:spcBef>
                <a:spcPts val="0"/>
              </a:spcBef>
              <a:spcAft>
                <a:spcPts val="0"/>
              </a:spcAft>
              <a:buClr>
                <a:schemeClr val="dk1"/>
              </a:buClr>
              <a:buSzPts val="2400"/>
              <a:buFont typeface="Calibri"/>
              <a:buNone/>
            </a:pPr>
            <a:r>
              <a:rPr lang="en-US" sz="2400" b="0" i="0" u="none" strike="noStrike" cap="none" dirty="0">
                <a:solidFill>
                  <a:schemeClr val="dk1"/>
                </a:solidFill>
                <a:latin typeface="Calibri"/>
                <a:ea typeface="Calibri"/>
                <a:cs typeface="Calibri"/>
                <a:sym typeface="Calibri"/>
              </a:rPr>
              <a:t>Claims Processing Risk &amp; Accuracy Analysis</a:t>
            </a:r>
            <a:endParaRPr dirty="0"/>
          </a:p>
          <a:p>
            <a:pPr marL="0" marR="0" lvl="0" indent="0" algn="l" rtl="0">
              <a:lnSpc>
                <a:spcPct val="90000"/>
              </a:lnSpc>
              <a:spcBef>
                <a:spcPts val="0"/>
              </a:spcBef>
              <a:spcAft>
                <a:spcPts val="0"/>
              </a:spcAft>
              <a:buClr>
                <a:schemeClr val="dk1"/>
              </a:buClr>
              <a:buSzPts val="1600"/>
              <a:buFont typeface="Calibri"/>
              <a:buNone/>
            </a:pPr>
            <a:r>
              <a:rPr lang="en-US" sz="1600" b="0" i="0" u="none" strike="noStrike" cap="none" dirty="0">
                <a:solidFill>
                  <a:schemeClr val="dk1"/>
                </a:solidFill>
                <a:latin typeface="Calibri"/>
                <a:ea typeface="Calibri"/>
                <a:cs typeface="Calibri"/>
                <a:sym typeface="Calibri"/>
              </a:rPr>
              <a:t>  Using Synthetic Medical Claims Data</a:t>
            </a:r>
            <a:endParaRPr dirty="0"/>
          </a:p>
          <a:p>
            <a:pPr marL="0" marR="0" lvl="0" indent="0" algn="l" rtl="0">
              <a:lnSpc>
                <a:spcPct val="90000"/>
              </a:lnSpc>
              <a:spcBef>
                <a:spcPts val="0"/>
              </a:spcBef>
              <a:spcAft>
                <a:spcPts val="0"/>
              </a:spcAft>
              <a:buClr>
                <a:schemeClr val="dk1"/>
              </a:buClr>
              <a:buSzPts val="2400"/>
              <a:buFont typeface="Calibri"/>
              <a:buNone/>
            </a:pPr>
            <a:endParaRPr sz="2400" b="0" i="0" u="none" strike="noStrike" cap="none" dirty="0">
              <a:solidFill>
                <a:schemeClr val="dk1"/>
              </a:solidFill>
              <a:latin typeface="Calibri"/>
              <a:ea typeface="Calibri"/>
              <a:cs typeface="Calibri"/>
              <a:sym typeface="Calibri"/>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58"/>
        <p:cNvGrpSpPr/>
        <p:nvPr/>
      </p:nvGrpSpPr>
      <p:grpSpPr>
        <a:xfrm>
          <a:off x="0" y="0"/>
          <a:ext cx="0" cy="0"/>
          <a:chOff x="0" y="0"/>
          <a:chExt cx="0" cy="0"/>
        </a:xfrm>
      </p:grpSpPr>
      <p:sp>
        <p:nvSpPr>
          <p:cNvPr id="159" name="Google Shape;159;p5"/>
          <p:cNvSpPr/>
          <p:nvPr/>
        </p:nvSpPr>
        <p:spPr>
          <a:xfrm>
            <a:off x="1782718" y="833360"/>
            <a:ext cx="3971834" cy="541383"/>
          </a:xfrm>
          <a:prstGeom prst="roundRect">
            <a:avLst>
              <a:gd name="adj" fmla="val 16667"/>
            </a:avLst>
          </a:prstGeom>
          <a:gradFill>
            <a:gsLst>
              <a:gs pos="0">
                <a:srgbClr val="B0CAE9"/>
              </a:gs>
              <a:gs pos="50000">
                <a:srgbClr val="A1C1E4"/>
              </a:gs>
              <a:gs pos="100000">
                <a:srgbClr val="90B8E4"/>
              </a:gs>
            </a:gsLst>
            <a:lin ang="5400000" scaled="0"/>
          </a:gradFill>
          <a:ln w="9525" cap="flat" cmpd="sng">
            <a:solidFill>
              <a:schemeClr val="accent5"/>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800" dirty="0">
                <a:solidFill>
                  <a:schemeClr val="dk1"/>
                </a:solidFill>
                <a:latin typeface="Calibri"/>
                <a:ea typeface="Calibri"/>
                <a:cs typeface="Calibri"/>
                <a:sym typeface="Calibri"/>
              </a:rPr>
              <a:t>Methodology </a:t>
            </a:r>
            <a:endParaRPr dirty="0"/>
          </a:p>
        </p:txBody>
      </p:sp>
      <p:sp>
        <p:nvSpPr>
          <p:cNvPr id="160" name="Google Shape;160;p5"/>
          <p:cNvSpPr/>
          <p:nvPr/>
        </p:nvSpPr>
        <p:spPr>
          <a:xfrm>
            <a:off x="6437449" y="833360"/>
            <a:ext cx="4138748" cy="541383"/>
          </a:xfrm>
          <a:prstGeom prst="roundRect">
            <a:avLst>
              <a:gd name="adj" fmla="val 16667"/>
            </a:avLst>
          </a:prstGeom>
          <a:gradFill>
            <a:gsLst>
              <a:gs pos="0">
                <a:srgbClr val="FFDC9B"/>
              </a:gs>
              <a:gs pos="50000">
                <a:srgbClr val="FFD68D"/>
              </a:gs>
              <a:gs pos="100000">
                <a:srgbClr val="FFD478"/>
              </a:gs>
            </a:gsLst>
            <a:lin ang="5400000" scaled="0"/>
          </a:gradFill>
          <a:ln w="9525" cap="flat" cmpd="sng">
            <a:solidFill>
              <a:schemeClr val="accent4"/>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800">
                <a:solidFill>
                  <a:schemeClr val="dk1"/>
                </a:solidFill>
                <a:latin typeface="Calibri"/>
                <a:ea typeface="Calibri"/>
                <a:cs typeface="Calibri"/>
                <a:sym typeface="Calibri"/>
              </a:rPr>
              <a:t>Expected Outcome</a:t>
            </a:r>
            <a:endParaRPr/>
          </a:p>
        </p:txBody>
      </p:sp>
      <p:sp>
        <p:nvSpPr>
          <p:cNvPr id="161" name="Google Shape;161;p5"/>
          <p:cNvSpPr/>
          <p:nvPr/>
        </p:nvSpPr>
        <p:spPr>
          <a:xfrm>
            <a:off x="1685835" y="1569719"/>
            <a:ext cx="4165600" cy="3696547"/>
          </a:xfrm>
          <a:prstGeom prst="roundRect">
            <a:avLst>
              <a:gd name="adj" fmla="val 16667"/>
            </a:avLst>
          </a:prstGeom>
          <a:solidFill>
            <a:srgbClr val="D8E2F3"/>
          </a:solidFill>
          <a:ln w="9525" cap="flat" cmpd="sng">
            <a:solidFill>
              <a:schemeClr val="accent5"/>
            </a:solidFill>
            <a:prstDash val="solid"/>
            <a:miter lim="8000"/>
            <a:headEnd type="none" w="sm" len="sm"/>
            <a:tailEnd type="none" w="sm" len="sm"/>
          </a:ln>
        </p:spPr>
        <p:txBody>
          <a:bodyPr spcFirstLastPara="1" wrap="square" lIns="91425" tIns="45700" rIns="91425" bIns="45700" anchor="ctr" anchorCtr="0">
            <a:noAutofit/>
          </a:bodyPr>
          <a:lstStyle/>
          <a:p>
            <a:pPr marL="285750" marR="0" lvl="0" indent="-285750" algn="l" rtl="0">
              <a:spcBef>
                <a:spcPts val="0"/>
              </a:spcBef>
              <a:spcAft>
                <a:spcPts val="0"/>
              </a:spcAft>
              <a:buClr>
                <a:schemeClr val="dk1"/>
              </a:buClr>
              <a:buSzPts val="1400"/>
              <a:buFont typeface="Wingdings" pitchFamily="2" charset="2"/>
              <a:buChar char="§"/>
            </a:pPr>
            <a:r>
              <a:rPr lang="en-US" sz="1400" dirty="0">
                <a:solidFill>
                  <a:schemeClr val="dk1"/>
                </a:solidFill>
                <a:latin typeface="Calibri"/>
                <a:ea typeface="Calibri"/>
                <a:cs typeface="Calibri"/>
                <a:sym typeface="Calibri"/>
              </a:rPr>
              <a:t>Data loading and cleaning to ensure consistency and accuracy </a:t>
            </a:r>
            <a:endParaRPr dirty="0"/>
          </a:p>
          <a:p>
            <a:pPr marL="285750" marR="0" lvl="0" indent="-285750" algn="l" rtl="0">
              <a:spcBef>
                <a:spcPts val="0"/>
              </a:spcBef>
              <a:spcAft>
                <a:spcPts val="0"/>
              </a:spcAft>
              <a:buClr>
                <a:schemeClr val="dk1"/>
              </a:buClr>
              <a:buSzPts val="1400"/>
              <a:buFont typeface="Wingdings" pitchFamily="2" charset="2"/>
              <a:buChar char="§"/>
            </a:pPr>
            <a:r>
              <a:rPr lang="en-US" sz="1400" dirty="0">
                <a:solidFill>
                  <a:schemeClr val="dk1"/>
                </a:solidFill>
                <a:latin typeface="Calibri"/>
                <a:ea typeface="Calibri"/>
                <a:cs typeface="Calibri"/>
                <a:sym typeface="Calibri"/>
              </a:rPr>
              <a:t>Feature engineering to create operational indicators </a:t>
            </a:r>
            <a:endParaRPr dirty="0"/>
          </a:p>
          <a:p>
            <a:pPr marL="285750" marR="0" lvl="0" indent="-285750" algn="l" rtl="0">
              <a:spcBef>
                <a:spcPts val="0"/>
              </a:spcBef>
              <a:spcAft>
                <a:spcPts val="0"/>
              </a:spcAft>
              <a:buClr>
                <a:schemeClr val="dk1"/>
              </a:buClr>
              <a:buSzPts val="1400"/>
              <a:buFont typeface="Wingdings" pitchFamily="2" charset="2"/>
              <a:buChar char="§"/>
            </a:pPr>
            <a:r>
              <a:rPr lang="en-US" sz="1400" dirty="0">
                <a:solidFill>
                  <a:schemeClr val="dk1"/>
                </a:solidFill>
                <a:latin typeface="Calibri"/>
                <a:ea typeface="Calibri"/>
                <a:cs typeface="Calibri"/>
                <a:sym typeface="Calibri"/>
              </a:rPr>
              <a:t>Development of a claims processing risk model using key variable such as prior authorization, documentation completeness and claim outcome</a:t>
            </a:r>
            <a:endParaRPr dirty="0"/>
          </a:p>
          <a:p>
            <a:pPr marL="285750" marR="0" lvl="0" indent="-285750" algn="l" rtl="0">
              <a:spcBef>
                <a:spcPts val="0"/>
              </a:spcBef>
              <a:spcAft>
                <a:spcPts val="0"/>
              </a:spcAft>
              <a:buClr>
                <a:schemeClr val="dk1"/>
              </a:buClr>
              <a:buSzPts val="1400"/>
              <a:buFont typeface="Wingdings" pitchFamily="2" charset="2"/>
              <a:buChar char="§"/>
            </a:pPr>
            <a:r>
              <a:rPr lang="en-US" sz="1400" dirty="0">
                <a:solidFill>
                  <a:schemeClr val="dk1"/>
                </a:solidFill>
                <a:latin typeface="Calibri"/>
                <a:ea typeface="Calibri"/>
                <a:cs typeface="Calibri"/>
                <a:sym typeface="Calibri"/>
              </a:rPr>
              <a:t>Statistical analysis to identify differences between low-risk and high-risk claims </a:t>
            </a:r>
            <a:endParaRPr dirty="0"/>
          </a:p>
          <a:p>
            <a:pPr marL="285750" marR="0" lvl="0" indent="-285750" algn="l" rtl="0">
              <a:spcBef>
                <a:spcPts val="0"/>
              </a:spcBef>
              <a:spcAft>
                <a:spcPts val="0"/>
              </a:spcAft>
              <a:buClr>
                <a:schemeClr val="dk1"/>
              </a:buClr>
              <a:buSzPts val="1400"/>
              <a:buFont typeface="Wingdings" pitchFamily="2" charset="2"/>
              <a:buChar char="§"/>
            </a:pPr>
            <a:r>
              <a:rPr lang="en-US" sz="1400" dirty="0">
                <a:solidFill>
                  <a:schemeClr val="dk1"/>
                </a:solidFill>
                <a:latin typeface="Calibri"/>
                <a:ea typeface="Calibri"/>
                <a:cs typeface="Calibri"/>
                <a:sym typeface="Calibri"/>
              </a:rPr>
              <a:t>Visualization of risk distribution and key drivers </a:t>
            </a:r>
            <a:endParaRPr dirty="0"/>
          </a:p>
        </p:txBody>
      </p:sp>
      <p:sp>
        <p:nvSpPr>
          <p:cNvPr id="162" name="Google Shape;162;p5"/>
          <p:cNvSpPr/>
          <p:nvPr/>
        </p:nvSpPr>
        <p:spPr>
          <a:xfrm>
            <a:off x="6437449" y="1569719"/>
            <a:ext cx="4165600" cy="3696547"/>
          </a:xfrm>
          <a:prstGeom prst="roundRect">
            <a:avLst>
              <a:gd name="adj" fmla="val 16667"/>
            </a:avLst>
          </a:prstGeom>
          <a:solidFill>
            <a:srgbClr val="FFF2CC"/>
          </a:solidFill>
          <a:ln w="9525" cap="flat" cmpd="sng">
            <a:solidFill>
              <a:schemeClr val="accent5"/>
            </a:solidFill>
            <a:prstDash val="solid"/>
            <a:miter lim="8000"/>
            <a:headEnd type="none" w="sm" len="sm"/>
            <a:tailEnd type="none" w="sm" len="sm"/>
          </a:ln>
        </p:spPr>
        <p:txBody>
          <a:bodyPr spcFirstLastPara="1" wrap="square" lIns="91425" tIns="45700" rIns="91425" bIns="45700" anchor="ctr" anchorCtr="0">
            <a:noAutofit/>
          </a:bodyPr>
          <a:lstStyle/>
          <a:p>
            <a:pPr marL="285750" marR="0" lvl="0" indent="-285750" algn="l" rtl="0">
              <a:spcBef>
                <a:spcPts val="0"/>
              </a:spcBef>
              <a:spcAft>
                <a:spcPts val="0"/>
              </a:spcAft>
              <a:buClr>
                <a:schemeClr val="dk1"/>
              </a:buClr>
              <a:buSzPts val="1400"/>
              <a:buFont typeface="Wingdings" pitchFamily="2" charset="2"/>
              <a:buChar char="§"/>
            </a:pPr>
            <a:r>
              <a:rPr lang="en-US" dirty="0">
                <a:solidFill>
                  <a:schemeClr val="dk1"/>
                </a:solidFill>
                <a:latin typeface="Calibri"/>
                <a:ea typeface="Calibri"/>
                <a:cs typeface="Calibri"/>
                <a:sym typeface="Calibri"/>
              </a:rPr>
              <a:t>Identify p</a:t>
            </a:r>
            <a:r>
              <a:rPr lang="en-US" sz="1400" dirty="0">
                <a:solidFill>
                  <a:schemeClr val="dk1"/>
                </a:solidFill>
                <a:latin typeface="Calibri"/>
                <a:ea typeface="Calibri"/>
                <a:cs typeface="Calibri"/>
                <a:sym typeface="Calibri"/>
              </a:rPr>
              <a:t>ercentage of claims at risk for delay or rework </a:t>
            </a:r>
            <a:endParaRPr dirty="0"/>
          </a:p>
          <a:p>
            <a:pPr marL="285750" marR="0" lvl="0" indent="-285750" algn="l" rtl="0">
              <a:spcBef>
                <a:spcPts val="0"/>
              </a:spcBef>
              <a:spcAft>
                <a:spcPts val="0"/>
              </a:spcAft>
              <a:buClr>
                <a:schemeClr val="dk1"/>
              </a:buClr>
              <a:buSzPts val="1400"/>
              <a:buFont typeface="Wingdings" pitchFamily="2" charset="2"/>
              <a:buChar char="§"/>
            </a:pPr>
            <a:r>
              <a:rPr lang="en-US" sz="1400" dirty="0">
                <a:solidFill>
                  <a:schemeClr val="dk1"/>
                </a:solidFill>
                <a:latin typeface="Calibri"/>
                <a:ea typeface="Calibri"/>
                <a:cs typeface="Calibri"/>
                <a:sym typeface="Calibri"/>
              </a:rPr>
              <a:t>Outline </a:t>
            </a:r>
            <a:r>
              <a:rPr lang="en-US" dirty="0">
                <a:solidFill>
                  <a:schemeClr val="dk1"/>
                </a:solidFill>
                <a:latin typeface="Calibri"/>
                <a:ea typeface="Calibri"/>
                <a:cs typeface="Calibri"/>
                <a:sym typeface="Calibri"/>
              </a:rPr>
              <a:t>k</a:t>
            </a:r>
            <a:r>
              <a:rPr lang="en-US" sz="1400" dirty="0">
                <a:solidFill>
                  <a:schemeClr val="dk1"/>
                </a:solidFill>
                <a:latin typeface="Calibri"/>
                <a:ea typeface="Calibri"/>
                <a:cs typeface="Calibri"/>
                <a:sym typeface="Calibri"/>
              </a:rPr>
              <a:t>ey drivers of processing risk (prior authorization gaps, documentation completeness</a:t>
            </a:r>
            <a:endParaRPr dirty="0"/>
          </a:p>
          <a:p>
            <a:pPr marL="285750" marR="0" lvl="0" indent="-285750" algn="l" rtl="0">
              <a:spcBef>
                <a:spcPts val="0"/>
              </a:spcBef>
              <a:spcAft>
                <a:spcPts val="0"/>
              </a:spcAft>
              <a:buClr>
                <a:schemeClr val="dk1"/>
              </a:buClr>
              <a:buSzPts val="1400"/>
              <a:buFont typeface="Wingdings" pitchFamily="2" charset="2"/>
              <a:buChar char="§"/>
            </a:pPr>
            <a:r>
              <a:rPr lang="en-US" sz="1400" dirty="0">
                <a:solidFill>
                  <a:schemeClr val="dk1"/>
                </a:solidFill>
                <a:latin typeface="Calibri"/>
                <a:ea typeface="Calibri"/>
                <a:cs typeface="Calibri"/>
                <a:sym typeface="Calibri"/>
              </a:rPr>
              <a:t>Review claim denial patterns and accuracy indicators </a:t>
            </a:r>
            <a:endParaRPr dirty="0"/>
          </a:p>
          <a:p>
            <a:pPr marL="285750" marR="0" lvl="0" indent="-285750" algn="l" rtl="0">
              <a:spcBef>
                <a:spcPts val="0"/>
              </a:spcBef>
              <a:spcAft>
                <a:spcPts val="0"/>
              </a:spcAft>
              <a:buClr>
                <a:schemeClr val="dk1"/>
              </a:buClr>
              <a:buSzPts val="1400"/>
              <a:buFont typeface="Wingdings" pitchFamily="2" charset="2"/>
              <a:buChar char="§"/>
            </a:pPr>
            <a:r>
              <a:rPr lang="en-US" sz="1400" dirty="0">
                <a:solidFill>
                  <a:schemeClr val="dk1"/>
                </a:solidFill>
                <a:latin typeface="Calibri"/>
                <a:ea typeface="Calibri"/>
                <a:cs typeface="Calibri"/>
                <a:sym typeface="Calibri"/>
              </a:rPr>
              <a:t>Develop overall claims processing performance insights</a:t>
            </a:r>
            <a:endParaRPr dirty="0"/>
          </a:p>
        </p:txBody>
      </p:sp>
      <p:sp>
        <p:nvSpPr>
          <p:cNvPr id="163" name="Google Shape;163;p5"/>
          <p:cNvSpPr/>
          <p:nvPr/>
        </p:nvSpPr>
        <p:spPr>
          <a:xfrm>
            <a:off x="1393734" y="5732417"/>
            <a:ext cx="9624785" cy="414383"/>
          </a:xfrm>
          <a:prstGeom prst="rect">
            <a:avLst/>
          </a:prstGeom>
          <a:solidFill>
            <a:schemeClr val="bg1">
              <a:lumMod val="95000"/>
            </a:schemeClr>
          </a:solidFill>
          <a:ln w="9525" cap="flat" cmpd="sng">
            <a:solidFill>
              <a:schemeClr val="accent3"/>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400">
                <a:solidFill>
                  <a:schemeClr val="dk1"/>
                </a:solidFill>
                <a:latin typeface="Calibri"/>
                <a:ea typeface="Calibri"/>
                <a:cs typeface="Calibri"/>
                <a:sym typeface="Calibri"/>
              </a:rPr>
              <a:t>This approach focuses on identifying operational inefficiencies and claim quality issues that may contribute to delays and rework.</a:t>
            </a:r>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7BAA09-5173-62F6-EB26-F7F858CC5D7E}"/>
              </a:ext>
            </a:extLst>
          </p:cNvPr>
          <p:cNvSpPr>
            <a:spLocks noGrp="1"/>
          </p:cNvSpPr>
          <p:nvPr>
            <p:ph type="title"/>
          </p:nvPr>
        </p:nvSpPr>
        <p:spPr>
          <a:xfrm>
            <a:off x="698241" y="367395"/>
            <a:ext cx="10515600" cy="1325563"/>
          </a:xfrm>
        </p:spPr>
        <p:txBody>
          <a:bodyPr wrap="square" anchor="ctr">
            <a:normAutofit/>
          </a:bodyPr>
          <a:lstStyle/>
          <a:p>
            <a:r>
              <a:rPr lang="en-US" sz="2400" dirty="0"/>
              <a:t>Technical Implementation &amp; Risk Model Development</a:t>
            </a:r>
          </a:p>
        </p:txBody>
      </p:sp>
      <p:sp>
        <p:nvSpPr>
          <p:cNvPr id="10" name="Rectangle 3">
            <a:extLst>
              <a:ext uri="{FF2B5EF4-FFF2-40B4-BE49-F238E27FC236}">
                <a16:creationId xmlns:a16="http://schemas.microsoft.com/office/drawing/2014/main" id="{590B5B1D-338E-EF60-C697-00F135593F45}"/>
              </a:ext>
            </a:extLst>
          </p:cNvPr>
          <p:cNvSpPr>
            <a:spLocks noChangeArrowheads="1"/>
          </p:cNvSpPr>
          <p:nvPr/>
        </p:nvSpPr>
        <p:spPr bwMode="auto">
          <a:xfrm rot="10800000" flipV="1">
            <a:off x="838200" y="4608037"/>
            <a:ext cx="7288763" cy="181588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r>
              <a:rPr lang="en-US" b="1" dirty="0">
                <a:latin typeface="Calibri" panose="020F0502020204030204" pitchFamily="34" charset="0"/>
                <a:ea typeface="Calibri" panose="020F0502020204030204" pitchFamily="34" charset="0"/>
                <a:cs typeface="Calibri" panose="020F0502020204030204" pitchFamily="34" charset="0"/>
              </a:rPr>
              <a:t>Risk Classification Logic</a:t>
            </a:r>
            <a:br>
              <a:rPr lang="en-US" dirty="0">
                <a:latin typeface="Calibri" panose="020F0502020204030204" pitchFamily="34" charset="0"/>
                <a:ea typeface="Calibri" panose="020F0502020204030204" pitchFamily="34" charset="0"/>
                <a:cs typeface="Calibri" panose="020F0502020204030204" pitchFamily="34" charset="0"/>
              </a:rPr>
            </a:br>
            <a:endParaRPr lang="en-US" dirty="0">
              <a:latin typeface="Calibri" panose="020F0502020204030204" pitchFamily="34" charset="0"/>
              <a:ea typeface="Calibri" panose="020F0502020204030204" pitchFamily="34" charset="0"/>
              <a:cs typeface="Calibri" panose="020F0502020204030204" pitchFamily="34" charset="0"/>
            </a:endParaRPr>
          </a:p>
          <a:p>
            <a:r>
              <a:rPr lang="en-US" dirty="0">
                <a:latin typeface="Calibri" panose="020F0502020204030204" pitchFamily="34" charset="0"/>
                <a:ea typeface="Calibri" panose="020F0502020204030204" pitchFamily="34" charset="0"/>
                <a:cs typeface="Calibri" panose="020F0502020204030204" pitchFamily="34" charset="0"/>
              </a:rPr>
              <a:t>Claims were classified as At Risk if one or more of the following conditions were present:</a:t>
            </a:r>
          </a:p>
          <a:p>
            <a:endParaRPr lang="en-US" dirty="0">
              <a:latin typeface="Calibri" panose="020F0502020204030204" pitchFamily="34" charset="0"/>
              <a:ea typeface="Calibri" panose="020F0502020204030204" pitchFamily="34" charset="0"/>
              <a:cs typeface="Calibri" panose="020F0502020204030204" pitchFamily="34" charset="0"/>
            </a:endParaRPr>
          </a:p>
          <a:p>
            <a:pPr marL="285750" indent="-285750">
              <a:buFont typeface="Wingdings" pitchFamily="2" charset="2"/>
              <a:buChar char="§"/>
            </a:pPr>
            <a:r>
              <a:rPr lang="en-US" dirty="0">
                <a:latin typeface="Calibri" panose="020F0502020204030204" pitchFamily="34" charset="0"/>
                <a:ea typeface="Calibri" panose="020F0502020204030204" pitchFamily="34" charset="0"/>
                <a:cs typeface="Calibri" panose="020F0502020204030204" pitchFamily="34" charset="0"/>
              </a:rPr>
              <a:t>Documentation Completeness &lt; 80%</a:t>
            </a:r>
          </a:p>
          <a:p>
            <a:pPr marL="285750" indent="-285750">
              <a:buFont typeface="Wingdings" pitchFamily="2" charset="2"/>
              <a:buChar char="§"/>
            </a:pPr>
            <a:r>
              <a:rPr lang="en-US" dirty="0">
                <a:latin typeface="Calibri" panose="020F0502020204030204" pitchFamily="34" charset="0"/>
                <a:ea typeface="Calibri" panose="020F0502020204030204" pitchFamily="34" charset="0"/>
                <a:cs typeface="Calibri" panose="020F0502020204030204" pitchFamily="34" charset="0"/>
              </a:rPr>
              <a:t>Denied Claim Outcome</a:t>
            </a:r>
          </a:p>
          <a:p>
            <a:pPr marL="285750" indent="-285750">
              <a:buFont typeface="Wingdings" pitchFamily="2" charset="2"/>
              <a:buChar char="§"/>
            </a:pPr>
            <a:r>
              <a:rPr lang="en-US" dirty="0">
                <a:latin typeface="Calibri" panose="020F0502020204030204" pitchFamily="34" charset="0"/>
                <a:ea typeface="Calibri" panose="020F0502020204030204" pitchFamily="34" charset="0"/>
                <a:cs typeface="Calibri" panose="020F0502020204030204" pitchFamily="34" charset="0"/>
              </a:rPr>
              <a:t>Missing Prior Authorization</a:t>
            </a:r>
          </a:p>
          <a:p>
            <a:pPr marL="285750" indent="-285750">
              <a:buFont typeface="Wingdings" pitchFamily="2" charset="2"/>
              <a:buChar char="§"/>
            </a:pPr>
            <a:r>
              <a:rPr lang="en-US" dirty="0">
                <a:latin typeface="Calibri" panose="020F0502020204030204" pitchFamily="34" charset="0"/>
                <a:ea typeface="Calibri" panose="020F0502020204030204" pitchFamily="34" charset="0"/>
                <a:cs typeface="Calibri" panose="020F0502020204030204" pitchFamily="34" charset="0"/>
              </a:rPr>
              <a:t>Timely Filing Denial</a:t>
            </a:r>
          </a:p>
        </p:txBody>
      </p:sp>
      <p:sp>
        <p:nvSpPr>
          <p:cNvPr id="20" name="Pentagon 19">
            <a:extLst>
              <a:ext uri="{FF2B5EF4-FFF2-40B4-BE49-F238E27FC236}">
                <a16:creationId xmlns:a16="http://schemas.microsoft.com/office/drawing/2014/main" id="{7E2E3EC2-E310-FDEE-4CC9-9CA6949E178B}"/>
              </a:ext>
            </a:extLst>
          </p:cNvPr>
          <p:cNvSpPr/>
          <p:nvPr/>
        </p:nvSpPr>
        <p:spPr>
          <a:xfrm>
            <a:off x="838201" y="1548088"/>
            <a:ext cx="3612502" cy="512624"/>
          </a:xfrm>
          <a:prstGeom prst="homePlate">
            <a:avLst/>
          </a:prstGeom>
          <a:solidFill>
            <a:schemeClr val="accent3"/>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n-US" dirty="0">
                <a:latin typeface="Calibri" panose="020F0502020204030204" pitchFamily="34" charset="0"/>
                <a:ea typeface="Calibri" panose="020F0502020204030204" pitchFamily="34" charset="0"/>
                <a:cs typeface="Calibri" panose="020F0502020204030204" pitchFamily="34" charset="0"/>
              </a:rPr>
              <a:t>Tools Used </a:t>
            </a:r>
          </a:p>
        </p:txBody>
      </p:sp>
      <p:sp>
        <p:nvSpPr>
          <p:cNvPr id="21" name="Pentagon 20">
            <a:extLst>
              <a:ext uri="{FF2B5EF4-FFF2-40B4-BE49-F238E27FC236}">
                <a16:creationId xmlns:a16="http://schemas.microsoft.com/office/drawing/2014/main" id="{6C27BDE0-0CC2-58C1-47AF-2BC325E16500}"/>
              </a:ext>
            </a:extLst>
          </p:cNvPr>
          <p:cNvSpPr/>
          <p:nvPr/>
        </p:nvSpPr>
        <p:spPr>
          <a:xfrm>
            <a:off x="4450701" y="1537964"/>
            <a:ext cx="3612501" cy="512624"/>
          </a:xfrm>
          <a:prstGeom prst="homePlate">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latin typeface="Calibri" panose="020F0502020204030204" pitchFamily="34" charset="0"/>
                <a:ea typeface="Calibri" panose="020F0502020204030204" pitchFamily="34" charset="0"/>
                <a:cs typeface="Calibri" panose="020F0502020204030204" pitchFamily="34" charset="0"/>
              </a:rPr>
              <a:t>Data Science Techniques Applied </a:t>
            </a:r>
          </a:p>
        </p:txBody>
      </p:sp>
      <p:graphicFrame>
        <p:nvGraphicFramePr>
          <p:cNvPr id="23" name="Table 22">
            <a:extLst>
              <a:ext uri="{FF2B5EF4-FFF2-40B4-BE49-F238E27FC236}">
                <a16:creationId xmlns:a16="http://schemas.microsoft.com/office/drawing/2014/main" id="{D5F18CEC-6FBC-0282-5630-1B52947AA1E7}"/>
              </a:ext>
            </a:extLst>
          </p:cNvPr>
          <p:cNvGraphicFramePr>
            <a:graphicFrameLocks noGrp="1"/>
          </p:cNvGraphicFramePr>
          <p:nvPr>
            <p:extLst>
              <p:ext uri="{D42A27DB-BD31-4B8C-83A1-F6EECF244321}">
                <p14:modId xmlns:p14="http://schemas.microsoft.com/office/powerpoint/2010/main" val="936433300"/>
              </p:ext>
            </p:extLst>
          </p:nvPr>
        </p:nvGraphicFramePr>
        <p:xfrm>
          <a:off x="838200" y="2075658"/>
          <a:ext cx="3341913" cy="2020482"/>
        </p:xfrm>
        <a:graphic>
          <a:graphicData uri="http://schemas.openxmlformats.org/drawingml/2006/table">
            <a:tbl>
              <a:tblPr firstRow="1" bandRow="1">
                <a:tableStyleId>{9D7B26C5-4107-4FEC-AEDC-1716B250A1EF}</a:tableStyleId>
              </a:tblPr>
              <a:tblGrid>
                <a:gridCol w="3341913">
                  <a:extLst>
                    <a:ext uri="{9D8B030D-6E8A-4147-A177-3AD203B41FA5}">
                      <a16:colId xmlns:a16="http://schemas.microsoft.com/office/drawing/2014/main" val="3526622552"/>
                    </a:ext>
                  </a:extLst>
                </a:gridCol>
              </a:tblGrid>
              <a:tr h="336747">
                <a:tc>
                  <a:txBody>
                    <a:bodyPr/>
                    <a:lstStyle/>
                    <a:p>
                      <a:pPr algn="ctr"/>
                      <a:r>
                        <a:rPr lang="en-US" b="0" dirty="0">
                          <a:latin typeface="Calibri" panose="020F0502020204030204" pitchFamily="34" charset="0"/>
                          <a:ea typeface="Calibri" panose="020F0502020204030204" pitchFamily="34" charset="0"/>
                          <a:cs typeface="Calibri" panose="020F0502020204030204" pitchFamily="34" charset="0"/>
                        </a:rPr>
                        <a:t>Python </a:t>
                      </a:r>
                    </a:p>
                  </a:txBody>
                  <a:tcPr/>
                </a:tc>
                <a:extLst>
                  <a:ext uri="{0D108BD9-81ED-4DB2-BD59-A6C34878D82A}">
                    <a16:rowId xmlns:a16="http://schemas.microsoft.com/office/drawing/2014/main" val="3723137488"/>
                  </a:ext>
                </a:extLst>
              </a:tr>
              <a:tr h="336747">
                <a:tc>
                  <a:txBody>
                    <a:bodyPr/>
                    <a:lstStyle/>
                    <a:p>
                      <a:pPr algn="ctr"/>
                      <a:r>
                        <a:rPr lang="en-US" dirty="0">
                          <a:latin typeface="Calibri" panose="020F0502020204030204" pitchFamily="34" charset="0"/>
                          <a:ea typeface="Calibri" panose="020F0502020204030204" pitchFamily="34" charset="0"/>
                          <a:cs typeface="Calibri" panose="020F0502020204030204" pitchFamily="34" charset="0"/>
                        </a:rPr>
                        <a:t>Pandas</a:t>
                      </a:r>
                    </a:p>
                  </a:txBody>
                  <a:tcPr/>
                </a:tc>
                <a:extLst>
                  <a:ext uri="{0D108BD9-81ED-4DB2-BD59-A6C34878D82A}">
                    <a16:rowId xmlns:a16="http://schemas.microsoft.com/office/drawing/2014/main" val="4144162173"/>
                  </a:ext>
                </a:extLst>
              </a:tr>
              <a:tr h="336747">
                <a:tc>
                  <a:txBody>
                    <a:bodyPr/>
                    <a:lstStyle/>
                    <a:p>
                      <a:pPr algn="ctr"/>
                      <a:r>
                        <a:rPr lang="en-US" dirty="0">
                          <a:latin typeface="Calibri" panose="020F0502020204030204" pitchFamily="34" charset="0"/>
                          <a:ea typeface="Calibri" panose="020F0502020204030204" pitchFamily="34" charset="0"/>
                          <a:cs typeface="Calibri" panose="020F0502020204030204" pitchFamily="34" charset="0"/>
                        </a:rPr>
                        <a:t>NumPy</a:t>
                      </a:r>
                    </a:p>
                  </a:txBody>
                  <a:tcPr/>
                </a:tc>
                <a:extLst>
                  <a:ext uri="{0D108BD9-81ED-4DB2-BD59-A6C34878D82A}">
                    <a16:rowId xmlns:a16="http://schemas.microsoft.com/office/drawing/2014/main" val="2079606987"/>
                  </a:ext>
                </a:extLst>
              </a:tr>
              <a:tr h="336747">
                <a:tc>
                  <a:txBody>
                    <a:bodyPr/>
                    <a:lstStyle/>
                    <a:p>
                      <a:pPr algn="ctr"/>
                      <a:r>
                        <a:rPr lang="en-US" dirty="0">
                          <a:latin typeface="Calibri" panose="020F0502020204030204" pitchFamily="34" charset="0"/>
                          <a:ea typeface="Calibri" panose="020F0502020204030204" pitchFamily="34" charset="0"/>
                          <a:cs typeface="Calibri" panose="020F0502020204030204" pitchFamily="34" charset="0"/>
                        </a:rPr>
                        <a:t>Matplotlib                                     </a:t>
                      </a:r>
                    </a:p>
                  </a:txBody>
                  <a:tcPr/>
                </a:tc>
                <a:extLst>
                  <a:ext uri="{0D108BD9-81ED-4DB2-BD59-A6C34878D82A}">
                    <a16:rowId xmlns:a16="http://schemas.microsoft.com/office/drawing/2014/main" val="1475609843"/>
                  </a:ext>
                </a:extLst>
              </a:tr>
              <a:tr h="336747">
                <a:tc>
                  <a:txBody>
                    <a:bodyPr/>
                    <a:lstStyle/>
                    <a:p>
                      <a:pPr algn="ctr"/>
                      <a:r>
                        <a:rPr lang="en-US" dirty="0">
                          <a:latin typeface="Calibri" panose="020F0502020204030204" pitchFamily="34" charset="0"/>
                          <a:ea typeface="Calibri" panose="020F0502020204030204" pitchFamily="34" charset="0"/>
                          <a:cs typeface="Calibri" panose="020F0502020204030204" pitchFamily="34" charset="0"/>
                        </a:rPr>
                        <a:t>Seaborn</a:t>
                      </a:r>
                    </a:p>
                  </a:txBody>
                  <a:tcPr/>
                </a:tc>
                <a:extLst>
                  <a:ext uri="{0D108BD9-81ED-4DB2-BD59-A6C34878D82A}">
                    <a16:rowId xmlns:a16="http://schemas.microsoft.com/office/drawing/2014/main" val="388667450"/>
                  </a:ext>
                </a:extLst>
              </a:tr>
              <a:tr h="336747">
                <a:tc>
                  <a:txBody>
                    <a:bodyPr/>
                    <a:lstStyle/>
                    <a:p>
                      <a:pPr algn="ctr"/>
                      <a:r>
                        <a:rPr lang="en-US" dirty="0">
                          <a:latin typeface="Calibri" panose="020F0502020204030204" pitchFamily="34" charset="0"/>
                          <a:ea typeface="Calibri" panose="020F0502020204030204" pitchFamily="34" charset="0"/>
                          <a:cs typeface="Calibri" panose="020F0502020204030204" pitchFamily="34" charset="0"/>
                        </a:rPr>
                        <a:t>Jupyter Notebook &amp; Colab</a:t>
                      </a:r>
                    </a:p>
                  </a:txBody>
                  <a:tcPr/>
                </a:tc>
                <a:extLst>
                  <a:ext uri="{0D108BD9-81ED-4DB2-BD59-A6C34878D82A}">
                    <a16:rowId xmlns:a16="http://schemas.microsoft.com/office/drawing/2014/main" val="901697708"/>
                  </a:ext>
                </a:extLst>
              </a:tr>
            </a:tbl>
          </a:graphicData>
        </a:graphic>
      </p:graphicFrame>
      <p:graphicFrame>
        <p:nvGraphicFramePr>
          <p:cNvPr id="25" name="Table 24">
            <a:extLst>
              <a:ext uri="{FF2B5EF4-FFF2-40B4-BE49-F238E27FC236}">
                <a16:creationId xmlns:a16="http://schemas.microsoft.com/office/drawing/2014/main" id="{F1959AFD-011F-A41E-ABBB-8F0CDCBAF8BA}"/>
              </a:ext>
            </a:extLst>
          </p:cNvPr>
          <p:cNvGraphicFramePr>
            <a:graphicFrameLocks noGrp="1"/>
          </p:cNvGraphicFramePr>
          <p:nvPr>
            <p:extLst>
              <p:ext uri="{D42A27DB-BD31-4B8C-83A1-F6EECF244321}">
                <p14:modId xmlns:p14="http://schemas.microsoft.com/office/powerpoint/2010/main" val="284192773"/>
              </p:ext>
            </p:extLst>
          </p:nvPr>
        </p:nvGraphicFramePr>
        <p:xfrm>
          <a:off x="4450701" y="2075658"/>
          <a:ext cx="3341913" cy="1683735"/>
        </p:xfrm>
        <a:graphic>
          <a:graphicData uri="http://schemas.openxmlformats.org/drawingml/2006/table">
            <a:tbl>
              <a:tblPr firstRow="1" bandRow="1">
                <a:tableStyleId>{3B4B98B0-60AC-42C2-AFA5-B58CD77FA1E5}</a:tableStyleId>
              </a:tblPr>
              <a:tblGrid>
                <a:gridCol w="3341913">
                  <a:extLst>
                    <a:ext uri="{9D8B030D-6E8A-4147-A177-3AD203B41FA5}">
                      <a16:colId xmlns:a16="http://schemas.microsoft.com/office/drawing/2014/main" val="3526622552"/>
                    </a:ext>
                  </a:extLst>
                </a:gridCol>
              </a:tblGrid>
              <a:tr h="336747">
                <a:tc>
                  <a:txBody>
                    <a:bodyPr/>
                    <a:lstStyle/>
                    <a:p>
                      <a:pPr algn="ctr"/>
                      <a:r>
                        <a:rPr lang="en-US" b="0" dirty="0">
                          <a:latin typeface="Calibri" panose="020F0502020204030204" pitchFamily="34" charset="0"/>
                          <a:ea typeface="Calibri" panose="020F0502020204030204" pitchFamily="34" charset="0"/>
                          <a:cs typeface="Calibri" panose="020F0502020204030204" pitchFamily="34" charset="0"/>
                        </a:rPr>
                        <a:t>Data Cleaning &amp; Validation </a:t>
                      </a:r>
                    </a:p>
                  </a:txBody>
                  <a:tcPr/>
                </a:tc>
                <a:extLst>
                  <a:ext uri="{0D108BD9-81ED-4DB2-BD59-A6C34878D82A}">
                    <a16:rowId xmlns:a16="http://schemas.microsoft.com/office/drawing/2014/main" val="3723137488"/>
                  </a:ext>
                </a:extLst>
              </a:tr>
              <a:tr h="336747">
                <a:tc>
                  <a:txBody>
                    <a:bodyPr/>
                    <a:lstStyle/>
                    <a:p>
                      <a:pPr algn="ctr"/>
                      <a:r>
                        <a:rPr lang="en-US" dirty="0">
                          <a:latin typeface="Calibri" panose="020F0502020204030204" pitchFamily="34" charset="0"/>
                          <a:ea typeface="Calibri" panose="020F0502020204030204" pitchFamily="34" charset="0"/>
                          <a:cs typeface="Calibri" panose="020F0502020204030204" pitchFamily="34" charset="0"/>
                        </a:rPr>
                        <a:t>Feature Engineering </a:t>
                      </a:r>
                    </a:p>
                  </a:txBody>
                  <a:tcPr/>
                </a:tc>
                <a:extLst>
                  <a:ext uri="{0D108BD9-81ED-4DB2-BD59-A6C34878D82A}">
                    <a16:rowId xmlns:a16="http://schemas.microsoft.com/office/drawing/2014/main" val="4144162173"/>
                  </a:ext>
                </a:extLst>
              </a:tr>
              <a:tr h="336747">
                <a:tc>
                  <a:txBody>
                    <a:bodyPr/>
                    <a:lstStyle/>
                    <a:p>
                      <a:pPr algn="ctr"/>
                      <a:r>
                        <a:rPr lang="en-US" dirty="0">
                          <a:latin typeface="Calibri" panose="020F0502020204030204" pitchFamily="34" charset="0"/>
                          <a:ea typeface="Calibri" panose="020F0502020204030204" pitchFamily="34" charset="0"/>
                          <a:cs typeface="Calibri" panose="020F0502020204030204" pitchFamily="34" charset="0"/>
                        </a:rPr>
                        <a:t>Statistical Analysis</a:t>
                      </a:r>
                    </a:p>
                  </a:txBody>
                  <a:tcPr/>
                </a:tc>
                <a:extLst>
                  <a:ext uri="{0D108BD9-81ED-4DB2-BD59-A6C34878D82A}">
                    <a16:rowId xmlns:a16="http://schemas.microsoft.com/office/drawing/2014/main" val="2079606987"/>
                  </a:ext>
                </a:extLst>
              </a:tr>
              <a:tr h="336747">
                <a:tc>
                  <a:txBody>
                    <a:bodyPr/>
                    <a:lstStyle/>
                    <a:p>
                      <a:pPr algn="ctr"/>
                      <a:r>
                        <a:rPr lang="en-US" dirty="0">
                          <a:latin typeface="Calibri" panose="020F0502020204030204" pitchFamily="34" charset="0"/>
                          <a:ea typeface="Calibri" panose="020F0502020204030204" pitchFamily="34" charset="0"/>
                          <a:cs typeface="Calibri" panose="020F0502020204030204" pitchFamily="34" charset="0"/>
                        </a:rPr>
                        <a:t>Risk Modeling </a:t>
                      </a:r>
                    </a:p>
                  </a:txBody>
                  <a:tcPr/>
                </a:tc>
                <a:extLst>
                  <a:ext uri="{0D108BD9-81ED-4DB2-BD59-A6C34878D82A}">
                    <a16:rowId xmlns:a16="http://schemas.microsoft.com/office/drawing/2014/main" val="1475609843"/>
                  </a:ext>
                </a:extLst>
              </a:tr>
              <a:tr h="336747">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n-US" dirty="0">
                          <a:latin typeface="Calibri" panose="020F0502020204030204" pitchFamily="34" charset="0"/>
                          <a:ea typeface="Calibri" panose="020F0502020204030204" pitchFamily="34" charset="0"/>
                          <a:cs typeface="Calibri" panose="020F0502020204030204" pitchFamily="34" charset="0"/>
                        </a:rPr>
                        <a:t>Dashboard Development</a:t>
                      </a:r>
                    </a:p>
                  </a:txBody>
                  <a:tcPr/>
                </a:tc>
                <a:extLst>
                  <a:ext uri="{0D108BD9-81ED-4DB2-BD59-A6C34878D82A}">
                    <a16:rowId xmlns:a16="http://schemas.microsoft.com/office/drawing/2014/main" val="388667450"/>
                  </a:ext>
                </a:extLst>
              </a:tr>
            </a:tbl>
          </a:graphicData>
        </a:graphic>
      </p:graphicFrame>
      <p:sp>
        <p:nvSpPr>
          <p:cNvPr id="27" name="Pentagon 26">
            <a:extLst>
              <a:ext uri="{FF2B5EF4-FFF2-40B4-BE49-F238E27FC236}">
                <a16:creationId xmlns:a16="http://schemas.microsoft.com/office/drawing/2014/main" id="{BAF74E4D-6818-AF0C-95DF-38C1892B413A}"/>
              </a:ext>
            </a:extLst>
          </p:cNvPr>
          <p:cNvSpPr/>
          <p:nvPr/>
        </p:nvSpPr>
        <p:spPr>
          <a:xfrm>
            <a:off x="8063202" y="1548088"/>
            <a:ext cx="3612501" cy="512624"/>
          </a:xfrm>
          <a:prstGeom prst="homePlate">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latin typeface="Calibri" panose="020F0502020204030204" pitchFamily="34" charset="0"/>
                <a:ea typeface="Calibri" panose="020F0502020204030204" pitchFamily="34" charset="0"/>
                <a:cs typeface="Calibri" panose="020F0502020204030204" pitchFamily="34" charset="0"/>
              </a:rPr>
              <a:t>Visual Aids Used</a:t>
            </a:r>
          </a:p>
        </p:txBody>
      </p:sp>
      <p:graphicFrame>
        <p:nvGraphicFramePr>
          <p:cNvPr id="28" name="Table 27">
            <a:extLst>
              <a:ext uri="{FF2B5EF4-FFF2-40B4-BE49-F238E27FC236}">
                <a16:creationId xmlns:a16="http://schemas.microsoft.com/office/drawing/2014/main" id="{81601495-26CE-29FC-AD19-3C29A5A0D061}"/>
              </a:ext>
            </a:extLst>
          </p:cNvPr>
          <p:cNvGraphicFramePr>
            <a:graphicFrameLocks noGrp="1"/>
          </p:cNvGraphicFramePr>
          <p:nvPr>
            <p:extLst>
              <p:ext uri="{D42A27DB-BD31-4B8C-83A1-F6EECF244321}">
                <p14:modId xmlns:p14="http://schemas.microsoft.com/office/powerpoint/2010/main" val="3016051898"/>
              </p:ext>
            </p:extLst>
          </p:nvPr>
        </p:nvGraphicFramePr>
        <p:xfrm>
          <a:off x="8063202" y="2100216"/>
          <a:ext cx="3341913" cy="1346988"/>
        </p:xfrm>
        <a:graphic>
          <a:graphicData uri="http://schemas.openxmlformats.org/drawingml/2006/table">
            <a:tbl>
              <a:tblPr firstRow="1" bandRow="1">
                <a:tableStyleId>{D27102A9-8310-4765-A935-A1911B00CA55}</a:tableStyleId>
              </a:tblPr>
              <a:tblGrid>
                <a:gridCol w="3341913">
                  <a:extLst>
                    <a:ext uri="{9D8B030D-6E8A-4147-A177-3AD203B41FA5}">
                      <a16:colId xmlns:a16="http://schemas.microsoft.com/office/drawing/2014/main" val="3526622552"/>
                    </a:ext>
                  </a:extLst>
                </a:gridCol>
              </a:tblGrid>
              <a:tr h="336747">
                <a:tc>
                  <a:txBody>
                    <a:bodyPr/>
                    <a:lstStyle/>
                    <a:p>
                      <a:pPr algn="ctr"/>
                      <a:r>
                        <a:rPr lang="en-US" b="0" dirty="0">
                          <a:latin typeface="Calibri" panose="020F0502020204030204" pitchFamily="34" charset="0"/>
                          <a:ea typeface="Calibri" panose="020F0502020204030204" pitchFamily="34" charset="0"/>
                          <a:cs typeface="Calibri" panose="020F0502020204030204" pitchFamily="34" charset="0"/>
                        </a:rPr>
                        <a:t>Bar Chart</a:t>
                      </a:r>
                    </a:p>
                  </a:txBody>
                  <a:tcPr/>
                </a:tc>
                <a:extLst>
                  <a:ext uri="{0D108BD9-81ED-4DB2-BD59-A6C34878D82A}">
                    <a16:rowId xmlns:a16="http://schemas.microsoft.com/office/drawing/2014/main" val="3723137488"/>
                  </a:ext>
                </a:extLst>
              </a:tr>
              <a:tr h="336747">
                <a:tc>
                  <a:txBody>
                    <a:bodyPr/>
                    <a:lstStyle/>
                    <a:p>
                      <a:pPr algn="ctr"/>
                      <a:r>
                        <a:rPr lang="en-US" dirty="0">
                          <a:latin typeface="Calibri" panose="020F0502020204030204" pitchFamily="34" charset="0"/>
                          <a:ea typeface="Calibri" panose="020F0502020204030204" pitchFamily="34" charset="0"/>
                          <a:cs typeface="Calibri" panose="020F0502020204030204" pitchFamily="34" charset="0"/>
                        </a:rPr>
                        <a:t>Horizontal Bar Chart</a:t>
                      </a:r>
                    </a:p>
                  </a:txBody>
                  <a:tcPr/>
                </a:tc>
                <a:extLst>
                  <a:ext uri="{0D108BD9-81ED-4DB2-BD59-A6C34878D82A}">
                    <a16:rowId xmlns:a16="http://schemas.microsoft.com/office/drawing/2014/main" val="4144162173"/>
                  </a:ext>
                </a:extLst>
              </a:tr>
              <a:tr h="336747">
                <a:tc>
                  <a:txBody>
                    <a:bodyPr/>
                    <a:lstStyle/>
                    <a:p>
                      <a:pPr algn="ctr"/>
                      <a:r>
                        <a:rPr lang="en-US" dirty="0">
                          <a:latin typeface="Calibri" panose="020F0502020204030204" pitchFamily="34" charset="0"/>
                          <a:ea typeface="Calibri" panose="020F0502020204030204" pitchFamily="34" charset="0"/>
                          <a:cs typeface="Calibri" panose="020F0502020204030204" pitchFamily="34" charset="0"/>
                        </a:rPr>
                        <a:t>Heat Map</a:t>
                      </a:r>
                    </a:p>
                  </a:txBody>
                  <a:tcPr/>
                </a:tc>
                <a:extLst>
                  <a:ext uri="{0D108BD9-81ED-4DB2-BD59-A6C34878D82A}">
                    <a16:rowId xmlns:a16="http://schemas.microsoft.com/office/drawing/2014/main" val="2079606987"/>
                  </a:ext>
                </a:extLst>
              </a:tr>
              <a:tr h="336747">
                <a:tc>
                  <a:txBody>
                    <a:bodyPr/>
                    <a:lstStyle/>
                    <a:p>
                      <a:pPr algn="ctr"/>
                      <a:r>
                        <a:rPr lang="en-US" dirty="0">
                          <a:latin typeface="Calibri" panose="020F0502020204030204" pitchFamily="34" charset="0"/>
                          <a:ea typeface="Calibri" panose="020F0502020204030204" pitchFamily="34" charset="0"/>
                          <a:cs typeface="Calibri" panose="020F0502020204030204" pitchFamily="34" charset="0"/>
                        </a:rPr>
                        <a:t>Executive Dashboard</a:t>
                      </a:r>
                    </a:p>
                  </a:txBody>
                  <a:tcPr/>
                </a:tc>
                <a:extLst>
                  <a:ext uri="{0D108BD9-81ED-4DB2-BD59-A6C34878D82A}">
                    <a16:rowId xmlns:a16="http://schemas.microsoft.com/office/drawing/2014/main" val="1475609843"/>
                  </a:ext>
                </a:extLst>
              </a:tr>
            </a:tbl>
          </a:graphicData>
        </a:graphic>
      </p:graphicFrame>
      <p:cxnSp>
        <p:nvCxnSpPr>
          <p:cNvPr id="30" name="Straight Connector 29">
            <a:extLst>
              <a:ext uri="{FF2B5EF4-FFF2-40B4-BE49-F238E27FC236}">
                <a16:creationId xmlns:a16="http://schemas.microsoft.com/office/drawing/2014/main" id="{49461501-6BCC-A836-BE7B-0BD807DE5EAD}"/>
              </a:ext>
            </a:extLst>
          </p:cNvPr>
          <p:cNvCxnSpPr/>
          <p:nvPr/>
        </p:nvCxnSpPr>
        <p:spPr>
          <a:xfrm>
            <a:off x="838199" y="4534678"/>
            <a:ext cx="10515600" cy="0"/>
          </a:xfrm>
          <a:prstGeom prst="line">
            <a:avLst/>
          </a:prstGeom>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348322291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68"/>
        <p:cNvGrpSpPr/>
        <p:nvPr/>
      </p:nvGrpSpPr>
      <p:grpSpPr>
        <a:xfrm>
          <a:off x="0" y="0"/>
          <a:ext cx="0" cy="0"/>
          <a:chOff x="0" y="0"/>
          <a:chExt cx="0" cy="0"/>
        </a:xfrm>
      </p:grpSpPr>
      <p:pic>
        <p:nvPicPr>
          <p:cNvPr id="169" name="Google Shape;169;p6"/>
          <p:cNvPicPr preferRelativeResize="0"/>
          <p:nvPr/>
        </p:nvPicPr>
        <p:blipFill rotWithShape="1">
          <a:blip r:embed="rId3">
            <a:alphaModFix/>
          </a:blip>
          <a:srcRect/>
          <a:stretch/>
        </p:blipFill>
        <p:spPr>
          <a:xfrm>
            <a:off x="5304447" y="1536208"/>
            <a:ext cx="6420110" cy="3972800"/>
          </a:xfrm>
          <a:prstGeom prst="rect">
            <a:avLst/>
          </a:prstGeom>
          <a:noFill/>
          <a:ln>
            <a:noFill/>
          </a:ln>
        </p:spPr>
      </p:pic>
      <p:sp>
        <p:nvSpPr>
          <p:cNvPr id="3" name="TextBox 2">
            <a:extLst>
              <a:ext uri="{FF2B5EF4-FFF2-40B4-BE49-F238E27FC236}">
                <a16:creationId xmlns:a16="http://schemas.microsoft.com/office/drawing/2014/main" id="{815FE419-DB36-CB1D-5E90-09F3FA78A5CE}"/>
              </a:ext>
            </a:extLst>
          </p:cNvPr>
          <p:cNvSpPr txBox="1"/>
          <p:nvPr/>
        </p:nvSpPr>
        <p:spPr>
          <a:xfrm>
            <a:off x="6003889" y="825772"/>
            <a:ext cx="5510323" cy="523220"/>
          </a:xfrm>
          <a:prstGeom prst="rect">
            <a:avLst/>
          </a:prstGeom>
          <a:noFill/>
        </p:spPr>
        <p:txBody>
          <a:bodyPr wrap="square">
            <a:spAutoFit/>
          </a:bodyPr>
          <a:lstStyle/>
          <a:p>
            <a:pPr algn="ctr"/>
            <a:r>
              <a:rPr lang="en-US" dirty="0">
                <a:latin typeface="Calibri" panose="020F0502020204030204" pitchFamily="34" charset="0"/>
                <a:ea typeface="Calibri" panose="020F0502020204030204" pitchFamily="34" charset="0"/>
                <a:cs typeface="Calibri" panose="020F0502020204030204" pitchFamily="34" charset="0"/>
              </a:rPr>
              <a:t>The chart below shows the number of claims classified as lower risk compared to claims at risk for delay or rework.</a:t>
            </a:r>
          </a:p>
        </p:txBody>
      </p:sp>
      <p:sp>
        <p:nvSpPr>
          <p:cNvPr id="5" name="Google Shape;153;p4">
            <a:extLst>
              <a:ext uri="{FF2B5EF4-FFF2-40B4-BE49-F238E27FC236}">
                <a16:creationId xmlns:a16="http://schemas.microsoft.com/office/drawing/2014/main" id="{38938090-43BC-564D-4467-7D2E11932846}"/>
              </a:ext>
            </a:extLst>
          </p:cNvPr>
          <p:cNvSpPr txBox="1"/>
          <p:nvPr/>
        </p:nvSpPr>
        <p:spPr>
          <a:xfrm>
            <a:off x="467441" y="525683"/>
            <a:ext cx="4094635" cy="904200"/>
          </a:xfrm>
          <a:prstGeom prst="rect">
            <a:avLst/>
          </a:prstGeom>
          <a:noFill/>
          <a:ln>
            <a:noFill/>
          </a:ln>
        </p:spPr>
        <p:txBody>
          <a:bodyPr spcFirstLastPara="1" wrap="square" lIns="91425" tIns="45700" rIns="91425" bIns="45700" anchor="ctr" anchorCtr="0">
            <a:normAutofit/>
          </a:bodyPr>
          <a:lstStyle/>
          <a:p>
            <a:pPr marL="0" marR="0" lvl="0" indent="0" algn="l" rtl="0">
              <a:lnSpc>
                <a:spcPct val="90000"/>
              </a:lnSpc>
              <a:spcBef>
                <a:spcPts val="0"/>
              </a:spcBef>
              <a:spcAft>
                <a:spcPts val="0"/>
              </a:spcAft>
              <a:buClr>
                <a:schemeClr val="dk1"/>
              </a:buClr>
              <a:buSzPts val="2400"/>
              <a:buFont typeface="Calibri"/>
              <a:buNone/>
            </a:pPr>
            <a:r>
              <a:rPr lang="en-US" sz="2400" b="1" dirty="0">
                <a:solidFill>
                  <a:schemeClr val="dk1"/>
                </a:solidFill>
                <a:latin typeface="Calibri"/>
                <a:ea typeface="Calibri"/>
                <a:cs typeface="Calibri"/>
                <a:sym typeface="Calibri"/>
              </a:rPr>
              <a:t>Claims Processing Risk</a:t>
            </a:r>
            <a:endParaRPr sz="2400" dirty="0">
              <a:solidFill>
                <a:schemeClr val="dk1"/>
              </a:solidFill>
              <a:latin typeface="Calibri"/>
              <a:ea typeface="Calibri"/>
              <a:cs typeface="Calibri"/>
              <a:sym typeface="Calibri"/>
            </a:endParaRPr>
          </a:p>
        </p:txBody>
      </p:sp>
      <p:sp>
        <p:nvSpPr>
          <p:cNvPr id="7" name="TextBox 6">
            <a:extLst>
              <a:ext uri="{FF2B5EF4-FFF2-40B4-BE49-F238E27FC236}">
                <a16:creationId xmlns:a16="http://schemas.microsoft.com/office/drawing/2014/main" id="{57556209-ED0B-978C-FA50-D97EAFA7C41D}"/>
              </a:ext>
            </a:extLst>
          </p:cNvPr>
          <p:cNvSpPr txBox="1"/>
          <p:nvPr/>
        </p:nvSpPr>
        <p:spPr>
          <a:xfrm>
            <a:off x="467441" y="1345602"/>
            <a:ext cx="4538668" cy="3236274"/>
          </a:xfrm>
          <a:prstGeom prst="rect">
            <a:avLst/>
          </a:prstGeom>
          <a:noFill/>
        </p:spPr>
        <p:txBody>
          <a:bodyPr wrap="square">
            <a:spAutoFit/>
          </a:bodyPr>
          <a:lstStyle/>
          <a:p>
            <a:r>
              <a:rPr lang="en-US" dirty="0">
                <a:latin typeface="Calibri" panose="020F0502020204030204" pitchFamily="34" charset="0"/>
                <a:ea typeface="Calibri" panose="020F0502020204030204" pitchFamily="34" charset="0"/>
                <a:cs typeface="Calibri" panose="020F0502020204030204" pitchFamily="34" charset="0"/>
              </a:rPr>
              <a:t>This analysis compares key operational indicators across claims processing risk categories to determine whether high-risk claims exhibit characteristics associated with processing delays, rework, or denial.</a:t>
            </a:r>
          </a:p>
          <a:p>
            <a:endParaRPr lang="en-US" dirty="0">
              <a:solidFill>
                <a:srgbClr val="1F1F1F"/>
              </a:solidFill>
              <a:latin typeface="Calibri" panose="020F0502020204030204" pitchFamily="34" charset="0"/>
              <a:ea typeface="Calibri" panose="020F0502020204030204" pitchFamily="34" charset="0"/>
              <a:cs typeface="Calibri" panose="020F0502020204030204" pitchFamily="34" charset="0"/>
            </a:endParaRPr>
          </a:p>
          <a:p>
            <a:pPr lvl="0">
              <a:lnSpc>
                <a:spcPct val="90000"/>
              </a:lnSpc>
              <a:buClr>
                <a:schemeClr val="dk1"/>
              </a:buClr>
              <a:buSzPts val="1600"/>
            </a:pPr>
            <a:r>
              <a:rPr lang="en-US" dirty="0">
                <a:latin typeface="Calibri" panose="020F0502020204030204" pitchFamily="34" charset="0"/>
                <a:ea typeface="Calibri" panose="020F0502020204030204" pitchFamily="34" charset="0"/>
                <a:cs typeface="Calibri" panose="020F0502020204030204" pitchFamily="34" charset="0"/>
              </a:rPr>
              <a:t>Claims classified as “Lower Risk” do not exhibit any of the identified processing issues. </a:t>
            </a:r>
          </a:p>
          <a:p>
            <a:pPr lvl="0">
              <a:lnSpc>
                <a:spcPct val="90000"/>
              </a:lnSpc>
              <a:buClr>
                <a:schemeClr val="dk1"/>
              </a:buClr>
              <a:buSzPts val="1600"/>
            </a:pPr>
            <a:endParaRPr lang="en-US" dirty="0">
              <a:latin typeface="Calibri" panose="020F0502020204030204" pitchFamily="34" charset="0"/>
              <a:ea typeface="Calibri" panose="020F0502020204030204" pitchFamily="34" charset="0"/>
              <a:cs typeface="Calibri" panose="020F0502020204030204" pitchFamily="34" charset="0"/>
            </a:endParaRPr>
          </a:p>
          <a:p>
            <a:pPr lvl="0">
              <a:lnSpc>
                <a:spcPct val="90000"/>
              </a:lnSpc>
              <a:buClr>
                <a:schemeClr val="dk1"/>
              </a:buClr>
              <a:buSzPts val="1600"/>
            </a:pPr>
            <a:r>
              <a:rPr lang="en-US" dirty="0">
                <a:latin typeface="Calibri" panose="020F0502020204030204" pitchFamily="34" charset="0"/>
                <a:ea typeface="Calibri" panose="020F0502020204030204" pitchFamily="34" charset="0"/>
                <a:cs typeface="Calibri" panose="020F0502020204030204" pitchFamily="34" charset="0"/>
              </a:rPr>
              <a:t>Claims classified as “At Risk” have one or more of the following conditions present:</a:t>
            </a:r>
          </a:p>
          <a:p>
            <a:pPr lvl="0">
              <a:buSzPts val="1600"/>
            </a:pPr>
            <a:endParaRPr lang="en-US" dirty="0">
              <a:latin typeface="Calibri" panose="020F0502020204030204" pitchFamily="34" charset="0"/>
              <a:ea typeface="Calibri" panose="020F0502020204030204" pitchFamily="34" charset="0"/>
              <a:cs typeface="Calibri" panose="020F0502020204030204" pitchFamily="34" charset="0"/>
            </a:endParaRPr>
          </a:p>
          <a:p>
            <a:pPr marL="285750" lvl="3" indent="-285750">
              <a:buSzPts val="1600"/>
              <a:buFont typeface="Wingdings" pitchFamily="2" charset="2"/>
              <a:buChar char="§"/>
            </a:pPr>
            <a:r>
              <a:rPr lang="en-US" dirty="0">
                <a:latin typeface="Calibri" panose="020F0502020204030204" pitchFamily="34" charset="0"/>
                <a:ea typeface="Calibri" panose="020F0502020204030204" pitchFamily="34" charset="0"/>
                <a:cs typeface="Calibri" panose="020F0502020204030204" pitchFamily="34" charset="0"/>
              </a:rPr>
              <a:t>Missing or incomplete prior authorization</a:t>
            </a:r>
          </a:p>
          <a:p>
            <a:pPr marL="285750" lvl="3" indent="-285750">
              <a:buSzPts val="1600"/>
              <a:buFont typeface="Wingdings" pitchFamily="2" charset="2"/>
              <a:buChar char="§"/>
            </a:pPr>
            <a:r>
              <a:rPr lang="en-US" dirty="0">
                <a:latin typeface="Calibri" panose="020F0502020204030204" pitchFamily="34" charset="0"/>
                <a:ea typeface="Calibri" panose="020F0502020204030204" pitchFamily="34" charset="0"/>
                <a:cs typeface="Calibri" panose="020F0502020204030204" pitchFamily="34" charset="0"/>
              </a:rPr>
              <a:t>Documentation completeness below threshold</a:t>
            </a:r>
          </a:p>
          <a:p>
            <a:pPr marL="285750" lvl="3" indent="-285750">
              <a:buSzPts val="1600"/>
              <a:buFont typeface="Wingdings" pitchFamily="2" charset="2"/>
              <a:buChar char="§"/>
            </a:pPr>
            <a:r>
              <a:rPr lang="en-US" dirty="0">
                <a:latin typeface="Calibri" panose="020F0502020204030204" pitchFamily="34" charset="0"/>
                <a:ea typeface="Calibri" panose="020F0502020204030204" pitchFamily="34" charset="0"/>
                <a:cs typeface="Calibri" panose="020F0502020204030204" pitchFamily="34" charset="0"/>
              </a:rPr>
              <a:t>Denied claim outcome</a:t>
            </a:r>
          </a:p>
          <a:p>
            <a:pPr marL="285750" lvl="3" indent="-285750">
              <a:buSzPts val="1600"/>
              <a:buFont typeface="Wingdings" pitchFamily="2" charset="2"/>
              <a:buChar char="§"/>
            </a:pPr>
            <a:r>
              <a:rPr lang="en-US" dirty="0">
                <a:latin typeface="Calibri" panose="020F0502020204030204" pitchFamily="34" charset="0"/>
                <a:ea typeface="Calibri" panose="020F0502020204030204" pitchFamily="34" charset="0"/>
                <a:cs typeface="Calibri" panose="020F0502020204030204" pitchFamily="34" charset="0"/>
              </a:rPr>
              <a:t>Timely filing deficiencies </a:t>
            </a:r>
          </a:p>
        </p:txBody>
      </p:sp>
      <p:sp>
        <p:nvSpPr>
          <p:cNvPr id="12" name="TextBox 11">
            <a:extLst>
              <a:ext uri="{FF2B5EF4-FFF2-40B4-BE49-F238E27FC236}">
                <a16:creationId xmlns:a16="http://schemas.microsoft.com/office/drawing/2014/main" id="{E6531632-2161-E905-C48F-F194A9AF8A9A}"/>
              </a:ext>
            </a:extLst>
          </p:cNvPr>
          <p:cNvSpPr txBox="1"/>
          <p:nvPr/>
        </p:nvSpPr>
        <p:spPr>
          <a:xfrm>
            <a:off x="491051" y="4581876"/>
            <a:ext cx="4676372" cy="954107"/>
          </a:xfrm>
          <a:prstGeom prst="rect">
            <a:avLst/>
          </a:prstGeom>
          <a:noFill/>
        </p:spPr>
        <p:txBody>
          <a:bodyPr wrap="square">
            <a:spAutoFit/>
          </a:bodyPr>
          <a:lstStyle/>
          <a:p>
            <a:r>
              <a:rPr lang="en-US" b="1" dirty="0">
                <a:latin typeface="Calibri" panose="020F0502020204030204" pitchFamily="34" charset="0"/>
                <a:ea typeface="Calibri" panose="020F0502020204030204" pitchFamily="34" charset="0"/>
                <a:cs typeface="Calibri" panose="020F0502020204030204" pitchFamily="34" charset="0"/>
              </a:rPr>
              <a:t>Key Findings:</a:t>
            </a:r>
          </a:p>
          <a:p>
            <a:pPr marL="285750" indent="-285750">
              <a:buFont typeface="Wingdings" pitchFamily="2" charset="2"/>
              <a:buChar char="§"/>
            </a:pPr>
            <a:r>
              <a:rPr lang="en-US" dirty="0">
                <a:latin typeface="Calibri" panose="020F0502020204030204" pitchFamily="34" charset="0"/>
                <a:ea typeface="Calibri" panose="020F0502020204030204" pitchFamily="34" charset="0"/>
                <a:cs typeface="Calibri" panose="020F0502020204030204" pitchFamily="34" charset="0"/>
              </a:rPr>
              <a:t>Total claims analyzed: 120,000</a:t>
            </a:r>
          </a:p>
          <a:p>
            <a:pPr marL="285750" indent="-285750">
              <a:buFont typeface="Wingdings" pitchFamily="2" charset="2"/>
              <a:buChar char="§"/>
            </a:pPr>
            <a:r>
              <a:rPr lang="en-US" dirty="0">
                <a:latin typeface="Calibri" panose="020F0502020204030204" pitchFamily="34" charset="0"/>
                <a:ea typeface="Calibri" panose="020F0502020204030204" pitchFamily="34" charset="0"/>
                <a:cs typeface="Calibri" panose="020F0502020204030204" pitchFamily="34" charset="0"/>
              </a:rPr>
              <a:t>Lower-Risk claims: (46.45% - 55,740)</a:t>
            </a:r>
          </a:p>
          <a:p>
            <a:pPr marL="285750" indent="-285750">
              <a:buFont typeface="Wingdings" pitchFamily="2" charset="2"/>
              <a:buChar char="§"/>
            </a:pPr>
            <a:r>
              <a:rPr lang="en-US" dirty="0">
                <a:latin typeface="Calibri" panose="020F0502020204030204" pitchFamily="34" charset="0"/>
                <a:ea typeface="Calibri" panose="020F0502020204030204" pitchFamily="34" charset="0"/>
                <a:cs typeface="Calibri" panose="020F0502020204030204" pitchFamily="34" charset="0"/>
              </a:rPr>
              <a:t>At-Risk claims: (53.55% - 64,260)</a:t>
            </a:r>
          </a:p>
        </p:txBody>
      </p:sp>
      <p:sp>
        <p:nvSpPr>
          <p:cNvPr id="13" name="TextBox 12">
            <a:extLst>
              <a:ext uri="{FF2B5EF4-FFF2-40B4-BE49-F238E27FC236}">
                <a16:creationId xmlns:a16="http://schemas.microsoft.com/office/drawing/2014/main" id="{175A0A6D-3B24-45D6-6C38-9B2D18569AFC}"/>
              </a:ext>
            </a:extLst>
          </p:cNvPr>
          <p:cNvSpPr txBox="1"/>
          <p:nvPr/>
        </p:nvSpPr>
        <p:spPr>
          <a:xfrm>
            <a:off x="467442" y="5696224"/>
            <a:ext cx="11257116" cy="954107"/>
          </a:xfrm>
          <a:prstGeom prst="rect">
            <a:avLst/>
          </a:prstGeom>
          <a:noFill/>
        </p:spPr>
        <p:txBody>
          <a:bodyPr wrap="square">
            <a:spAutoFit/>
          </a:bodyPr>
          <a:lstStyle/>
          <a:p>
            <a:r>
              <a:rPr lang="en-US" b="1" dirty="0">
                <a:latin typeface="Calibri" panose="020F0502020204030204" pitchFamily="34" charset="0"/>
                <a:ea typeface="Calibri" panose="020F0502020204030204" pitchFamily="34" charset="0"/>
                <a:cs typeface="Calibri" panose="020F0502020204030204" pitchFamily="34" charset="0"/>
              </a:rPr>
              <a:t>Business Interpretation:</a:t>
            </a:r>
          </a:p>
          <a:p>
            <a:endParaRPr lang="en-US" b="1" dirty="0">
              <a:latin typeface="Calibri" panose="020F0502020204030204" pitchFamily="34" charset="0"/>
              <a:ea typeface="Calibri" panose="020F0502020204030204" pitchFamily="34" charset="0"/>
              <a:cs typeface="Calibri" panose="020F0502020204030204" pitchFamily="34" charset="0"/>
            </a:endParaRPr>
          </a:p>
          <a:p>
            <a:r>
              <a:rPr lang="en-US" dirty="0">
                <a:latin typeface="Calibri" panose="020F0502020204030204" pitchFamily="34" charset="0"/>
                <a:ea typeface="Calibri" panose="020F0502020204030204" pitchFamily="34" charset="0"/>
                <a:cs typeface="Calibri" panose="020F0502020204030204" pitchFamily="34" charset="0"/>
              </a:rPr>
              <a:t>More than half of all claims were identified as having at least one operational risk factor. This suggests that documentation quality, authorization compliance, and denial prevention represent significant opportunities for process improvement and operational efficiency</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81"/>
        <p:cNvGrpSpPr/>
        <p:nvPr/>
      </p:nvGrpSpPr>
      <p:grpSpPr>
        <a:xfrm>
          <a:off x="0" y="0"/>
          <a:ext cx="0" cy="0"/>
          <a:chOff x="0" y="0"/>
          <a:chExt cx="0" cy="0"/>
        </a:xfrm>
      </p:grpSpPr>
      <p:sp>
        <p:nvSpPr>
          <p:cNvPr id="4" name="Google Shape;153;p4">
            <a:extLst>
              <a:ext uri="{FF2B5EF4-FFF2-40B4-BE49-F238E27FC236}">
                <a16:creationId xmlns:a16="http://schemas.microsoft.com/office/drawing/2014/main" id="{77784822-F55C-0055-1C79-910DFDDFEC70}"/>
              </a:ext>
            </a:extLst>
          </p:cNvPr>
          <p:cNvSpPr txBox="1"/>
          <p:nvPr/>
        </p:nvSpPr>
        <p:spPr>
          <a:xfrm>
            <a:off x="383219" y="525683"/>
            <a:ext cx="4094635" cy="904200"/>
          </a:xfrm>
          <a:prstGeom prst="rect">
            <a:avLst/>
          </a:prstGeom>
          <a:noFill/>
          <a:ln>
            <a:noFill/>
          </a:ln>
        </p:spPr>
        <p:txBody>
          <a:bodyPr spcFirstLastPara="1" wrap="square" lIns="91425" tIns="45700" rIns="91425" bIns="45700" anchor="ctr" anchorCtr="0">
            <a:normAutofit/>
          </a:bodyPr>
          <a:lstStyle/>
          <a:p>
            <a:pPr marL="0" marR="0" lvl="0" indent="0" algn="l" rtl="0">
              <a:lnSpc>
                <a:spcPct val="90000"/>
              </a:lnSpc>
              <a:spcBef>
                <a:spcPts val="0"/>
              </a:spcBef>
              <a:spcAft>
                <a:spcPts val="0"/>
              </a:spcAft>
              <a:buClr>
                <a:schemeClr val="dk1"/>
              </a:buClr>
              <a:buSzPts val="2400"/>
              <a:buFont typeface="Calibri"/>
              <a:buNone/>
            </a:pPr>
            <a:r>
              <a:rPr lang="en-US" sz="2400" b="1" dirty="0">
                <a:solidFill>
                  <a:schemeClr val="dk1"/>
                </a:solidFill>
                <a:latin typeface="Calibri"/>
                <a:ea typeface="Calibri"/>
                <a:cs typeface="Calibri"/>
                <a:sym typeface="Calibri"/>
              </a:rPr>
              <a:t>At-Risk Analysis </a:t>
            </a:r>
            <a:endParaRPr sz="2400" dirty="0">
              <a:solidFill>
                <a:schemeClr val="dk1"/>
              </a:solidFill>
              <a:latin typeface="Calibri"/>
              <a:ea typeface="Calibri"/>
              <a:cs typeface="Calibri"/>
              <a:sym typeface="Calibri"/>
            </a:endParaRPr>
          </a:p>
        </p:txBody>
      </p:sp>
      <p:pic>
        <p:nvPicPr>
          <p:cNvPr id="6" name="Picture 5" descr="A graph with multiple colored squares&#10;&#10;AI-generated content may be incorrect.">
            <a:extLst>
              <a:ext uri="{FF2B5EF4-FFF2-40B4-BE49-F238E27FC236}">
                <a16:creationId xmlns:a16="http://schemas.microsoft.com/office/drawing/2014/main" id="{527A3D24-E64B-423B-E815-86D988A2F55A}"/>
              </a:ext>
            </a:extLst>
          </p:cNvPr>
          <p:cNvPicPr>
            <a:picLocks noChangeAspect="1"/>
          </p:cNvPicPr>
          <p:nvPr/>
        </p:nvPicPr>
        <p:blipFill>
          <a:blip r:embed="rId3"/>
          <a:stretch>
            <a:fillRect/>
          </a:stretch>
        </p:blipFill>
        <p:spPr>
          <a:xfrm>
            <a:off x="5048876" y="1429883"/>
            <a:ext cx="7034840" cy="3972296"/>
          </a:xfrm>
          <a:prstGeom prst="rect">
            <a:avLst/>
          </a:prstGeom>
        </p:spPr>
      </p:pic>
      <p:sp>
        <p:nvSpPr>
          <p:cNvPr id="8" name="TextBox 7">
            <a:extLst>
              <a:ext uri="{FF2B5EF4-FFF2-40B4-BE49-F238E27FC236}">
                <a16:creationId xmlns:a16="http://schemas.microsoft.com/office/drawing/2014/main" id="{92238762-BCAD-A2D0-C835-1F1556259C6A}"/>
              </a:ext>
            </a:extLst>
          </p:cNvPr>
          <p:cNvSpPr txBox="1"/>
          <p:nvPr/>
        </p:nvSpPr>
        <p:spPr>
          <a:xfrm>
            <a:off x="383219" y="1429883"/>
            <a:ext cx="4501602" cy="5262979"/>
          </a:xfrm>
          <a:prstGeom prst="rect">
            <a:avLst/>
          </a:prstGeom>
          <a:noFill/>
        </p:spPr>
        <p:txBody>
          <a:bodyPr wrap="square">
            <a:spAutoFit/>
          </a:bodyPr>
          <a:lstStyle/>
          <a:p>
            <a:r>
              <a:rPr lang="en-US" b="0" i="0" u="none" strike="noStrike" dirty="0">
                <a:solidFill>
                  <a:srgbClr val="1F1F1F"/>
                </a:solidFill>
                <a:effectLst/>
                <a:latin typeface="Calibri" panose="020F0502020204030204" pitchFamily="34" charset="0"/>
                <a:ea typeface="Calibri" panose="020F0502020204030204" pitchFamily="34" charset="0"/>
                <a:cs typeface="Calibri" panose="020F0502020204030204" pitchFamily="34" charset="0"/>
              </a:rPr>
              <a:t>This chart presents the issue counts for claims categorized as “At Risk”, highlighting the specific problems that contribute to their higher risk classification. </a:t>
            </a:r>
          </a:p>
          <a:p>
            <a:endParaRPr lang="en-US" dirty="0">
              <a:solidFill>
                <a:srgbClr val="1F1F1F"/>
              </a:solidFill>
              <a:latin typeface="Calibri" panose="020F0502020204030204" pitchFamily="34" charset="0"/>
              <a:ea typeface="Calibri" panose="020F0502020204030204" pitchFamily="34" charset="0"/>
              <a:cs typeface="Calibri" panose="020F0502020204030204" pitchFamily="34" charset="0"/>
            </a:endParaRPr>
          </a:p>
          <a:p>
            <a:r>
              <a:rPr lang="en-US" b="0" i="0" u="none" strike="noStrike" dirty="0">
                <a:solidFill>
                  <a:srgbClr val="1F1F1F"/>
                </a:solidFill>
                <a:effectLst/>
                <a:latin typeface="Calibri" panose="020F0502020204030204" pitchFamily="34" charset="0"/>
                <a:ea typeface="Calibri" panose="020F0502020204030204" pitchFamily="34" charset="0"/>
                <a:cs typeface="Calibri" panose="020F0502020204030204" pitchFamily="34" charset="0"/>
              </a:rPr>
              <a:t>These are the issues that drive claims into the high-risk category:</a:t>
            </a:r>
          </a:p>
          <a:p>
            <a:endParaRPr lang="en-US" dirty="0">
              <a:solidFill>
                <a:srgbClr val="1F1F1F"/>
              </a:solidFill>
              <a:latin typeface="Calibri" panose="020F0502020204030204" pitchFamily="34" charset="0"/>
              <a:ea typeface="Calibri" panose="020F0502020204030204" pitchFamily="34" charset="0"/>
              <a:cs typeface="Calibri" panose="020F0502020204030204" pitchFamily="34" charset="0"/>
            </a:endParaRPr>
          </a:p>
          <a:p>
            <a:pPr marL="285750" indent="-285750">
              <a:buFont typeface="Arial" panose="020B0604020202020204" pitchFamily="34" charset="0"/>
              <a:buChar char="•"/>
            </a:pPr>
            <a:r>
              <a:rPr lang="en-US" dirty="0">
                <a:solidFill>
                  <a:srgbClr val="1F1F1F"/>
                </a:solidFill>
                <a:latin typeface="Calibri" panose="020F0502020204030204" pitchFamily="34" charset="0"/>
                <a:ea typeface="Calibri" panose="020F0502020204030204" pitchFamily="34" charset="0"/>
                <a:cs typeface="Calibri" panose="020F0502020204030204" pitchFamily="34" charset="0"/>
              </a:rPr>
              <a:t>Incomplete Documentation </a:t>
            </a:r>
          </a:p>
          <a:p>
            <a:pPr marL="285750" indent="-285750">
              <a:buFont typeface="Arial" panose="020B0604020202020204" pitchFamily="34" charset="0"/>
              <a:buChar char="•"/>
            </a:pPr>
            <a:r>
              <a:rPr lang="en-US" dirty="0">
                <a:solidFill>
                  <a:srgbClr val="1F1F1F"/>
                </a:solidFill>
                <a:latin typeface="Calibri" panose="020F0502020204030204" pitchFamily="34" charset="0"/>
                <a:ea typeface="Calibri" panose="020F0502020204030204" pitchFamily="34" charset="0"/>
                <a:cs typeface="Calibri" panose="020F0502020204030204" pitchFamily="34" charset="0"/>
              </a:rPr>
              <a:t>Denied Claims </a:t>
            </a:r>
          </a:p>
          <a:p>
            <a:pPr marL="285750" indent="-285750">
              <a:buFont typeface="Arial" panose="020B0604020202020204" pitchFamily="34" charset="0"/>
              <a:buChar char="•"/>
            </a:pPr>
            <a:r>
              <a:rPr lang="en-US" dirty="0">
                <a:solidFill>
                  <a:srgbClr val="1F1F1F"/>
                </a:solidFill>
                <a:latin typeface="Calibri" panose="020F0502020204030204" pitchFamily="34" charset="0"/>
                <a:ea typeface="Calibri" panose="020F0502020204030204" pitchFamily="34" charset="0"/>
                <a:cs typeface="Calibri" panose="020F0502020204030204" pitchFamily="34" charset="0"/>
              </a:rPr>
              <a:t>Missing Prior Authorization </a:t>
            </a:r>
          </a:p>
          <a:p>
            <a:pPr marL="285750" indent="-285750">
              <a:buFont typeface="Arial" panose="020B0604020202020204" pitchFamily="34" charset="0"/>
              <a:buChar char="•"/>
            </a:pPr>
            <a:r>
              <a:rPr lang="en-US" dirty="0">
                <a:solidFill>
                  <a:srgbClr val="1F1F1F"/>
                </a:solidFill>
                <a:latin typeface="Calibri" panose="020F0502020204030204" pitchFamily="34" charset="0"/>
                <a:ea typeface="Calibri" panose="020F0502020204030204" pitchFamily="34" charset="0"/>
                <a:cs typeface="Calibri" panose="020F0502020204030204" pitchFamily="34" charset="0"/>
              </a:rPr>
              <a:t>Timely Filing Denial </a:t>
            </a:r>
          </a:p>
          <a:p>
            <a:pPr marL="285750" indent="-285750">
              <a:buFont typeface="Arial" panose="020B0604020202020204" pitchFamily="34" charset="0"/>
              <a:buChar char="•"/>
            </a:pPr>
            <a:endParaRPr lang="en-US" dirty="0">
              <a:solidFill>
                <a:srgbClr val="1F1F1F"/>
              </a:solidFill>
              <a:latin typeface="Calibri" panose="020F0502020204030204" pitchFamily="34" charset="0"/>
              <a:ea typeface="Calibri" panose="020F0502020204030204" pitchFamily="34" charset="0"/>
              <a:cs typeface="Calibri" panose="020F0502020204030204" pitchFamily="34" charset="0"/>
            </a:endParaRPr>
          </a:p>
          <a:p>
            <a:r>
              <a:rPr lang="en-US" b="1" dirty="0">
                <a:solidFill>
                  <a:srgbClr val="1F1F1F"/>
                </a:solidFill>
                <a:latin typeface="Calibri" panose="020F0502020204030204" pitchFamily="34" charset="0"/>
                <a:ea typeface="Calibri" panose="020F0502020204030204" pitchFamily="34" charset="0"/>
                <a:cs typeface="Calibri" panose="020F0502020204030204" pitchFamily="34" charset="0"/>
              </a:rPr>
              <a:t>Impact:</a:t>
            </a:r>
          </a:p>
          <a:p>
            <a:endParaRPr lang="en-US" dirty="0">
              <a:solidFill>
                <a:srgbClr val="1F1F1F"/>
              </a:solidFill>
              <a:latin typeface="Calibri" panose="020F0502020204030204" pitchFamily="34" charset="0"/>
              <a:ea typeface="Calibri" panose="020F0502020204030204" pitchFamily="34" charset="0"/>
              <a:cs typeface="Calibri" panose="020F0502020204030204" pitchFamily="34" charset="0"/>
            </a:endParaRPr>
          </a:p>
          <a:p>
            <a:r>
              <a:rPr lang="en-US" dirty="0">
                <a:solidFill>
                  <a:srgbClr val="1F1F1F"/>
                </a:solidFill>
                <a:latin typeface="Calibri" panose="020F0502020204030204" pitchFamily="34" charset="0"/>
                <a:ea typeface="Calibri" panose="020F0502020204030204" pitchFamily="34" charset="0"/>
                <a:cs typeface="Calibri" panose="020F0502020204030204" pitchFamily="34" charset="0"/>
              </a:rPr>
              <a:t>The analysis demonstrates that documentation quality is the dominant risk driver, with denial outcomes representing the second largest risk factor, indicating deficiencies are strongly associated with:</a:t>
            </a:r>
          </a:p>
          <a:p>
            <a:endParaRPr lang="en-US" dirty="0">
              <a:solidFill>
                <a:srgbClr val="1F1F1F"/>
              </a:solidFill>
              <a:latin typeface="Calibri" panose="020F0502020204030204" pitchFamily="34" charset="0"/>
              <a:ea typeface="Calibri" panose="020F0502020204030204" pitchFamily="34" charset="0"/>
              <a:cs typeface="Calibri" panose="020F0502020204030204" pitchFamily="34" charset="0"/>
            </a:endParaRPr>
          </a:p>
          <a:p>
            <a:pPr marL="285750" indent="-285750">
              <a:buFont typeface="Arial" panose="020B0604020202020204" pitchFamily="34" charset="0"/>
              <a:buChar char="•"/>
            </a:pPr>
            <a:r>
              <a:rPr lang="en-US" dirty="0">
                <a:solidFill>
                  <a:srgbClr val="1F1F1F"/>
                </a:solidFill>
                <a:latin typeface="Calibri" panose="020F0502020204030204" pitchFamily="34" charset="0"/>
                <a:ea typeface="Calibri" panose="020F0502020204030204" pitchFamily="34" charset="0"/>
                <a:cs typeface="Calibri" panose="020F0502020204030204" pitchFamily="34" charset="0"/>
              </a:rPr>
              <a:t>Increased manual review</a:t>
            </a:r>
          </a:p>
          <a:p>
            <a:pPr marL="285750" indent="-285750">
              <a:buFont typeface="Arial" panose="020B0604020202020204" pitchFamily="34" charset="0"/>
              <a:buChar char="•"/>
            </a:pPr>
            <a:r>
              <a:rPr lang="en-US" dirty="0">
                <a:solidFill>
                  <a:srgbClr val="1F1F1F"/>
                </a:solidFill>
                <a:latin typeface="Calibri" panose="020F0502020204030204" pitchFamily="34" charset="0"/>
                <a:ea typeface="Calibri" panose="020F0502020204030204" pitchFamily="34" charset="0"/>
                <a:cs typeface="Calibri" panose="020F0502020204030204" pitchFamily="34" charset="0"/>
              </a:rPr>
              <a:t>Claim rework </a:t>
            </a:r>
          </a:p>
          <a:p>
            <a:pPr marL="285750" indent="-285750">
              <a:buFont typeface="Arial" panose="020B0604020202020204" pitchFamily="34" charset="0"/>
              <a:buChar char="•"/>
            </a:pPr>
            <a:r>
              <a:rPr lang="en-US" dirty="0">
                <a:solidFill>
                  <a:srgbClr val="1F1F1F"/>
                </a:solidFill>
                <a:latin typeface="Calibri" panose="020F0502020204030204" pitchFamily="34" charset="0"/>
                <a:ea typeface="Calibri" panose="020F0502020204030204" pitchFamily="34" charset="0"/>
                <a:cs typeface="Calibri" panose="020F0502020204030204" pitchFamily="34" charset="0"/>
              </a:rPr>
              <a:t>Higher denial exposure </a:t>
            </a:r>
          </a:p>
          <a:p>
            <a:pPr marL="285750" indent="-285750">
              <a:buFont typeface="Arial" panose="020B0604020202020204" pitchFamily="34" charset="0"/>
              <a:buChar char="•"/>
            </a:pPr>
            <a:r>
              <a:rPr lang="en-US" dirty="0">
                <a:solidFill>
                  <a:srgbClr val="1F1F1F"/>
                </a:solidFill>
                <a:latin typeface="Calibri" panose="020F0502020204030204" pitchFamily="34" charset="0"/>
                <a:ea typeface="Calibri" panose="020F0502020204030204" pitchFamily="34" charset="0"/>
                <a:cs typeface="Calibri" panose="020F0502020204030204" pitchFamily="34" charset="0"/>
              </a:rPr>
              <a:t>Increased administration cost</a:t>
            </a:r>
          </a:p>
          <a:p>
            <a:pPr marL="285750" indent="-285750">
              <a:buFont typeface="Arial" panose="020B0604020202020204" pitchFamily="34" charset="0"/>
              <a:buChar char="•"/>
            </a:pPr>
            <a:endParaRPr lang="en-US" dirty="0">
              <a:solidFill>
                <a:srgbClr val="1F1F1F"/>
              </a:solidFill>
              <a:latin typeface="+mn-lt"/>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88"/>
        <p:cNvGrpSpPr/>
        <p:nvPr/>
      </p:nvGrpSpPr>
      <p:grpSpPr>
        <a:xfrm>
          <a:off x="0" y="0"/>
          <a:ext cx="0" cy="0"/>
          <a:chOff x="0" y="0"/>
          <a:chExt cx="0" cy="0"/>
        </a:xfrm>
      </p:grpSpPr>
      <p:pic>
        <p:nvPicPr>
          <p:cNvPr id="190" name="Google Shape;190;p9"/>
          <p:cNvPicPr preferRelativeResize="0"/>
          <p:nvPr/>
        </p:nvPicPr>
        <p:blipFill rotWithShape="1">
          <a:blip r:embed="rId3">
            <a:alphaModFix/>
          </a:blip>
          <a:srcRect/>
          <a:stretch/>
        </p:blipFill>
        <p:spPr>
          <a:xfrm>
            <a:off x="5316819" y="1517312"/>
            <a:ext cx="6294306" cy="4185656"/>
          </a:xfrm>
          <a:prstGeom prst="rect">
            <a:avLst/>
          </a:prstGeom>
          <a:noFill/>
          <a:ln>
            <a:noFill/>
          </a:ln>
        </p:spPr>
      </p:pic>
      <p:sp>
        <p:nvSpPr>
          <p:cNvPr id="4" name="Google Shape;153;p4">
            <a:extLst>
              <a:ext uri="{FF2B5EF4-FFF2-40B4-BE49-F238E27FC236}">
                <a16:creationId xmlns:a16="http://schemas.microsoft.com/office/drawing/2014/main" id="{AD690224-49CF-0013-7907-BA3FEFE169A0}"/>
              </a:ext>
            </a:extLst>
          </p:cNvPr>
          <p:cNvSpPr txBox="1"/>
          <p:nvPr/>
        </p:nvSpPr>
        <p:spPr>
          <a:xfrm>
            <a:off x="455409" y="613059"/>
            <a:ext cx="6294306" cy="904200"/>
          </a:xfrm>
          <a:prstGeom prst="rect">
            <a:avLst/>
          </a:prstGeom>
          <a:noFill/>
          <a:ln>
            <a:noFill/>
          </a:ln>
        </p:spPr>
        <p:txBody>
          <a:bodyPr spcFirstLastPara="1" wrap="square" lIns="91425" tIns="45700" rIns="91425" bIns="45700" anchor="ctr" anchorCtr="0">
            <a:normAutofit/>
          </a:bodyPr>
          <a:lstStyle/>
          <a:p>
            <a:pPr marL="0" marR="0" lvl="0" indent="0" algn="l" rtl="0">
              <a:lnSpc>
                <a:spcPct val="90000"/>
              </a:lnSpc>
              <a:spcBef>
                <a:spcPts val="0"/>
              </a:spcBef>
              <a:spcAft>
                <a:spcPts val="0"/>
              </a:spcAft>
              <a:buClr>
                <a:schemeClr val="dk1"/>
              </a:buClr>
              <a:buSzPts val="2400"/>
              <a:buFont typeface="Calibri"/>
              <a:buNone/>
            </a:pPr>
            <a:r>
              <a:rPr lang="en-US" sz="2400" b="1" dirty="0">
                <a:solidFill>
                  <a:schemeClr val="dk1"/>
                </a:solidFill>
                <a:latin typeface="Calibri"/>
                <a:ea typeface="Calibri"/>
                <a:cs typeface="Calibri"/>
                <a:sym typeface="Calibri"/>
              </a:rPr>
              <a:t>Denied Claim Overview </a:t>
            </a:r>
            <a:endParaRPr sz="2400" dirty="0">
              <a:solidFill>
                <a:schemeClr val="dk1"/>
              </a:solidFill>
              <a:latin typeface="Calibri"/>
              <a:ea typeface="Calibri"/>
              <a:cs typeface="Calibri"/>
              <a:sym typeface="Calibri"/>
            </a:endParaRPr>
          </a:p>
        </p:txBody>
      </p:sp>
      <p:sp>
        <p:nvSpPr>
          <p:cNvPr id="7" name="Rectangle 2">
            <a:extLst>
              <a:ext uri="{FF2B5EF4-FFF2-40B4-BE49-F238E27FC236}">
                <a16:creationId xmlns:a16="http://schemas.microsoft.com/office/drawing/2014/main" id="{C8C2A084-8939-0160-EF20-086EBE76CEAD}"/>
              </a:ext>
            </a:extLst>
          </p:cNvPr>
          <p:cNvSpPr>
            <a:spLocks noChangeArrowheads="1"/>
          </p:cNvSpPr>
          <p:nvPr/>
        </p:nvSpPr>
        <p:spPr bwMode="auto">
          <a:xfrm>
            <a:off x="455409" y="1409537"/>
            <a:ext cx="4501601" cy="440120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b="0" i="0" u="none" strike="noStrike" cap="none" normalizeH="0" baseline="0" dirty="0">
                <a:ln>
                  <a:noFill/>
                </a:ln>
                <a:solidFill>
                  <a:srgbClr val="000000"/>
                </a:solidFill>
                <a:effectLst/>
                <a:latin typeface="Calibri" panose="020F0502020204030204" pitchFamily="34" charset="0"/>
                <a:ea typeface="Calibri" panose="020F0502020204030204" pitchFamily="34" charset="0"/>
                <a:cs typeface="Calibri" panose="020F0502020204030204" pitchFamily="34" charset="0"/>
              </a:rPr>
              <a:t>This analysis examines the primary denial categories contributing to the overall denial rate of </a:t>
            </a:r>
            <a:r>
              <a:rPr kumimoji="0" lang="en-US" altLang="en-US" b="1" i="0" u="none" strike="noStrike" cap="none" normalizeH="0" baseline="0" dirty="0">
                <a:ln>
                  <a:noFill/>
                </a:ln>
                <a:solidFill>
                  <a:srgbClr val="000000"/>
                </a:solidFill>
                <a:effectLst/>
                <a:latin typeface="Calibri" panose="020F0502020204030204" pitchFamily="34" charset="0"/>
                <a:ea typeface="Calibri" panose="020F0502020204030204" pitchFamily="34" charset="0"/>
                <a:cs typeface="Calibri" panose="020F0502020204030204" pitchFamily="34" charset="0"/>
              </a:rPr>
              <a:t>28% </a:t>
            </a:r>
            <a:r>
              <a:rPr kumimoji="0" lang="en-US" altLang="en-US" i="0" u="none" strike="noStrike" cap="none" normalizeH="0" baseline="0" dirty="0">
                <a:ln>
                  <a:noFill/>
                </a:ln>
                <a:solidFill>
                  <a:srgbClr val="000000"/>
                </a:solidFill>
                <a:effectLst/>
                <a:latin typeface="Calibri" panose="020F0502020204030204" pitchFamily="34" charset="0"/>
                <a:ea typeface="Calibri" panose="020F0502020204030204" pitchFamily="34" charset="0"/>
                <a:cs typeface="Calibri" panose="020F0502020204030204" pitchFamily="34" charset="0"/>
              </a:rPr>
              <a:t>for High-Risk claim drivers</a:t>
            </a:r>
            <a:r>
              <a:rPr kumimoji="0" lang="en-US" altLang="en-US" b="0" i="0" u="none" strike="noStrike" cap="none" normalizeH="0" baseline="0" dirty="0">
                <a:ln>
                  <a:noFill/>
                </a:ln>
                <a:solidFill>
                  <a:srgbClr val="000000"/>
                </a:solidFill>
                <a:effectLst/>
                <a:latin typeface="Calibri" panose="020F0502020204030204" pitchFamily="34" charset="0"/>
                <a:ea typeface="Calibri" panose="020F0502020204030204" pitchFamily="34" charset="0"/>
                <a:cs typeface="Calibri" panose="020F0502020204030204" pitchFamily="34" charset="0"/>
              </a:rPr>
              <a:t>. </a:t>
            </a:r>
          </a:p>
          <a:p>
            <a:pPr marL="0" marR="0" lvl="0" indent="0" algn="l" defTabSz="914400" rtl="0" eaLnBrk="0" fontAlgn="base" latinLnBrk="0" hangingPunct="0">
              <a:lnSpc>
                <a:spcPct val="100000"/>
              </a:lnSpc>
              <a:spcBef>
                <a:spcPct val="0"/>
              </a:spcBef>
              <a:spcAft>
                <a:spcPct val="0"/>
              </a:spcAft>
              <a:buClrTx/>
              <a:buSzTx/>
              <a:buFontTx/>
              <a:buNone/>
              <a:tabLst/>
            </a:pPr>
            <a:endParaRPr lang="en-US" altLang="en-US" dirty="0">
              <a:solidFill>
                <a:srgbClr val="000000"/>
              </a:solidFill>
              <a:latin typeface="Calibri" panose="020F0502020204030204" pitchFamily="34" charset="0"/>
              <a:ea typeface="Calibri" panose="020F0502020204030204" pitchFamily="34" charset="0"/>
              <a:cs typeface="Calibri" panose="020F050202020403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b="0" i="0" u="none" strike="noStrike" cap="none" normalizeH="0" baseline="0" dirty="0">
                <a:ln>
                  <a:noFill/>
                </a:ln>
                <a:solidFill>
                  <a:srgbClr val="000000"/>
                </a:solidFill>
                <a:effectLst/>
                <a:latin typeface="Calibri" panose="020F0502020204030204" pitchFamily="34" charset="0"/>
                <a:ea typeface="Calibri" panose="020F0502020204030204" pitchFamily="34" charset="0"/>
                <a:cs typeface="Calibri" panose="020F0502020204030204" pitchFamily="34" charset="0"/>
              </a:rPr>
              <a:t>Understanding the root causes of denied claims allows healthcare organizations to focus corrective actions on the most preventable denial drivers.</a:t>
            </a:r>
          </a:p>
          <a:p>
            <a:pPr marL="0" marR="0" lvl="0" indent="0" algn="l" defTabSz="914400" rtl="0" eaLnBrk="0" fontAlgn="base" latinLnBrk="0" hangingPunct="0">
              <a:lnSpc>
                <a:spcPct val="100000"/>
              </a:lnSpc>
              <a:spcBef>
                <a:spcPct val="0"/>
              </a:spcBef>
              <a:spcAft>
                <a:spcPct val="0"/>
              </a:spcAft>
              <a:buClrTx/>
              <a:buSzTx/>
              <a:buFontTx/>
              <a:buNone/>
              <a:tabLst/>
            </a:pPr>
            <a:endParaRPr lang="en-US" altLang="en-US" dirty="0">
              <a:solidFill>
                <a:srgbClr val="000000"/>
              </a:solidFill>
              <a:latin typeface="Calibri" panose="020F0502020204030204" pitchFamily="34" charset="0"/>
              <a:ea typeface="Calibri" panose="020F0502020204030204" pitchFamily="34" charset="0"/>
              <a:cs typeface="Calibri" panose="020F050202020403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b="0" i="0" u="none" strike="noStrike" cap="none" normalizeH="0" baseline="0" dirty="0">
                <a:ln>
                  <a:noFill/>
                </a:ln>
                <a:solidFill>
                  <a:srgbClr val="000000"/>
                </a:solidFill>
                <a:effectLst/>
                <a:latin typeface="Calibri" panose="020F0502020204030204" pitchFamily="34" charset="0"/>
                <a:ea typeface="Calibri" panose="020F0502020204030204" pitchFamily="34" charset="0"/>
                <a:cs typeface="Calibri" panose="020F0502020204030204" pitchFamily="34" charset="0"/>
              </a:rPr>
              <a:t>Primary Drivers:</a:t>
            </a:r>
          </a:p>
          <a:p>
            <a:pPr marL="285750" marR="0" lvl="0" indent="-285750" algn="l" defTabSz="914400" rtl="0" eaLnBrk="0" fontAlgn="base" latinLnBrk="0" hangingPunct="0">
              <a:lnSpc>
                <a:spcPct val="100000"/>
              </a:lnSpc>
              <a:spcBef>
                <a:spcPct val="0"/>
              </a:spcBef>
              <a:spcAft>
                <a:spcPct val="0"/>
              </a:spcAft>
              <a:buClrTx/>
              <a:buSzTx/>
              <a:buFont typeface="Wingdings" pitchFamily="2" charset="2"/>
              <a:buChar char="§"/>
              <a:tabLst/>
            </a:pPr>
            <a:r>
              <a:rPr lang="en-US" altLang="en-US" dirty="0">
                <a:solidFill>
                  <a:srgbClr val="000000"/>
                </a:solidFill>
                <a:latin typeface="Calibri" panose="020F0502020204030204" pitchFamily="34" charset="0"/>
                <a:ea typeface="Calibri" panose="020F0502020204030204" pitchFamily="34" charset="0"/>
                <a:cs typeface="Calibri" panose="020F0502020204030204" pitchFamily="34" charset="0"/>
              </a:rPr>
              <a:t>Medical Necessity </a:t>
            </a:r>
          </a:p>
          <a:p>
            <a:pPr marL="285750" marR="0" lvl="0" indent="-285750" algn="l" defTabSz="914400" rtl="0" eaLnBrk="0" fontAlgn="base" latinLnBrk="0" hangingPunct="0">
              <a:lnSpc>
                <a:spcPct val="100000"/>
              </a:lnSpc>
              <a:spcBef>
                <a:spcPct val="0"/>
              </a:spcBef>
              <a:spcAft>
                <a:spcPct val="0"/>
              </a:spcAft>
              <a:buClrTx/>
              <a:buSzTx/>
              <a:buFont typeface="Wingdings" pitchFamily="2" charset="2"/>
              <a:buChar char="§"/>
              <a:tabLst/>
            </a:pPr>
            <a:r>
              <a:rPr kumimoji="0" lang="en-US" altLang="en-US" b="0" i="0" u="none" strike="noStrike" cap="none" normalizeH="0" baseline="0" dirty="0">
                <a:ln>
                  <a:noFill/>
                </a:ln>
                <a:solidFill>
                  <a:srgbClr val="000000"/>
                </a:solidFill>
                <a:effectLst/>
                <a:latin typeface="Calibri" panose="020F0502020204030204" pitchFamily="34" charset="0"/>
                <a:ea typeface="Calibri" panose="020F0502020204030204" pitchFamily="34" charset="0"/>
                <a:cs typeface="Calibri" panose="020F0502020204030204" pitchFamily="34" charset="0"/>
              </a:rPr>
              <a:t>Coding Error</a:t>
            </a:r>
          </a:p>
          <a:p>
            <a:pPr marL="285750" marR="0" lvl="0" indent="-285750" algn="l" defTabSz="914400" rtl="0" eaLnBrk="0" fontAlgn="base" latinLnBrk="0" hangingPunct="0">
              <a:lnSpc>
                <a:spcPct val="100000"/>
              </a:lnSpc>
              <a:spcBef>
                <a:spcPct val="0"/>
              </a:spcBef>
              <a:spcAft>
                <a:spcPct val="0"/>
              </a:spcAft>
              <a:buClrTx/>
              <a:buSzTx/>
              <a:buFont typeface="Wingdings" pitchFamily="2" charset="2"/>
              <a:buChar char="§"/>
              <a:tabLst/>
            </a:pPr>
            <a:r>
              <a:rPr lang="en-US" altLang="en-US" dirty="0">
                <a:solidFill>
                  <a:srgbClr val="000000"/>
                </a:solidFill>
                <a:latin typeface="Calibri" panose="020F0502020204030204" pitchFamily="34" charset="0"/>
                <a:ea typeface="Calibri" panose="020F0502020204030204" pitchFamily="34" charset="0"/>
                <a:cs typeface="Calibri" panose="020F0502020204030204" pitchFamily="34" charset="0"/>
              </a:rPr>
              <a:t>Missing Authorization</a:t>
            </a:r>
          </a:p>
          <a:p>
            <a:pPr marL="285750" marR="0" lvl="0" indent="-285750" algn="l" defTabSz="914400" rtl="0" eaLnBrk="0" fontAlgn="base" latinLnBrk="0" hangingPunct="0">
              <a:lnSpc>
                <a:spcPct val="100000"/>
              </a:lnSpc>
              <a:spcBef>
                <a:spcPct val="0"/>
              </a:spcBef>
              <a:spcAft>
                <a:spcPct val="0"/>
              </a:spcAft>
              <a:buClrTx/>
              <a:buSzTx/>
              <a:buFont typeface="Wingdings" pitchFamily="2" charset="2"/>
              <a:buChar char="§"/>
              <a:tabLst/>
            </a:pPr>
            <a:endParaRPr kumimoji="0" lang="en-US" altLang="en-US" b="0" i="0" u="none" strike="noStrike" cap="none" normalizeH="0" baseline="0" dirty="0">
              <a:ln>
                <a:noFill/>
              </a:ln>
              <a:solidFill>
                <a:srgbClr val="000000"/>
              </a:solidFill>
              <a:effectLst/>
              <a:latin typeface="Calibri" panose="020F0502020204030204" pitchFamily="34" charset="0"/>
              <a:ea typeface="Calibri" panose="020F0502020204030204" pitchFamily="34" charset="0"/>
              <a:cs typeface="Calibri" panose="020F0502020204030204" pitchFamily="34" charset="0"/>
            </a:endParaRPr>
          </a:p>
          <a:p>
            <a:pPr lvl="0">
              <a:buClrTx/>
            </a:pPr>
            <a:r>
              <a:rPr lang="en-US" dirty="0">
                <a:latin typeface="Calibri" panose="020F0502020204030204" pitchFamily="34" charset="0"/>
                <a:ea typeface="Calibri" panose="020F0502020204030204" pitchFamily="34" charset="0"/>
                <a:cs typeface="Calibri" panose="020F0502020204030204" pitchFamily="34" charset="0"/>
              </a:rPr>
              <a:t>Together, these three categories account for approximately 68% of all denied claims. </a:t>
            </a:r>
          </a:p>
          <a:p>
            <a:pPr lvl="0">
              <a:buClrTx/>
            </a:pPr>
            <a:endParaRPr lang="en-US" dirty="0">
              <a:latin typeface="Calibri" panose="020F0502020204030204" pitchFamily="34" charset="0"/>
              <a:ea typeface="Calibri" panose="020F0502020204030204" pitchFamily="34" charset="0"/>
              <a:cs typeface="Calibri" panose="020F0502020204030204" pitchFamily="34" charset="0"/>
            </a:endParaRPr>
          </a:p>
          <a:p>
            <a:pPr lvl="0">
              <a:buClrTx/>
            </a:pPr>
            <a:r>
              <a:rPr lang="en-US" dirty="0">
                <a:latin typeface="Calibri" panose="020F0502020204030204" pitchFamily="34" charset="0"/>
                <a:ea typeface="Calibri" panose="020F0502020204030204" pitchFamily="34" charset="0"/>
                <a:cs typeface="Calibri" panose="020F0502020204030204" pitchFamily="34" charset="0"/>
              </a:rPr>
              <a:t>This suggests that improvements in clinical documentation, coding accuracy, and authorization management could substantially reduce denial volume and improve overall claims performance.</a:t>
            </a:r>
            <a:endParaRPr kumimoji="0" lang="en-US" altLang="en-US"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95"/>
        <p:cNvGrpSpPr/>
        <p:nvPr/>
      </p:nvGrpSpPr>
      <p:grpSpPr>
        <a:xfrm>
          <a:off x="0" y="0"/>
          <a:ext cx="0" cy="0"/>
          <a:chOff x="0" y="0"/>
          <a:chExt cx="0" cy="0"/>
        </a:xfrm>
      </p:grpSpPr>
      <p:pic>
        <p:nvPicPr>
          <p:cNvPr id="197" name="Google Shape;197;p10"/>
          <p:cNvPicPr preferRelativeResize="0"/>
          <p:nvPr/>
        </p:nvPicPr>
        <p:blipFill rotWithShape="1">
          <a:blip r:embed="rId3">
            <a:alphaModFix/>
          </a:blip>
          <a:srcRect/>
          <a:stretch/>
        </p:blipFill>
        <p:spPr>
          <a:xfrm>
            <a:off x="846870" y="2280960"/>
            <a:ext cx="9584509" cy="4051357"/>
          </a:xfrm>
          <a:prstGeom prst="rect">
            <a:avLst/>
          </a:prstGeom>
          <a:noFill/>
          <a:ln>
            <a:noFill/>
          </a:ln>
        </p:spPr>
      </p:pic>
      <p:sp>
        <p:nvSpPr>
          <p:cNvPr id="2" name="Google Shape;153;p4">
            <a:extLst>
              <a:ext uri="{FF2B5EF4-FFF2-40B4-BE49-F238E27FC236}">
                <a16:creationId xmlns:a16="http://schemas.microsoft.com/office/drawing/2014/main" id="{A9C41FCD-CB74-09D0-B62C-F1FCFA70DDD3}"/>
              </a:ext>
            </a:extLst>
          </p:cNvPr>
          <p:cNvSpPr txBox="1"/>
          <p:nvPr/>
        </p:nvSpPr>
        <p:spPr>
          <a:xfrm>
            <a:off x="467441" y="525683"/>
            <a:ext cx="6294306" cy="904200"/>
          </a:xfrm>
          <a:prstGeom prst="rect">
            <a:avLst/>
          </a:prstGeom>
          <a:noFill/>
          <a:ln>
            <a:noFill/>
          </a:ln>
        </p:spPr>
        <p:txBody>
          <a:bodyPr spcFirstLastPara="1" wrap="square" lIns="91425" tIns="45700" rIns="91425" bIns="45700" anchor="ctr" anchorCtr="0">
            <a:normAutofit/>
          </a:bodyPr>
          <a:lstStyle/>
          <a:p>
            <a:pPr marL="0" marR="0" lvl="0" indent="0" algn="l" rtl="0">
              <a:lnSpc>
                <a:spcPct val="90000"/>
              </a:lnSpc>
              <a:spcBef>
                <a:spcPts val="0"/>
              </a:spcBef>
              <a:spcAft>
                <a:spcPts val="0"/>
              </a:spcAft>
              <a:buClr>
                <a:schemeClr val="dk1"/>
              </a:buClr>
              <a:buSzPts val="2400"/>
              <a:buFont typeface="Calibri"/>
              <a:buNone/>
            </a:pPr>
            <a:r>
              <a:rPr lang="en-US" sz="2400" b="1" dirty="0">
                <a:solidFill>
                  <a:schemeClr val="dk1"/>
                </a:solidFill>
                <a:latin typeface="Calibri"/>
                <a:ea typeface="Calibri"/>
                <a:cs typeface="Calibri"/>
                <a:sym typeface="Calibri"/>
              </a:rPr>
              <a:t>Incomplete Documentation Overview </a:t>
            </a:r>
            <a:endParaRPr sz="2400" dirty="0">
              <a:solidFill>
                <a:schemeClr val="dk1"/>
              </a:solidFill>
              <a:latin typeface="Calibri"/>
              <a:ea typeface="Calibri"/>
              <a:cs typeface="Calibri"/>
              <a:sym typeface="Calibri"/>
            </a:endParaRPr>
          </a:p>
        </p:txBody>
      </p:sp>
      <p:sp>
        <p:nvSpPr>
          <p:cNvPr id="3" name="TextBox 2">
            <a:extLst>
              <a:ext uri="{FF2B5EF4-FFF2-40B4-BE49-F238E27FC236}">
                <a16:creationId xmlns:a16="http://schemas.microsoft.com/office/drawing/2014/main" id="{3F9A6626-985C-8CF5-E2EE-B9501C8B0456}"/>
              </a:ext>
            </a:extLst>
          </p:cNvPr>
          <p:cNvSpPr txBox="1"/>
          <p:nvPr/>
        </p:nvSpPr>
        <p:spPr>
          <a:xfrm>
            <a:off x="509984" y="1326853"/>
            <a:ext cx="10474847" cy="738664"/>
          </a:xfrm>
          <a:prstGeom prst="rect">
            <a:avLst/>
          </a:prstGeom>
          <a:noFill/>
        </p:spPr>
        <p:txBody>
          <a:bodyPr wrap="square" rtlCol="0">
            <a:spAutoFit/>
          </a:bodyPr>
          <a:lstStyle/>
          <a:p>
            <a:r>
              <a:rPr lang="en-US" dirty="0">
                <a:latin typeface="Calibri" panose="020F0502020204030204" pitchFamily="34" charset="0"/>
                <a:ea typeface="Calibri" panose="020F0502020204030204" pitchFamily="34" charset="0"/>
                <a:cs typeface="Calibri" panose="020F0502020204030204" pitchFamily="34" charset="0"/>
              </a:rPr>
              <a:t>Documentation completeness was identified as the largest contributor to claims processing risk. This analysis evaluates the severity of documentation deficiencies across the claim population to determine where operational improvement efforts should be focused</a:t>
            </a:r>
          </a:p>
          <a:p>
            <a:endParaRPr lang="en-US"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95">
          <a:extLst>
            <a:ext uri="{FF2B5EF4-FFF2-40B4-BE49-F238E27FC236}">
              <a16:creationId xmlns:a16="http://schemas.microsoft.com/office/drawing/2014/main" id="{3F7B7F8E-321C-2D8F-C1FB-9E8A0062A44C}"/>
            </a:ext>
          </a:extLst>
        </p:cNvPr>
        <p:cNvGrpSpPr/>
        <p:nvPr/>
      </p:nvGrpSpPr>
      <p:grpSpPr>
        <a:xfrm>
          <a:off x="0" y="0"/>
          <a:ext cx="0" cy="0"/>
          <a:chOff x="0" y="0"/>
          <a:chExt cx="0" cy="0"/>
        </a:xfrm>
      </p:grpSpPr>
      <p:sp>
        <p:nvSpPr>
          <p:cNvPr id="2" name="Google Shape;153;p4">
            <a:extLst>
              <a:ext uri="{FF2B5EF4-FFF2-40B4-BE49-F238E27FC236}">
                <a16:creationId xmlns:a16="http://schemas.microsoft.com/office/drawing/2014/main" id="{B508F5CC-626B-7686-4C26-4E69B91D64D5}"/>
              </a:ext>
            </a:extLst>
          </p:cNvPr>
          <p:cNvSpPr txBox="1"/>
          <p:nvPr/>
        </p:nvSpPr>
        <p:spPr>
          <a:xfrm>
            <a:off x="318584" y="525683"/>
            <a:ext cx="6177908" cy="904200"/>
          </a:xfrm>
          <a:prstGeom prst="rect">
            <a:avLst/>
          </a:prstGeom>
          <a:noFill/>
          <a:ln>
            <a:noFill/>
          </a:ln>
        </p:spPr>
        <p:txBody>
          <a:bodyPr spcFirstLastPara="1" wrap="square" lIns="91425" tIns="45700" rIns="91425" bIns="45700" anchor="ctr" anchorCtr="0">
            <a:normAutofit/>
          </a:bodyPr>
          <a:lstStyle/>
          <a:p>
            <a:pPr lvl="0">
              <a:lnSpc>
                <a:spcPct val="90000"/>
              </a:lnSpc>
              <a:buClr>
                <a:schemeClr val="dk1"/>
              </a:buClr>
              <a:buSzPts val="2400"/>
            </a:pPr>
            <a:r>
              <a:rPr lang="en-US" sz="2000" b="1" dirty="0">
                <a:solidFill>
                  <a:schemeClr val="dk1"/>
                </a:solidFill>
                <a:latin typeface="Calibri"/>
                <a:cs typeface="Calibri"/>
              </a:rPr>
              <a:t>Relationship </a:t>
            </a:r>
            <a:r>
              <a:rPr lang="en-US" sz="2400" b="1" dirty="0">
                <a:solidFill>
                  <a:schemeClr val="dk1"/>
                </a:solidFill>
                <a:latin typeface="Calibri"/>
                <a:cs typeface="Calibri"/>
              </a:rPr>
              <a:t>Between</a:t>
            </a:r>
            <a:r>
              <a:rPr lang="en-US" sz="2000" b="1" dirty="0">
                <a:solidFill>
                  <a:schemeClr val="dk1"/>
                </a:solidFill>
                <a:latin typeface="Calibri"/>
                <a:cs typeface="Calibri"/>
              </a:rPr>
              <a:t> Documentation Completeness and Claim Outcomes</a:t>
            </a:r>
            <a:endParaRPr sz="2000" b="1" dirty="0">
              <a:solidFill>
                <a:schemeClr val="dk1"/>
              </a:solidFill>
              <a:latin typeface="Calibri"/>
              <a:cs typeface="Calibri"/>
              <a:sym typeface="Calibri"/>
            </a:endParaRPr>
          </a:p>
        </p:txBody>
      </p:sp>
      <p:sp>
        <p:nvSpPr>
          <p:cNvPr id="3" name="TextBox 2">
            <a:extLst>
              <a:ext uri="{FF2B5EF4-FFF2-40B4-BE49-F238E27FC236}">
                <a16:creationId xmlns:a16="http://schemas.microsoft.com/office/drawing/2014/main" id="{91EE4D24-93C6-02B1-76D7-A45C72B47F0D}"/>
              </a:ext>
            </a:extLst>
          </p:cNvPr>
          <p:cNvSpPr txBox="1"/>
          <p:nvPr/>
        </p:nvSpPr>
        <p:spPr>
          <a:xfrm>
            <a:off x="318584" y="1551563"/>
            <a:ext cx="3597634" cy="3754874"/>
          </a:xfrm>
          <a:prstGeom prst="rect">
            <a:avLst/>
          </a:prstGeom>
          <a:noFill/>
        </p:spPr>
        <p:txBody>
          <a:bodyPr wrap="square" rtlCol="0">
            <a:spAutoFit/>
          </a:bodyPr>
          <a:lstStyle/>
          <a:p>
            <a:r>
              <a:rPr lang="en-US" dirty="0">
                <a:latin typeface="Calibri" panose="020F0502020204030204" pitchFamily="34" charset="0"/>
                <a:ea typeface="Calibri" panose="020F0502020204030204" pitchFamily="34" charset="0"/>
                <a:cs typeface="Calibri" panose="020F0502020204030204" pitchFamily="34" charset="0"/>
              </a:rPr>
              <a:t>Claims with Critical Documentation Gaps experienced the highest denial rates, while claims with Complete Documentation generated the highest paid outcomes.</a:t>
            </a:r>
          </a:p>
          <a:p>
            <a:endParaRPr lang="en-US" dirty="0">
              <a:latin typeface="Calibri" panose="020F0502020204030204" pitchFamily="34" charset="0"/>
              <a:ea typeface="Calibri" panose="020F0502020204030204" pitchFamily="34" charset="0"/>
              <a:cs typeface="Calibri" panose="020F0502020204030204" pitchFamily="34" charset="0"/>
            </a:endParaRPr>
          </a:p>
          <a:p>
            <a:r>
              <a:rPr lang="en-US" dirty="0">
                <a:latin typeface="Calibri" panose="020F0502020204030204" pitchFamily="34" charset="0"/>
                <a:ea typeface="Calibri" panose="020F0502020204030204" pitchFamily="34" charset="0"/>
                <a:cs typeface="Calibri" panose="020F0502020204030204" pitchFamily="34" charset="0"/>
              </a:rPr>
              <a:t>This demonstrates a strong relationship between documentation quality and claims processing success.</a:t>
            </a:r>
          </a:p>
          <a:p>
            <a:endParaRPr lang="en-US" dirty="0">
              <a:latin typeface="Calibri" panose="020F0502020204030204" pitchFamily="34" charset="0"/>
              <a:ea typeface="Calibri" panose="020F0502020204030204" pitchFamily="34" charset="0"/>
              <a:cs typeface="Calibri" panose="020F0502020204030204" pitchFamily="34" charset="0"/>
            </a:endParaRPr>
          </a:p>
          <a:p>
            <a:r>
              <a:rPr lang="en-US" dirty="0">
                <a:latin typeface="Calibri" panose="020F0502020204030204" pitchFamily="34" charset="0"/>
                <a:ea typeface="Calibri" panose="020F0502020204030204" pitchFamily="34" charset="0"/>
                <a:cs typeface="Calibri" panose="020F0502020204030204" pitchFamily="34" charset="0"/>
              </a:rPr>
              <a:t>This finding validates documentation completeness as the strongest operational risk factor identified in the analysis and demonstrates the importance of improving documentation quality before claim submission.</a:t>
            </a:r>
          </a:p>
          <a:p>
            <a:endParaRPr lang="en-US" dirty="0"/>
          </a:p>
          <a:p>
            <a:endParaRPr lang="en-US" dirty="0"/>
          </a:p>
        </p:txBody>
      </p:sp>
      <p:pic>
        <p:nvPicPr>
          <p:cNvPr id="6" name="Picture 5" descr="A graph with blue squares and numbers&#10;&#10;AI-generated content may be incorrect.">
            <a:extLst>
              <a:ext uri="{FF2B5EF4-FFF2-40B4-BE49-F238E27FC236}">
                <a16:creationId xmlns:a16="http://schemas.microsoft.com/office/drawing/2014/main" id="{3B69FD35-D4D2-F76D-2EC6-FB0AF9A64034}"/>
              </a:ext>
            </a:extLst>
          </p:cNvPr>
          <p:cNvPicPr>
            <a:picLocks noChangeAspect="1"/>
          </p:cNvPicPr>
          <p:nvPr/>
        </p:nvPicPr>
        <p:blipFill>
          <a:blip r:embed="rId3"/>
          <a:stretch>
            <a:fillRect/>
          </a:stretch>
        </p:blipFill>
        <p:spPr>
          <a:xfrm>
            <a:off x="4711181" y="1214274"/>
            <a:ext cx="6866278" cy="4092163"/>
          </a:xfrm>
          <a:prstGeom prst="rect">
            <a:avLst/>
          </a:prstGeom>
        </p:spPr>
      </p:pic>
      <p:sp>
        <p:nvSpPr>
          <p:cNvPr id="7" name="Google Shape;153;p4">
            <a:extLst>
              <a:ext uri="{FF2B5EF4-FFF2-40B4-BE49-F238E27FC236}">
                <a16:creationId xmlns:a16="http://schemas.microsoft.com/office/drawing/2014/main" id="{33E45F45-F832-E329-56E4-7BE216F3FA33}"/>
              </a:ext>
            </a:extLst>
          </p:cNvPr>
          <p:cNvSpPr txBox="1"/>
          <p:nvPr/>
        </p:nvSpPr>
        <p:spPr>
          <a:xfrm>
            <a:off x="7673286" y="525683"/>
            <a:ext cx="1421611" cy="904200"/>
          </a:xfrm>
          <a:prstGeom prst="rect">
            <a:avLst/>
          </a:prstGeom>
          <a:noFill/>
          <a:ln>
            <a:noFill/>
          </a:ln>
        </p:spPr>
        <p:txBody>
          <a:bodyPr spcFirstLastPara="1" wrap="square" lIns="91425" tIns="45700" rIns="91425" bIns="45700" anchor="ctr" anchorCtr="0">
            <a:normAutofit/>
          </a:bodyPr>
          <a:lstStyle/>
          <a:p>
            <a:pPr marL="0" marR="0" lvl="0" indent="0" algn="l" rtl="0">
              <a:lnSpc>
                <a:spcPct val="90000"/>
              </a:lnSpc>
              <a:spcBef>
                <a:spcPts val="0"/>
              </a:spcBef>
              <a:spcAft>
                <a:spcPts val="0"/>
              </a:spcAft>
              <a:buClr>
                <a:schemeClr val="dk1"/>
              </a:buClr>
              <a:buSzPts val="2400"/>
              <a:buFont typeface="Calibri"/>
              <a:buNone/>
            </a:pPr>
            <a:r>
              <a:rPr lang="en-US" sz="2000" b="1" dirty="0">
                <a:solidFill>
                  <a:schemeClr val="dk1"/>
                </a:solidFill>
                <a:latin typeface="Calibri"/>
                <a:ea typeface="Calibri"/>
                <a:cs typeface="Calibri"/>
                <a:sym typeface="Calibri"/>
              </a:rPr>
              <a:t>HEAT MAP</a:t>
            </a:r>
            <a:endParaRPr sz="2000" dirty="0">
              <a:solidFill>
                <a:schemeClr val="dk1"/>
              </a:solidFill>
              <a:latin typeface="Calibri"/>
              <a:ea typeface="Calibri"/>
              <a:cs typeface="Calibri"/>
              <a:sym typeface="Calibri"/>
            </a:endParaRPr>
          </a:p>
        </p:txBody>
      </p:sp>
      <p:sp>
        <p:nvSpPr>
          <p:cNvPr id="8" name="Rectangle 2">
            <a:extLst>
              <a:ext uri="{FF2B5EF4-FFF2-40B4-BE49-F238E27FC236}">
                <a16:creationId xmlns:a16="http://schemas.microsoft.com/office/drawing/2014/main" id="{B532E7DB-49EF-0A09-77B9-926BC65B9A8B}"/>
              </a:ext>
            </a:extLst>
          </p:cNvPr>
          <p:cNvSpPr>
            <a:spLocks noChangeArrowheads="1"/>
          </p:cNvSpPr>
          <p:nvPr/>
        </p:nvSpPr>
        <p:spPr bwMode="auto">
          <a:xfrm>
            <a:off x="318584" y="5809097"/>
            <a:ext cx="5337544"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b="1" i="0" u="none" strike="noStrike" cap="none" normalizeH="0" baseline="0" dirty="0">
                <a:ln>
                  <a:noFill/>
                </a:ln>
                <a:solidFill>
                  <a:srgbClr val="000000"/>
                </a:solidFill>
                <a:effectLst/>
                <a:latin typeface="Calibri" panose="020F0502020204030204" pitchFamily="34" charset="0"/>
                <a:ea typeface="Calibri" panose="020F0502020204030204" pitchFamily="34" charset="0"/>
                <a:cs typeface="Calibri" panose="020F0502020204030204" pitchFamily="34" charset="0"/>
              </a:rPr>
              <a:t>Poor Documentation → Denial Risk</a:t>
            </a:r>
            <a:br>
              <a:rPr kumimoji="0" lang="en-US" altLang="en-US"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br>
            <a:r>
              <a:rPr kumimoji="0" lang="en-US" altLang="en-US" b="1" i="0" u="none" strike="noStrike" cap="none" normalizeH="0" baseline="0" dirty="0">
                <a:ln>
                  <a:noFill/>
                </a:ln>
                <a:solidFill>
                  <a:srgbClr val="000000"/>
                </a:solidFill>
                <a:effectLst/>
                <a:latin typeface="Calibri" panose="020F0502020204030204" pitchFamily="34" charset="0"/>
                <a:ea typeface="Calibri" panose="020F0502020204030204" pitchFamily="34" charset="0"/>
                <a:cs typeface="Calibri" panose="020F0502020204030204" pitchFamily="34" charset="0"/>
              </a:rPr>
              <a:t>Complete Documentation → Payment Success</a:t>
            </a:r>
            <a:endParaRPr kumimoji="0" lang="en-US" altLang="en-US"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57563418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Google Shape;153;p4">
            <a:extLst>
              <a:ext uri="{FF2B5EF4-FFF2-40B4-BE49-F238E27FC236}">
                <a16:creationId xmlns:a16="http://schemas.microsoft.com/office/drawing/2014/main" id="{E7C64205-3F49-DF7E-6FB2-0D57FBACA8A1}"/>
              </a:ext>
            </a:extLst>
          </p:cNvPr>
          <p:cNvSpPr txBox="1"/>
          <p:nvPr/>
        </p:nvSpPr>
        <p:spPr>
          <a:xfrm>
            <a:off x="383239" y="562629"/>
            <a:ext cx="6177908" cy="904200"/>
          </a:xfrm>
          <a:prstGeom prst="rect">
            <a:avLst/>
          </a:prstGeom>
          <a:noFill/>
          <a:ln>
            <a:noFill/>
          </a:ln>
        </p:spPr>
        <p:txBody>
          <a:bodyPr spcFirstLastPara="1" wrap="square" lIns="91425" tIns="45700" rIns="91425" bIns="45700" anchor="ctr" anchorCtr="0">
            <a:normAutofit/>
          </a:bodyPr>
          <a:lstStyle/>
          <a:p>
            <a:pPr lvl="0">
              <a:lnSpc>
                <a:spcPct val="90000"/>
              </a:lnSpc>
              <a:buClr>
                <a:schemeClr val="dk1"/>
              </a:buClr>
              <a:buSzPts val="2400"/>
            </a:pPr>
            <a:r>
              <a:rPr lang="en-US" sz="2000" b="1" dirty="0">
                <a:solidFill>
                  <a:schemeClr val="dk1"/>
                </a:solidFill>
                <a:latin typeface="Calibri"/>
                <a:cs typeface="Calibri"/>
              </a:rPr>
              <a:t>Statistical Validation of Documentation Impact</a:t>
            </a:r>
            <a:endParaRPr sz="2000" b="1" dirty="0">
              <a:solidFill>
                <a:schemeClr val="dk1"/>
              </a:solidFill>
              <a:latin typeface="Calibri"/>
              <a:cs typeface="Calibri"/>
              <a:sym typeface="Calibri"/>
            </a:endParaRPr>
          </a:p>
        </p:txBody>
      </p:sp>
      <p:sp>
        <p:nvSpPr>
          <p:cNvPr id="3" name="TextBox 2">
            <a:extLst>
              <a:ext uri="{FF2B5EF4-FFF2-40B4-BE49-F238E27FC236}">
                <a16:creationId xmlns:a16="http://schemas.microsoft.com/office/drawing/2014/main" id="{8E16C36F-83E5-1BA8-6641-C2CB1EFB0BE6}"/>
              </a:ext>
            </a:extLst>
          </p:cNvPr>
          <p:cNvSpPr txBox="1"/>
          <p:nvPr/>
        </p:nvSpPr>
        <p:spPr>
          <a:xfrm>
            <a:off x="457130" y="2937881"/>
            <a:ext cx="3385197" cy="954107"/>
          </a:xfrm>
          <a:prstGeom prst="rect">
            <a:avLst/>
          </a:prstGeom>
          <a:noFill/>
        </p:spPr>
        <p:txBody>
          <a:bodyPr wrap="square" rtlCol="0">
            <a:spAutoFit/>
          </a:bodyPr>
          <a:lstStyle/>
          <a:p>
            <a:r>
              <a:rPr lang="en-US" dirty="0">
                <a:latin typeface="Calibri" panose="020F0502020204030204" pitchFamily="34" charset="0"/>
                <a:ea typeface="Calibri" panose="020F0502020204030204" pitchFamily="34" charset="0"/>
                <a:cs typeface="Calibri" panose="020F0502020204030204" pitchFamily="34" charset="0"/>
              </a:rPr>
              <a:t>Results:</a:t>
            </a:r>
          </a:p>
          <a:p>
            <a:pPr marL="285750" indent="-285750">
              <a:buFont typeface="Wingdings" panose="05000000000000000000" pitchFamily="2" charset="2"/>
              <a:buChar char="§"/>
            </a:pPr>
            <a:r>
              <a:rPr lang="en-US" dirty="0">
                <a:latin typeface="Calibri" panose="020F0502020204030204" pitchFamily="34" charset="0"/>
                <a:ea typeface="Calibri" panose="020F0502020204030204" pitchFamily="34" charset="0"/>
                <a:cs typeface="Calibri" panose="020F0502020204030204" pitchFamily="34" charset="0"/>
              </a:rPr>
              <a:t>Chi-Square Statistic: 106,271.33</a:t>
            </a:r>
          </a:p>
          <a:p>
            <a:pPr marL="285750" indent="-285750">
              <a:buFont typeface="Wingdings" panose="05000000000000000000" pitchFamily="2" charset="2"/>
              <a:buChar char="§"/>
            </a:pPr>
            <a:r>
              <a:rPr lang="en-US" dirty="0">
                <a:latin typeface="Calibri" panose="020F0502020204030204" pitchFamily="34" charset="0"/>
                <a:ea typeface="Calibri" panose="020F0502020204030204" pitchFamily="34" charset="0"/>
                <a:cs typeface="Calibri" panose="020F0502020204030204" pitchFamily="34" charset="0"/>
              </a:rPr>
              <a:t>Degrees of Freedom: 9</a:t>
            </a:r>
          </a:p>
          <a:p>
            <a:pPr marL="285750" indent="-285750">
              <a:buFont typeface="Wingdings" panose="05000000000000000000" pitchFamily="2" charset="2"/>
              <a:buChar char="§"/>
            </a:pPr>
            <a:r>
              <a:rPr lang="en-US" dirty="0">
                <a:latin typeface="Calibri" panose="020F0502020204030204" pitchFamily="34" charset="0"/>
                <a:ea typeface="Calibri" panose="020F0502020204030204" pitchFamily="34" charset="0"/>
                <a:cs typeface="Calibri" panose="020F0502020204030204" pitchFamily="34" charset="0"/>
              </a:rPr>
              <a:t>P- Value: &lt;0.001 </a:t>
            </a:r>
          </a:p>
        </p:txBody>
      </p:sp>
      <p:graphicFrame>
        <p:nvGraphicFramePr>
          <p:cNvPr id="5" name="Table 4">
            <a:extLst>
              <a:ext uri="{FF2B5EF4-FFF2-40B4-BE49-F238E27FC236}">
                <a16:creationId xmlns:a16="http://schemas.microsoft.com/office/drawing/2014/main" id="{E9385EEB-3681-DDD3-D526-EC01958639D7}"/>
              </a:ext>
            </a:extLst>
          </p:cNvPr>
          <p:cNvGraphicFramePr>
            <a:graphicFrameLocks noGrp="1"/>
          </p:cNvGraphicFramePr>
          <p:nvPr>
            <p:extLst>
              <p:ext uri="{D42A27DB-BD31-4B8C-83A1-F6EECF244321}">
                <p14:modId xmlns:p14="http://schemas.microsoft.com/office/powerpoint/2010/main" val="3431979011"/>
              </p:ext>
            </p:extLst>
          </p:nvPr>
        </p:nvGraphicFramePr>
        <p:xfrm>
          <a:off x="5507147" y="1436487"/>
          <a:ext cx="5860542" cy="1554480"/>
        </p:xfrm>
        <a:graphic>
          <a:graphicData uri="http://schemas.openxmlformats.org/drawingml/2006/table">
            <a:tbl>
              <a:tblPr>
                <a:tableStyleId>{616DA210-FB5B-4158-B5E0-FEB733F419BA}</a:tableStyleId>
              </a:tblPr>
              <a:tblGrid>
                <a:gridCol w="2350725">
                  <a:extLst>
                    <a:ext uri="{9D8B030D-6E8A-4147-A177-3AD203B41FA5}">
                      <a16:colId xmlns:a16="http://schemas.microsoft.com/office/drawing/2014/main" val="2728799232"/>
                    </a:ext>
                  </a:extLst>
                </a:gridCol>
                <a:gridCol w="775854">
                  <a:extLst>
                    <a:ext uri="{9D8B030D-6E8A-4147-A177-3AD203B41FA5}">
                      <a16:colId xmlns:a16="http://schemas.microsoft.com/office/drawing/2014/main" val="2505611937"/>
                    </a:ext>
                  </a:extLst>
                </a:gridCol>
                <a:gridCol w="729673">
                  <a:extLst>
                    <a:ext uri="{9D8B030D-6E8A-4147-A177-3AD203B41FA5}">
                      <a16:colId xmlns:a16="http://schemas.microsoft.com/office/drawing/2014/main" val="1538577230"/>
                    </a:ext>
                  </a:extLst>
                </a:gridCol>
                <a:gridCol w="969818">
                  <a:extLst>
                    <a:ext uri="{9D8B030D-6E8A-4147-A177-3AD203B41FA5}">
                      <a16:colId xmlns:a16="http://schemas.microsoft.com/office/drawing/2014/main" val="2167928818"/>
                    </a:ext>
                  </a:extLst>
                </a:gridCol>
                <a:gridCol w="1034472">
                  <a:extLst>
                    <a:ext uri="{9D8B030D-6E8A-4147-A177-3AD203B41FA5}">
                      <a16:colId xmlns:a16="http://schemas.microsoft.com/office/drawing/2014/main" val="1558679181"/>
                    </a:ext>
                  </a:extLst>
                </a:gridCol>
              </a:tblGrid>
              <a:tr h="0">
                <a:tc>
                  <a:txBody>
                    <a:bodyPr/>
                    <a:lstStyle/>
                    <a:p>
                      <a:pPr algn="l">
                        <a:buNone/>
                      </a:pPr>
                      <a:r>
                        <a:rPr lang="en-US" sz="1100" b="1" dirty="0">
                          <a:effectLst/>
                        </a:rPr>
                        <a:t>Outcome</a:t>
                      </a:r>
                    </a:p>
                  </a:txBody>
                  <a:tcPr anchor="ctr">
                    <a:solidFill>
                      <a:schemeClr val="bg1">
                        <a:lumMod val="85000"/>
                      </a:schemeClr>
                    </a:solidFill>
                  </a:tcPr>
                </a:tc>
                <a:tc>
                  <a:txBody>
                    <a:bodyPr/>
                    <a:lstStyle/>
                    <a:p>
                      <a:pPr algn="ctr">
                        <a:buNone/>
                      </a:pPr>
                      <a:r>
                        <a:rPr lang="en-US" sz="1100" b="1" dirty="0">
                          <a:effectLst/>
                        </a:rPr>
                        <a:t>Denied</a:t>
                      </a:r>
                    </a:p>
                  </a:txBody>
                  <a:tcPr anchor="ctr">
                    <a:solidFill>
                      <a:schemeClr val="bg1">
                        <a:lumMod val="85000"/>
                      </a:schemeClr>
                    </a:solidFill>
                  </a:tcPr>
                </a:tc>
                <a:tc>
                  <a:txBody>
                    <a:bodyPr/>
                    <a:lstStyle/>
                    <a:p>
                      <a:pPr algn="ctr">
                        <a:buNone/>
                      </a:pPr>
                      <a:r>
                        <a:rPr lang="en-US" sz="1100" b="1" dirty="0">
                          <a:effectLst/>
                        </a:rPr>
                        <a:t>Paid</a:t>
                      </a:r>
                    </a:p>
                  </a:txBody>
                  <a:tcPr anchor="ctr">
                    <a:solidFill>
                      <a:schemeClr val="bg1">
                        <a:lumMod val="85000"/>
                      </a:schemeClr>
                    </a:solidFill>
                  </a:tcPr>
                </a:tc>
                <a:tc>
                  <a:txBody>
                    <a:bodyPr/>
                    <a:lstStyle/>
                    <a:p>
                      <a:pPr algn="ctr">
                        <a:buNone/>
                      </a:pPr>
                      <a:r>
                        <a:rPr lang="en-US" sz="1100" b="1" dirty="0">
                          <a:effectLst/>
                        </a:rPr>
                        <a:t>Partial_Pay</a:t>
                      </a:r>
                    </a:p>
                  </a:txBody>
                  <a:tcPr anchor="ctr">
                    <a:solidFill>
                      <a:schemeClr val="bg1">
                        <a:lumMod val="85000"/>
                      </a:schemeClr>
                    </a:solidFill>
                  </a:tcPr>
                </a:tc>
                <a:tc>
                  <a:txBody>
                    <a:bodyPr/>
                    <a:lstStyle/>
                    <a:p>
                      <a:pPr algn="ctr">
                        <a:buNone/>
                      </a:pPr>
                      <a:r>
                        <a:rPr lang="en-US" sz="1100" b="1" dirty="0">
                          <a:effectLst/>
                        </a:rPr>
                        <a:t>Pending</a:t>
                      </a:r>
                    </a:p>
                  </a:txBody>
                  <a:tcPr anchor="ctr">
                    <a:solidFill>
                      <a:schemeClr val="bg1">
                        <a:lumMod val="85000"/>
                      </a:schemeClr>
                    </a:solidFill>
                  </a:tcPr>
                </a:tc>
                <a:extLst>
                  <a:ext uri="{0D108BD9-81ED-4DB2-BD59-A6C34878D82A}">
                    <a16:rowId xmlns:a16="http://schemas.microsoft.com/office/drawing/2014/main" val="183343097"/>
                  </a:ext>
                </a:extLst>
              </a:tr>
              <a:tr h="0">
                <a:tc>
                  <a:txBody>
                    <a:bodyPr/>
                    <a:lstStyle/>
                    <a:p>
                      <a:pPr algn="l">
                        <a:buNone/>
                      </a:pPr>
                      <a:r>
                        <a:rPr lang="en-US" sz="1100" b="1" dirty="0">
                          <a:effectLst/>
                        </a:rPr>
                        <a:t>Documentation_Severity</a:t>
                      </a:r>
                    </a:p>
                  </a:txBody>
                  <a:tcPr anchor="ctr">
                    <a:solidFill>
                      <a:schemeClr val="accent4">
                        <a:lumMod val="20000"/>
                        <a:lumOff val="80000"/>
                      </a:schemeClr>
                    </a:solidFill>
                  </a:tcPr>
                </a:tc>
                <a:tc>
                  <a:txBody>
                    <a:bodyPr/>
                    <a:lstStyle/>
                    <a:p>
                      <a:pPr algn="ctr">
                        <a:buNone/>
                      </a:pPr>
                      <a:endParaRPr lang="en-US" sz="1100" b="1" dirty="0">
                        <a:effectLst/>
                      </a:endParaRPr>
                    </a:p>
                  </a:txBody>
                  <a:tcPr anchor="ctr">
                    <a:solidFill>
                      <a:schemeClr val="accent4">
                        <a:lumMod val="20000"/>
                        <a:lumOff val="80000"/>
                      </a:schemeClr>
                    </a:solidFill>
                  </a:tcPr>
                </a:tc>
                <a:tc>
                  <a:txBody>
                    <a:bodyPr/>
                    <a:lstStyle/>
                    <a:p>
                      <a:pPr algn="ctr">
                        <a:buNone/>
                      </a:pPr>
                      <a:endParaRPr lang="en-US" sz="1100" b="1" dirty="0">
                        <a:effectLst/>
                      </a:endParaRPr>
                    </a:p>
                  </a:txBody>
                  <a:tcPr anchor="ctr">
                    <a:solidFill>
                      <a:schemeClr val="accent4">
                        <a:lumMod val="20000"/>
                        <a:lumOff val="80000"/>
                      </a:schemeClr>
                    </a:solidFill>
                  </a:tcPr>
                </a:tc>
                <a:tc>
                  <a:txBody>
                    <a:bodyPr/>
                    <a:lstStyle/>
                    <a:p>
                      <a:pPr algn="ctr">
                        <a:buNone/>
                      </a:pPr>
                      <a:endParaRPr lang="en-US" sz="1100" b="1">
                        <a:effectLst/>
                      </a:endParaRPr>
                    </a:p>
                  </a:txBody>
                  <a:tcPr anchor="ctr">
                    <a:solidFill>
                      <a:schemeClr val="accent4">
                        <a:lumMod val="20000"/>
                        <a:lumOff val="80000"/>
                      </a:schemeClr>
                    </a:solidFill>
                  </a:tcPr>
                </a:tc>
                <a:tc>
                  <a:txBody>
                    <a:bodyPr/>
                    <a:lstStyle/>
                    <a:p>
                      <a:pPr algn="ctr">
                        <a:buNone/>
                      </a:pPr>
                      <a:endParaRPr lang="en-US" sz="1100" b="1" dirty="0">
                        <a:effectLst/>
                      </a:endParaRPr>
                    </a:p>
                  </a:txBody>
                  <a:tcPr anchor="ctr">
                    <a:solidFill>
                      <a:schemeClr val="accent4">
                        <a:lumMod val="20000"/>
                        <a:lumOff val="80000"/>
                      </a:schemeClr>
                    </a:solidFill>
                  </a:tcPr>
                </a:tc>
                <a:extLst>
                  <a:ext uri="{0D108BD9-81ED-4DB2-BD59-A6C34878D82A}">
                    <a16:rowId xmlns:a16="http://schemas.microsoft.com/office/drawing/2014/main" val="3436565580"/>
                  </a:ext>
                </a:extLst>
              </a:tr>
              <a:tr h="0">
                <a:tc>
                  <a:txBody>
                    <a:bodyPr/>
                    <a:lstStyle/>
                    <a:p>
                      <a:pPr fontAlgn="ctr">
                        <a:buNone/>
                      </a:pPr>
                      <a:r>
                        <a:rPr lang="en-US" sz="1100" b="0" dirty="0">
                          <a:effectLst/>
                        </a:rPr>
                        <a:t>Critical Gap (&lt;40%)</a:t>
                      </a:r>
                    </a:p>
                  </a:txBody>
                  <a:tcPr anchor="ctr">
                    <a:noFill/>
                  </a:tcPr>
                </a:tc>
                <a:tc>
                  <a:txBody>
                    <a:bodyPr/>
                    <a:lstStyle/>
                    <a:p>
                      <a:pPr algn="ctr">
                        <a:buNone/>
                      </a:pPr>
                      <a:r>
                        <a:rPr lang="en-US" sz="1100" dirty="0">
                          <a:effectLst/>
                        </a:rPr>
                        <a:t>12,005</a:t>
                      </a:r>
                    </a:p>
                  </a:txBody>
                  <a:tcPr anchor="ctr"/>
                </a:tc>
                <a:tc>
                  <a:txBody>
                    <a:bodyPr/>
                    <a:lstStyle/>
                    <a:p>
                      <a:pPr algn="ctr">
                        <a:buNone/>
                      </a:pPr>
                      <a:r>
                        <a:rPr lang="en-US" sz="1100" dirty="0">
                          <a:effectLst/>
                        </a:rPr>
                        <a:t>0</a:t>
                      </a:r>
                    </a:p>
                  </a:txBody>
                  <a:tcPr anchor="ctr"/>
                </a:tc>
                <a:tc>
                  <a:txBody>
                    <a:bodyPr/>
                    <a:lstStyle/>
                    <a:p>
                      <a:pPr algn="ctr">
                        <a:buNone/>
                      </a:pPr>
                      <a:r>
                        <a:rPr lang="en-US" sz="1100">
                          <a:effectLst/>
                        </a:rPr>
                        <a:t>0</a:t>
                      </a:r>
                    </a:p>
                  </a:txBody>
                  <a:tcPr anchor="ctr"/>
                </a:tc>
                <a:tc>
                  <a:txBody>
                    <a:bodyPr/>
                    <a:lstStyle/>
                    <a:p>
                      <a:pPr algn="ctr">
                        <a:buNone/>
                      </a:pPr>
                      <a:r>
                        <a:rPr lang="en-US" sz="1100" dirty="0">
                          <a:effectLst/>
                        </a:rPr>
                        <a:t>0</a:t>
                      </a:r>
                    </a:p>
                  </a:txBody>
                  <a:tcPr anchor="ctr"/>
                </a:tc>
                <a:extLst>
                  <a:ext uri="{0D108BD9-81ED-4DB2-BD59-A6C34878D82A}">
                    <a16:rowId xmlns:a16="http://schemas.microsoft.com/office/drawing/2014/main" val="3861118561"/>
                  </a:ext>
                </a:extLst>
              </a:tr>
              <a:tr h="0">
                <a:tc>
                  <a:txBody>
                    <a:bodyPr/>
                    <a:lstStyle/>
                    <a:p>
                      <a:pPr fontAlgn="ctr">
                        <a:buNone/>
                      </a:pPr>
                      <a:r>
                        <a:rPr lang="en-US" sz="1100" b="0" dirty="0">
                          <a:effectLst/>
                        </a:rPr>
                        <a:t>Severe Gap (40-59%)</a:t>
                      </a:r>
                    </a:p>
                  </a:txBody>
                  <a:tcPr anchor="ctr"/>
                </a:tc>
                <a:tc>
                  <a:txBody>
                    <a:bodyPr/>
                    <a:lstStyle/>
                    <a:p>
                      <a:pPr algn="ctr">
                        <a:buNone/>
                      </a:pPr>
                      <a:r>
                        <a:rPr lang="en-US" sz="1100" dirty="0">
                          <a:effectLst/>
                        </a:rPr>
                        <a:t>16,207</a:t>
                      </a:r>
                    </a:p>
                  </a:txBody>
                  <a:tcPr anchor="ctr"/>
                </a:tc>
                <a:tc>
                  <a:txBody>
                    <a:bodyPr/>
                    <a:lstStyle/>
                    <a:p>
                      <a:pPr algn="ctr">
                        <a:buNone/>
                      </a:pPr>
                      <a:r>
                        <a:rPr lang="en-US" sz="1100" dirty="0">
                          <a:effectLst/>
                        </a:rPr>
                        <a:t>0</a:t>
                      </a:r>
                    </a:p>
                  </a:txBody>
                  <a:tcPr anchor="ctr"/>
                </a:tc>
                <a:tc>
                  <a:txBody>
                    <a:bodyPr/>
                    <a:lstStyle/>
                    <a:p>
                      <a:pPr algn="ctr">
                        <a:buNone/>
                      </a:pPr>
                      <a:r>
                        <a:rPr lang="en-US" sz="1100" dirty="0">
                          <a:effectLst/>
                        </a:rPr>
                        <a:t>2,931</a:t>
                      </a:r>
                    </a:p>
                  </a:txBody>
                  <a:tcPr anchor="ctr"/>
                </a:tc>
                <a:tc>
                  <a:txBody>
                    <a:bodyPr/>
                    <a:lstStyle/>
                    <a:p>
                      <a:pPr algn="ctr">
                        <a:buNone/>
                      </a:pPr>
                      <a:r>
                        <a:rPr lang="en-US" sz="1100" dirty="0">
                          <a:effectLst/>
                        </a:rPr>
                        <a:t>2,208</a:t>
                      </a:r>
                    </a:p>
                  </a:txBody>
                  <a:tcPr anchor="ctr"/>
                </a:tc>
                <a:extLst>
                  <a:ext uri="{0D108BD9-81ED-4DB2-BD59-A6C34878D82A}">
                    <a16:rowId xmlns:a16="http://schemas.microsoft.com/office/drawing/2014/main" val="2793963473"/>
                  </a:ext>
                </a:extLst>
              </a:tr>
              <a:tr h="0">
                <a:tc>
                  <a:txBody>
                    <a:bodyPr/>
                    <a:lstStyle/>
                    <a:p>
                      <a:pPr fontAlgn="ctr">
                        <a:buNone/>
                      </a:pPr>
                      <a:r>
                        <a:rPr lang="en-US" sz="1100" b="0">
                          <a:effectLst/>
                        </a:rPr>
                        <a:t>Moderate Gap (60-79%)</a:t>
                      </a:r>
                    </a:p>
                  </a:txBody>
                  <a:tcPr anchor="ctr"/>
                </a:tc>
                <a:tc>
                  <a:txBody>
                    <a:bodyPr/>
                    <a:lstStyle/>
                    <a:p>
                      <a:pPr algn="ctr">
                        <a:buNone/>
                      </a:pPr>
                      <a:r>
                        <a:rPr lang="en-US" sz="1100" dirty="0">
                          <a:effectLst/>
                        </a:rPr>
                        <a:t>5,452</a:t>
                      </a:r>
                    </a:p>
                  </a:txBody>
                  <a:tcPr anchor="ctr"/>
                </a:tc>
                <a:tc>
                  <a:txBody>
                    <a:bodyPr/>
                    <a:lstStyle/>
                    <a:p>
                      <a:pPr algn="ctr">
                        <a:buNone/>
                      </a:pPr>
                      <a:r>
                        <a:rPr lang="en-US" sz="1100" dirty="0">
                          <a:effectLst/>
                        </a:rPr>
                        <a:t>13,875</a:t>
                      </a:r>
                    </a:p>
                  </a:txBody>
                  <a:tcPr anchor="ctr"/>
                </a:tc>
                <a:tc>
                  <a:txBody>
                    <a:bodyPr/>
                    <a:lstStyle/>
                    <a:p>
                      <a:pPr algn="ctr">
                        <a:buNone/>
                      </a:pPr>
                      <a:r>
                        <a:rPr lang="en-US" sz="1100" dirty="0">
                          <a:effectLst/>
                        </a:rPr>
                        <a:t>10,214</a:t>
                      </a:r>
                    </a:p>
                  </a:txBody>
                  <a:tcPr anchor="ctr"/>
                </a:tc>
                <a:tc>
                  <a:txBody>
                    <a:bodyPr/>
                    <a:lstStyle/>
                    <a:p>
                      <a:pPr algn="ctr">
                        <a:buNone/>
                      </a:pPr>
                      <a:r>
                        <a:rPr lang="en-US" sz="1100" dirty="0">
                          <a:effectLst/>
                        </a:rPr>
                        <a:t>4,301</a:t>
                      </a:r>
                    </a:p>
                  </a:txBody>
                  <a:tcPr anchor="ctr"/>
                </a:tc>
                <a:extLst>
                  <a:ext uri="{0D108BD9-81ED-4DB2-BD59-A6C34878D82A}">
                    <a16:rowId xmlns:a16="http://schemas.microsoft.com/office/drawing/2014/main" val="1754446578"/>
                  </a:ext>
                </a:extLst>
              </a:tr>
              <a:tr h="0">
                <a:tc>
                  <a:txBody>
                    <a:bodyPr/>
                    <a:lstStyle/>
                    <a:p>
                      <a:pPr fontAlgn="ctr">
                        <a:buNone/>
                      </a:pPr>
                      <a:r>
                        <a:rPr lang="en-US" sz="1100" b="0" dirty="0">
                          <a:effectLst/>
                        </a:rPr>
                        <a:t>Complete Documentation (80%+)</a:t>
                      </a:r>
                    </a:p>
                  </a:txBody>
                  <a:tcPr anchor="ctr">
                    <a:solidFill>
                      <a:schemeClr val="accent6">
                        <a:lumMod val="20000"/>
                        <a:lumOff val="80000"/>
                      </a:schemeClr>
                    </a:solidFill>
                  </a:tcPr>
                </a:tc>
                <a:tc>
                  <a:txBody>
                    <a:bodyPr/>
                    <a:lstStyle/>
                    <a:p>
                      <a:pPr algn="ctr">
                        <a:buNone/>
                      </a:pPr>
                      <a:r>
                        <a:rPr lang="en-US" sz="1100">
                          <a:effectLst/>
                        </a:rPr>
                        <a:t>0</a:t>
                      </a:r>
                    </a:p>
                  </a:txBody>
                  <a:tcPr anchor="ctr">
                    <a:solidFill>
                      <a:schemeClr val="accent6">
                        <a:lumMod val="20000"/>
                        <a:lumOff val="80000"/>
                      </a:schemeClr>
                    </a:solidFill>
                  </a:tcPr>
                </a:tc>
                <a:tc>
                  <a:txBody>
                    <a:bodyPr/>
                    <a:lstStyle/>
                    <a:p>
                      <a:pPr algn="ctr">
                        <a:buNone/>
                      </a:pPr>
                      <a:r>
                        <a:rPr lang="en-US" sz="1100" dirty="0">
                          <a:effectLst/>
                        </a:rPr>
                        <a:t>48,504</a:t>
                      </a:r>
                    </a:p>
                  </a:txBody>
                  <a:tcPr anchor="ctr">
                    <a:solidFill>
                      <a:schemeClr val="accent6">
                        <a:lumMod val="20000"/>
                        <a:lumOff val="80000"/>
                      </a:schemeClr>
                    </a:solidFill>
                  </a:tcPr>
                </a:tc>
                <a:tc>
                  <a:txBody>
                    <a:bodyPr/>
                    <a:lstStyle/>
                    <a:p>
                      <a:pPr algn="ctr">
                        <a:buNone/>
                      </a:pPr>
                      <a:r>
                        <a:rPr lang="en-US" sz="1100" dirty="0">
                          <a:effectLst/>
                        </a:rPr>
                        <a:t>2,324</a:t>
                      </a:r>
                    </a:p>
                  </a:txBody>
                  <a:tcPr anchor="ctr">
                    <a:solidFill>
                      <a:schemeClr val="accent6">
                        <a:lumMod val="20000"/>
                        <a:lumOff val="80000"/>
                      </a:schemeClr>
                    </a:solidFill>
                  </a:tcPr>
                </a:tc>
                <a:tc>
                  <a:txBody>
                    <a:bodyPr/>
                    <a:lstStyle/>
                    <a:p>
                      <a:pPr algn="ctr">
                        <a:buNone/>
                      </a:pPr>
                      <a:r>
                        <a:rPr lang="en-US" sz="1100" dirty="0">
                          <a:effectLst/>
                        </a:rPr>
                        <a:t>1,979</a:t>
                      </a:r>
                    </a:p>
                  </a:txBody>
                  <a:tcPr anchor="ctr">
                    <a:solidFill>
                      <a:schemeClr val="accent6">
                        <a:lumMod val="20000"/>
                        <a:lumOff val="80000"/>
                      </a:schemeClr>
                    </a:solidFill>
                  </a:tcPr>
                </a:tc>
                <a:extLst>
                  <a:ext uri="{0D108BD9-81ED-4DB2-BD59-A6C34878D82A}">
                    <a16:rowId xmlns:a16="http://schemas.microsoft.com/office/drawing/2014/main" val="338606052"/>
                  </a:ext>
                </a:extLst>
              </a:tr>
            </a:tbl>
          </a:graphicData>
        </a:graphic>
      </p:graphicFrame>
      <p:sp>
        <p:nvSpPr>
          <p:cNvPr id="7" name="TextBox 6">
            <a:extLst>
              <a:ext uri="{FF2B5EF4-FFF2-40B4-BE49-F238E27FC236}">
                <a16:creationId xmlns:a16="http://schemas.microsoft.com/office/drawing/2014/main" id="{F2F0DD3C-1A89-0F79-6DDB-0247ADB5B52C}"/>
              </a:ext>
            </a:extLst>
          </p:cNvPr>
          <p:cNvSpPr txBox="1"/>
          <p:nvPr/>
        </p:nvSpPr>
        <p:spPr>
          <a:xfrm>
            <a:off x="7675418" y="1099128"/>
            <a:ext cx="1524000" cy="261610"/>
          </a:xfrm>
          <a:prstGeom prst="rect">
            <a:avLst/>
          </a:prstGeom>
          <a:noFill/>
        </p:spPr>
        <p:txBody>
          <a:bodyPr wrap="square" rtlCol="0">
            <a:spAutoFit/>
          </a:bodyPr>
          <a:lstStyle/>
          <a:p>
            <a:r>
              <a:rPr lang="en-US" sz="1100" dirty="0"/>
              <a:t>Contingency Table </a:t>
            </a:r>
          </a:p>
        </p:txBody>
      </p:sp>
      <p:sp>
        <p:nvSpPr>
          <p:cNvPr id="8" name="TextBox 7">
            <a:extLst>
              <a:ext uri="{FF2B5EF4-FFF2-40B4-BE49-F238E27FC236}">
                <a16:creationId xmlns:a16="http://schemas.microsoft.com/office/drawing/2014/main" id="{0BAE3B89-CB10-35A0-1650-7A4417B4AAD4}"/>
              </a:ext>
            </a:extLst>
          </p:cNvPr>
          <p:cNvSpPr txBox="1"/>
          <p:nvPr/>
        </p:nvSpPr>
        <p:spPr>
          <a:xfrm>
            <a:off x="457130" y="4022547"/>
            <a:ext cx="11383888" cy="2246769"/>
          </a:xfrm>
          <a:prstGeom prst="rect">
            <a:avLst/>
          </a:prstGeom>
          <a:noFill/>
        </p:spPr>
        <p:txBody>
          <a:bodyPr wrap="square" rtlCol="0">
            <a:spAutoFit/>
          </a:bodyPr>
          <a:lstStyle/>
          <a:p>
            <a:endParaRPr lang="en-US" dirty="0">
              <a:latin typeface="Calibri" panose="020F0502020204030204" pitchFamily="34" charset="0"/>
              <a:ea typeface="Calibri" panose="020F0502020204030204" pitchFamily="34" charset="0"/>
              <a:cs typeface="Calibri" panose="020F0502020204030204" pitchFamily="34" charset="0"/>
            </a:endParaRPr>
          </a:p>
          <a:p>
            <a:r>
              <a:rPr lang="en-US" dirty="0">
                <a:latin typeface="Calibri" panose="020F0502020204030204" pitchFamily="34" charset="0"/>
                <a:ea typeface="Calibri" panose="020F0502020204030204" pitchFamily="34" charset="0"/>
                <a:cs typeface="Calibri" panose="020F0502020204030204" pitchFamily="34" charset="0"/>
              </a:rPr>
              <a:t>Key Findings:</a:t>
            </a:r>
          </a:p>
          <a:p>
            <a:endParaRPr lang="en-US" dirty="0">
              <a:latin typeface="Calibri" panose="020F0502020204030204" pitchFamily="34" charset="0"/>
              <a:ea typeface="Calibri" panose="020F0502020204030204" pitchFamily="34" charset="0"/>
              <a:cs typeface="Calibri" panose="020F0502020204030204" pitchFamily="34" charset="0"/>
            </a:endParaRPr>
          </a:p>
          <a:p>
            <a:r>
              <a:rPr lang="en-US" dirty="0">
                <a:latin typeface="Calibri" panose="020F0502020204030204" pitchFamily="34" charset="0"/>
                <a:ea typeface="Calibri" panose="020F0502020204030204" pitchFamily="34" charset="0"/>
                <a:cs typeface="Calibri" panose="020F0502020204030204" pitchFamily="34" charset="0"/>
              </a:rPr>
              <a:t>Because the p-value is significantly less than 0.05, the null hypothesis was rejected. This confirms a statistically significant relationship between documentation completeness and claim outcomes.</a:t>
            </a:r>
          </a:p>
          <a:p>
            <a:endParaRPr lang="en-US" dirty="0">
              <a:latin typeface="Calibri" panose="020F0502020204030204" pitchFamily="34" charset="0"/>
              <a:ea typeface="Calibri" panose="020F0502020204030204" pitchFamily="34" charset="0"/>
              <a:cs typeface="Calibri" panose="020F0502020204030204" pitchFamily="34" charset="0"/>
            </a:endParaRPr>
          </a:p>
          <a:p>
            <a:r>
              <a:rPr lang="en-US" dirty="0">
                <a:latin typeface="Calibri" panose="020F0502020204030204" pitchFamily="34" charset="0"/>
                <a:ea typeface="Calibri" panose="020F0502020204030204" pitchFamily="34" charset="0"/>
                <a:cs typeface="Calibri" panose="020F0502020204030204" pitchFamily="34" charset="0"/>
              </a:rPr>
              <a:t>The heat map identified a clear relationship between documentation quality and claim outcomes. This Chi-Square Test of Independence statistically validates the observation, confirming claims with critical and severe documentation gaps are substantially more likely to be denied, while claims with complete documentation are significantly more likely to be paid successfully.</a:t>
            </a:r>
          </a:p>
          <a:p>
            <a:endParaRPr lang="en-US" dirty="0"/>
          </a:p>
        </p:txBody>
      </p:sp>
      <p:sp>
        <p:nvSpPr>
          <p:cNvPr id="11" name="TextBox 10">
            <a:extLst>
              <a:ext uri="{FF2B5EF4-FFF2-40B4-BE49-F238E27FC236}">
                <a16:creationId xmlns:a16="http://schemas.microsoft.com/office/drawing/2014/main" id="{D500E1F4-D8B5-5BE2-22EE-73CC3EC3196D}"/>
              </a:ext>
            </a:extLst>
          </p:cNvPr>
          <p:cNvSpPr txBox="1"/>
          <p:nvPr/>
        </p:nvSpPr>
        <p:spPr>
          <a:xfrm>
            <a:off x="5507147" y="3089294"/>
            <a:ext cx="5232470" cy="461665"/>
          </a:xfrm>
          <a:prstGeom prst="rect">
            <a:avLst/>
          </a:prstGeom>
          <a:noFill/>
        </p:spPr>
        <p:txBody>
          <a:bodyPr wrap="square" rtlCol="0">
            <a:spAutoFit/>
          </a:bodyPr>
          <a:lstStyle/>
          <a:p>
            <a:r>
              <a:rPr lang="en-US" sz="800" dirty="0">
                <a:latin typeface="Calibri" panose="020F0502020204030204" pitchFamily="34" charset="0"/>
                <a:ea typeface="Calibri" panose="020F0502020204030204" pitchFamily="34" charset="0"/>
                <a:cs typeface="Calibri" panose="020F0502020204030204" pitchFamily="34" charset="0"/>
              </a:rPr>
              <a:t>* In a Chi-Square Test, the Degrees of Freedom (df) represent the number of values that are free to vary once the row and column totals are fixed. The Degrees of Freedom formula is </a:t>
            </a:r>
            <a:r>
              <a:rPr lang="en-US" sz="800" i="1" dirty="0">
                <a:latin typeface="Calibri" panose="020F0502020204030204" pitchFamily="34" charset="0"/>
                <a:ea typeface="Calibri" panose="020F0502020204030204" pitchFamily="34" charset="0"/>
                <a:cs typeface="Calibri" panose="020F0502020204030204" pitchFamily="34" charset="0"/>
              </a:rPr>
              <a:t>df=(r-1)(c-1), </a:t>
            </a:r>
            <a:r>
              <a:rPr lang="en-US" sz="800" dirty="0">
                <a:latin typeface="Calibri" panose="020F0502020204030204" pitchFamily="34" charset="0"/>
                <a:ea typeface="Calibri" panose="020F0502020204030204" pitchFamily="34" charset="0"/>
                <a:cs typeface="Calibri" panose="020F0502020204030204" pitchFamily="34" charset="0"/>
              </a:rPr>
              <a:t>in this case we are calculating 4 rows (r-1) and 4 columns (c-1). </a:t>
            </a:r>
            <a:endParaRPr lang="en-US" sz="800" i="1" dirty="0">
              <a:latin typeface="Calibri" panose="020F0502020204030204" pitchFamily="34" charset="0"/>
              <a:ea typeface="Calibri" panose="020F0502020204030204" pitchFamily="34" charset="0"/>
              <a:cs typeface="Calibri" panose="020F0502020204030204" pitchFamily="34" charset="0"/>
            </a:endParaRPr>
          </a:p>
        </p:txBody>
      </p:sp>
      <p:pic>
        <p:nvPicPr>
          <p:cNvPr id="13" name="Picture 12">
            <a:extLst>
              <a:ext uri="{FF2B5EF4-FFF2-40B4-BE49-F238E27FC236}">
                <a16:creationId xmlns:a16="http://schemas.microsoft.com/office/drawing/2014/main" id="{C4475CC8-C81D-589B-FD9B-3722B84BB4E0}"/>
              </a:ext>
            </a:extLst>
          </p:cNvPr>
          <p:cNvPicPr>
            <a:picLocks noChangeAspect="1"/>
          </p:cNvPicPr>
          <p:nvPr/>
        </p:nvPicPr>
        <p:blipFill>
          <a:blip r:embed="rId3"/>
          <a:stretch>
            <a:fillRect/>
          </a:stretch>
        </p:blipFill>
        <p:spPr>
          <a:xfrm>
            <a:off x="10657064" y="3051618"/>
            <a:ext cx="710625" cy="537448"/>
          </a:xfrm>
          <a:prstGeom prst="rect">
            <a:avLst/>
          </a:prstGeom>
        </p:spPr>
      </p:pic>
      <p:sp>
        <p:nvSpPr>
          <p:cNvPr id="16" name="TextBox 15">
            <a:extLst>
              <a:ext uri="{FF2B5EF4-FFF2-40B4-BE49-F238E27FC236}">
                <a16:creationId xmlns:a16="http://schemas.microsoft.com/office/drawing/2014/main" id="{DE8C12B8-99DA-2EA3-7E77-4D12F6FA96D7}"/>
              </a:ext>
            </a:extLst>
          </p:cNvPr>
          <p:cNvSpPr txBox="1"/>
          <p:nvPr/>
        </p:nvSpPr>
        <p:spPr>
          <a:xfrm>
            <a:off x="5507147" y="3618944"/>
            <a:ext cx="6019835" cy="707886"/>
          </a:xfrm>
          <a:prstGeom prst="rect">
            <a:avLst/>
          </a:prstGeom>
          <a:noFill/>
        </p:spPr>
        <p:txBody>
          <a:bodyPr wrap="square" rtlCol="0">
            <a:spAutoFit/>
          </a:bodyPr>
          <a:lstStyle/>
          <a:p>
            <a:r>
              <a:rPr lang="en-US" sz="800" dirty="0">
                <a:latin typeface="Calibri" panose="020F0502020204030204" pitchFamily="34" charset="0"/>
                <a:ea typeface="Calibri" panose="020F0502020204030204" pitchFamily="34" charset="0"/>
                <a:cs typeface="Calibri" panose="020F0502020204030204" pitchFamily="34" charset="0"/>
              </a:rPr>
              <a:t>*The p-value measures the probability that the relationship observed in the data occurred by random chance. Most statistical test use: Significance Level (a) which is a = 0.05, this means we are willing to accept a 5% chance of being wrong. </a:t>
            </a:r>
          </a:p>
          <a:p>
            <a:endParaRPr lang="en-US" sz="800" dirty="0">
              <a:latin typeface="Calibri" panose="020F0502020204030204" pitchFamily="34" charset="0"/>
              <a:ea typeface="Calibri" panose="020F0502020204030204" pitchFamily="34" charset="0"/>
              <a:cs typeface="Calibri" panose="020F0502020204030204" pitchFamily="34" charset="0"/>
            </a:endParaRPr>
          </a:p>
          <a:p>
            <a:r>
              <a:rPr lang="en-US" sz="800" dirty="0">
                <a:latin typeface="Calibri" panose="020F0502020204030204" pitchFamily="34" charset="0"/>
                <a:ea typeface="Calibri" panose="020F0502020204030204" pitchFamily="34" charset="0"/>
                <a:cs typeface="Calibri" panose="020F0502020204030204" pitchFamily="34" charset="0"/>
              </a:rPr>
              <a:t>In this case the p-value is p&lt;0.001, which is well below the standard significance threshold of 0.05. Therefore, we rejected the null hypothesis.</a:t>
            </a:r>
            <a:endParaRPr lang="en-US" sz="800" i="1" dirty="0">
              <a:latin typeface="Calibri" panose="020F0502020204030204" pitchFamily="34" charset="0"/>
              <a:ea typeface="Calibri" panose="020F0502020204030204" pitchFamily="34" charset="0"/>
              <a:cs typeface="Calibri" panose="020F0502020204030204" pitchFamily="34" charset="0"/>
            </a:endParaRPr>
          </a:p>
        </p:txBody>
      </p:sp>
      <p:sp>
        <p:nvSpPr>
          <p:cNvPr id="17" name="TextBox 16">
            <a:extLst>
              <a:ext uri="{FF2B5EF4-FFF2-40B4-BE49-F238E27FC236}">
                <a16:creationId xmlns:a16="http://schemas.microsoft.com/office/drawing/2014/main" id="{671B1E3F-26BA-B99D-0629-7EE145003B10}"/>
              </a:ext>
            </a:extLst>
          </p:cNvPr>
          <p:cNvSpPr txBox="1"/>
          <p:nvPr/>
        </p:nvSpPr>
        <p:spPr>
          <a:xfrm>
            <a:off x="457130" y="1422327"/>
            <a:ext cx="3385197" cy="1384995"/>
          </a:xfrm>
          <a:prstGeom prst="rect">
            <a:avLst/>
          </a:prstGeom>
          <a:noFill/>
        </p:spPr>
        <p:txBody>
          <a:bodyPr wrap="square" rtlCol="0">
            <a:spAutoFit/>
          </a:bodyPr>
          <a:lstStyle/>
          <a:p>
            <a:r>
              <a:rPr lang="en-US" dirty="0">
                <a:latin typeface="Calibri" panose="020F0502020204030204" pitchFamily="34" charset="0"/>
                <a:ea typeface="Calibri" panose="020F0502020204030204" pitchFamily="34" charset="0"/>
                <a:cs typeface="Calibri" panose="020F0502020204030204" pitchFamily="34" charset="0"/>
              </a:rPr>
              <a:t>Statistical Test Performed </a:t>
            </a:r>
          </a:p>
          <a:p>
            <a:endParaRPr lang="en-US" dirty="0">
              <a:latin typeface="Calibri" panose="020F0502020204030204" pitchFamily="34" charset="0"/>
              <a:ea typeface="Calibri" panose="020F0502020204030204" pitchFamily="34" charset="0"/>
              <a:cs typeface="Calibri" panose="020F0502020204030204" pitchFamily="34" charset="0"/>
            </a:endParaRPr>
          </a:p>
          <a:p>
            <a:r>
              <a:rPr lang="en-US" dirty="0">
                <a:latin typeface="Calibri" panose="020F0502020204030204" pitchFamily="34" charset="0"/>
                <a:ea typeface="Calibri" panose="020F0502020204030204" pitchFamily="34" charset="0"/>
                <a:cs typeface="Calibri" panose="020F0502020204030204" pitchFamily="34" charset="0"/>
              </a:rPr>
              <a:t>A Chi-Square Test of Independence was conducted to evaluate the relationship between documentation quality and claim outcomes.</a:t>
            </a:r>
          </a:p>
        </p:txBody>
      </p:sp>
    </p:spTree>
    <p:extLst>
      <p:ext uri="{BB962C8B-B14F-4D97-AF65-F5344CB8AC3E}">
        <p14:creationId xmlns:p14="http://schemas.microsoft.com/office/powerpoint/2010/main" val="242788296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202"/>
        <p:cNvGrpSpPr/>
        <p:nvPr/>
      </p:nvGrpSpPr>
      <p:grpSpPr>
        <a:xfrm>
          <a:off x="0" y="0"/>
          <a:ext cx="0" cy="0"/>
          <a:chOff x="0" y="0"/>
          <a:chExt cx="0" cy="0"/>
        </a:xfrm>
      </p:grpSpPr>
      <p:pic>
        <p:nvPicPr>
          <p:cNvPr id="204" name="Google Shape;204;p11"/>
          <p:cNvPicPr preferRelativeResize="0"/>
          <p:nvPr/>
        </p:nvPicPr>
        <p:blipFill rotWithShape="1">
          <a:blip r:embed="rId3">
            <a:alphaModFix/>
          </a:blip>
          <a:srcRect/>
          <a:stretch/>
        </p:blipFill>
        <p:spPr>
          <a:xfrm>
            <a:off x="5245768" y="1566264"/>
            <a:ext cx="6667324" cy="3847947"/>
          </a:xfrm>
          <a:prstGeom prst="rect">
            <a:avLst/>
          </a:prstGeom>
          <a:noFill/>
          <a:ln>
            <a:noFill/>
          </a:ln>
        </p:spPr>
      </p:pic>
      <p:sp>
        <p:nvSpPr>
          <p:cNvPr id="4" name="Google Shape;153;p4">
            <a:extLst>
              <a:ext uri="{FF2B5EF4-FFF2-40B4-BE49-F238E27FC236}">
                <a16:creationId xmlns:a16="http://schemas.microsoft.com/office/drawing/2014/main" id="{69612BA7-0E06-75F4-03FC-078A1391D994}"/>
              </a:ext>
            </a:extLst>
          </p:cNvPr>
          <p:cNvSpPr txBox="1"/>
          <p:nvPr/>
        </p:nvSpPr>
        <p:spPr>
          <a:xfrm>
            <a:off x="467440" y="662064"/>
            <a:ext cx="7930601" cy="904200"/>
          </a:xfrm>
          <a:prstGeom prst="rect">
            <a:avLst/>
          </a:prstGeom>
          <a:noFill/>
          <a:ln>
            <a:noFill/>
          </a:ln>
        </p:spPr>
        <p:txBody>
          <a:bodyPr spcFirstLastPara="1" wrap="square" lIns="91425" tIns="45700" rIns="91425" bIns="45700" anchor="ctr" anchorCtr="0">
            <a:normAutofit/>
          </a:bodyPr>
          <a:lstStyle/>
          <a:p>
            <a:pPr lvl="0">
              <a:lnSpc>
                <a:spcPct val="90000"/>
              </a:lnSpc>
              <a:buClr>
                <a:schemeClr val="dk1"/>
              </a:buClr>
              <a:buSzPts val="2400"/>
            </a:pPr>
            <a:r>
              <a:rPr lang="en-US" sz="2400" b="1" dirty="0">
                <a:solidFill>
                  <a:schemeClr val="dk1"/>
                </a:solidFill>
                <a:latin typeface="Calibri"/>
                <a:cs typeface="Calibri"/>
              </a:rPr>
              <a:t>Documentation Deficiencies Across Payer Type </a:t>
            </a:r>
            <a:r>
              <a:rPr lang="en-US" sz="2400" b="1" dirty="0">
                <a:solidFill>
                  <a:schemeClr val="dk1"/>
                </a:solidFill>
                <a:latin typeface="Calibri"/>
                <a:cs typeface="Calibri"/>
                <a:sym typeface="Calibri"/>
              </a:rPr>
              <a:t>Overview </a:t>
            </a:r>
            <a:endParaRPr sz="2400" b="1" dirty="0">
              <a:solidFill>
                <a:schemeClr val="dk1"/>
              </a:solidFill>
              <a:latin typeface="Calibri"/>
              <a:cs typeface="Calibri"/>
              <a:sym typeface="Calibri"/>
            </a:endParaRPr>
          </a:p>
        </p:txBody>
      </p:sp>
      <p:sp>
        <p:nvSpPr>
          <p:cNvPr id="5" name="TextBox 4">
            <a:extLst>
              <a:ext uri="{FF2B5EF4-FFF2-40B4-BE49-F238E27FC236}">
                <a16:creationId xmlns:a16="http://schemas.microsoft.com/office/drawing/2014/main" id="{571EA208-3941-2FAD-C0DA-FF7EBCE0BD10}"/>
              </a:ext>
            </a:extLst>
          </p:cNvPr>
          <p:cNvSpPr txBox="1"/>
          <p:nvPr/>
        </p:nvSpPr>
        <p:spPr>
          <a:xfrm>
            <a:off x="467440" y="1566264"/>
            <a:ext cx="4321128" cy="4616648"/>
          </a:xfrm>
          <a:prstGeom prst="rect">
            <a:avLst/>
          </a:prstGeom>
          <a:noFill/>
        </p:spPr>
        <p:txBody>
          <a:bodyPr wrap="square" rtlCol="0">
            <a:spAutoFit/>
          </a:bodyPr>
          <a:lstStyle/>
          <a:p>
            <a:r>
              <a:rPr lang="en-US" dirty="0">
                <a:latin typeface="Calibri" panose="020F0502020204030204" pitchFamily="34" charset="0"/>
                <a:ea typeface="Calibri" panose="020F0502020204030204" pitchFamily="34" charset="0"/>
                <a:cs typeface="Calibri" panose="020F0502020204030204" pitchFamily="34" charset="0"/>
              </a:rPr>
              <a:t>This analysis examines how documentation deficiencies are distributed across payer types to identify where operational risk is most concentrated.</a:t>
            </a:r>
          </a:p>
          <a:p>
            <a:endParaRPr lang="en-US" dirty="0">
              <a:latin typeface="Calibri" panose="020F0502020204030204" pitchFamily="34" charset="0"/>
              <a:ea typeface="Calibri" panose="020F0502020204030204" pitchFamily="34" charset="0"/>
              <a:cs typeface="Calibri" panose="020F0502020204030204" pitchFamily="34" charset="0"/>
            </a:endParaRPr>
          </a:p>
          <a:p>
            <a:r>
              <a:rPr lang="en-US" dirty="0">
                <a:latin typeface="Calibri" panose="020F0502020204030204" pitchFamily="34" charset="0"/>
                <a:ea typeface="Calibri" panose="020F0502020204030204" pitchFamily="34" charset="0"/>
                <a:cs typeface="Calibri" panose="020F0502020204030204" pitchFamily="34" charset="0"/>
              </a:rPr>
              <a:t>Understanding payer-specific documentation patterns helps prioritize quality improvement efforts and resource allocation.</a:t>
            </a:r>
          </a:p>
          <a:p>
            <a:endParaRPr lang="en-US" dirty="0">
              <a:latin typeface="Calibri" panose="020F0502020204030204" pitchFamily="34" charset="0"/>
              <a:ea typeface="Calibri" panose="020F0502020204030204" pitchFamily="34" charset="0"/>
              <a:cs typeface="Calibri" panose="020F0502020204030204" pitchFamily="34" charset="0"/>
            </a:endParaRPr>
          </a:p>
          <a:p>
            <a:r>
              <a:rPr lang="en-US" dirty="0">
                <a:latin typeface="Calibri" panose="020F0502020204030204" pitchFamily="34" charset="0"/>
                <a:ea typeface="Calibri" panose="020F0502020204030204" pitchFamily="34" charset="0"/>
                <a:cs typeface="Calibri" panose="020F0502020204030204" pitchFamily="34" charset="0"/>
              </a:rPr>
              <a:t>The largest concentrations of documentation deficiencies were observed in:</a:t>
            </a:r>
          </a:p>
          <a:p>
            <a:pPr marL="285750" indent="-285750">
              <a:buFont typeface="Wingdings" pitchFamily="2" charset="2"/>
              <a:buChar char="§"/>
            </a:pPr>
            <a:r>
              <a:rPr lang="en-US" dirty="0">
                <a:latin typeface="Calibri" panose="020F0502020204030204" pitchFamily="34" charset="0"/>
                <a:ea typeface="Calibri" panose="020F0502020204030204" pitchFamily="34" charset="0"/>
                <a:cs typeface="Calibri" panose="020F0502020204030204" pitchFamily="34" charset="0"/>
              </a:rPr>
              <a:t>Commercial PPO</a:t>
            </a:r>
          </a:p>
          <a:p>
            <a:pPr marL="285750" indent="-285750">
              <a:buFont typeface="Wingdings" pitchFamily="2" charset="2"/>
              <a:buChar char="§"/>
            </a:pPr>
            <a:r>
              <a:rPr lang="en-US" dirty="0">
                <a:latin typeface="Calibri" panose="020F0502020204030204" pitchFamily="34" charset="0"/>
                <a:ea typeface="Calibri" panose="020F0502020204030204" pitchFamily="34" charset="0"/>
                <a:cs typeface="Calibri" panose="020F0502020204030204" pitchFamily="34" charset="0"/>
              </a:rPr>
              <a:t>Medicare FFS</a:t>
            </a:r>
          </a:p>
          <a:p>
            <a:pPr marL="285750" indent="-285750">
              <a:buFont typeface="Wingdings" pitchFamily="2" charset="2"/>
              <a:buChar char="§"/>
            </a:pPr>
            <a:r>
              <a:rPr lang="en-US" dirty="0">
                <a:latin typeface="Calibri" panose="020F0502020204030204" pitchFamily="34" charset="0"/>
                <a:ea typeface="Calibri" panose="020F0502020204030204" pitchFamily="34" charset="0"/>
                <a:cs typeface="Calibri" panose="020F0502020204030204" pitchFamily="34" charset="0"/>
              </a:rPr>
              <a:t>Medicare Advantage</a:t>
            </a:r>
          </a:p>
          <a:p>
            <a:pPr marL="285750" indent="-285750">
              <a:buFont typeface="Wingdings" pitchFamily="2" charset="2"/>
              <a:buChar char="§"/>
            </a:pPr>
            <a:endParaRPr lang="en-US" dirty="0">
              <a:latin typeface="Calibri" panose="020F0502020204030204" pitchFamily="34" charset="0"/>
              <a:ea typeface="Calibri" panose="020F0502020204030204" pitchFamily="34" charset="0"/>
              <a:cs typeface="Calibri" panose="020F0502020204030204" pitchFamily="34" charset="0"/>
            </a:endParaRPr>
          </a:p>
          <a:p>
            <a:r>
              <a:rPr lang="en-US" dirty="0">
                <a:latin typeface="Calibri" panose="020F0502020204030204" pitchFamily="34" charset="0"/>
                <a:ea typeface="Calibri" panose="020F0502020204030204" pitchFamily="34" charset="0"/>
                <a:cs typeface="Calibri" panose="020F0502020204030204" pitchFamily="34" charset="0"/>
              </a:rPr>
              <a:t>These payer segments represent the greatest opportunity for documentation quality improvement and risk reduction.</a:t>
            </a:r>
          </a:p>
          <a:p>
            <a:endParaRPr lang="en-US" dirty="0"/>
          </a:p>
          <a:p>
            <a:endParaRPr lang="en-US" dirty="0"/>
          </a:p>
          <a:p>
            <a:endParaRPr lang="en-US" dirty="0"/>
          </a:p>
          <a:p>
            <a:endParaRPr lang="en-US"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58">
          <a:extLst>
            <a:ext uri="{FF2B5EF4-FFF2-40B4-BE49-F238E27FC236}">
              <a16:creationId xmlns:a16="http://schemas.microsoft.com/office/drawing/2014/main" id="{4404010C-94CF-DAD8-38B2-D59511B88D58}"/>
            </a:ext>
          </a:extLst>
        </p:cNvPr>
        <p:cNvGrpSpPr/>
        <p:nvPr/>
      </p:nvGrpSpPr>
      <p:grpSpPr>
        <a:xfrm>
          <a:off x="0" y="0"/>
          <a:ext cx="0" cy="0"/>
          <a:chOff x="0" y="0"/>
          <a:chExt cx="0" cy="0"/>
        </a:xfrm>
      </p:grpSpPr>
      <p:sp>
        <p:nvSpPr>
          <p:cNvPr id="159" name="Google Shape;159;p5">
            <a:extLst>
              <a:ext uri="{FF2B5EF4-FFF2-40B4-BE49-F238E27FC236}">
                <a16:creationId xmlns:a16="http://schemas.microsoft.com/office/drawing/2014/main" id="{D5CF67FD-21CC-A22A-44BF-C7A32D85ED4C}"/>
              </a:ext>
            </a:extLst>
          </p:cNvPr>
          <p:cNvSpPr/>
          <p:nvPr/>
        </p:nvSpPr>
        <p:spPr>
          <a:xfrm>
            <a:off x="1491479" y="937274"/>
            <a:ext cx="2482888" cy="560080"/>
          </a:xfrm>
          <a:prstGeom prst="roundRect">
            <a:avLst>
              <a:gd name="adj" fmla="val 16667"/>
            </a:avLst>
          </a:prstGeom>
          <a:gradFill>
            <a:gsLst>
              <a:gs pos="0">
                <a:srgbClr val="B0CAE9"/>
              </a:gs>
              <a:gs pos="50000">
                <a:srgbClr val="A1C1E4"/>
              </a:gs>
              <a:gs pos="100000">
                <a:srgbClr val="90B8E4"/>
              </a:gs>
            </a:gsLst>
            <a:lin ang="5400000" scaled="0"/>
          </a:gradFill>
          <a:ln w="9525" cap="flat" cmpd="sng">
            <a:solidFill>
              <a:schemeClr val="accent5"/>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800" dirty="0">
                <a:solidFill>
                  <a:schemeClr val="dk1"/>
                </a:solidFill>
                <a:latin typeface="Calibri"/>
                <a:ea typeface="Calibri"/>
                <a:cs typeface="Calibri"/>
                <a:sym typeface="Calibri"/>
              </a:rPr>
              <a:t>Recommendations </a:t>
            </a:r>
            <a:endParaRPr dirty="0"/>
          </a:p>
        </p:txBody>
      </p:sp>
      <p:sp>
        <p:nvSpPr>
          <p:cNvPr id="160" name="Google Shape;160;p5">
            <a:extLst>
              <a:ext uri="{FF2B5EF4-FFF2-40B4-BE49-F238E27FC236}">
                <a16:creationId xmlns:a16="http://schemas.microsoft.com/office/drawing/2014/main" id="{F7996FE6-BA57-3C2D-A65D-58C467AB7F45}"/>
              </a:ext>
            </a:extLst>
          </p:cNvPr>
          <p:cNvSpPr/>
          <p:nvPr/>
        </p:nvSpPr>
        <p:spPr>
          <a:xfrm>
            <a:off x="1521160" y="4246805"/>
            <a:ext cx="2482889" cy="560080"/>
          </a:xfrm>
          <a:prstGeom prst="roundRect">
            <a:avLst>
              <a:gd name="adj" fmla="val 16667"/>
            </a:avLst>
          </a:prstGeom>
          <a:gradFill>
            <a:gsLst>
              <a:gs pos="0">
                <a:srgbClr val="FFDC9B"/>
              </a:gs>
              <a:gs pos="50000">
                <a:srgbClr val="FFD68D"/>
              </a:gs>
              <a:gs pos="100000">
                <a:srgbClr val="FFD478"/>
              </a:gs>
            </a:gsLst>
            <a:lin ang="5400000" scaled="0"/>
          </a:gradFill>
          <a:ln w="9525" cap="flat" cmpd="sng">
            <a:solidFill>
              <a:schemeClr val="accent4"/>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800" dirty="0">
                <a:solidFill>
                  <a:schemeClr val="dk1"/>
                </a:solidFill>
                <a:latin typeface="Calibri"/>
                <a:ea typeface="Calibri"/>
                <a:cs typeface="Calibri"/>
                <a:sym typeface="Calibri"/>
              </a:rPr>
              <a:t>Expected Outcome</a:t>
            </a:r>
            <a:endParaRPr dirty="0"/>
          </a:p>
        </p:txBody>
      </p:sp>
      <p:sp>
        <p:nvSpPr>
          <p:cNvPr id="161" name="Google Shape;161;p5">
            <a:extLst>
              <a:ext uri="{FF2B5EF4-FFF2-40B4-BE49-F238E27FC236}">
                <a16:creationId xmlns:a16="http://schemas.microsoft.com/office/drawing/2014/main" id="{F4FA4CB2-1BAF-2A3E-7C87-BCEC1CDDBE32}"/>
              </a:ext>
            </a:extLst>
          </p:cNvPr>
          <p:cNvSpPr/>
          <p:nvPr/>
        </p:nvSpPr>
        <p:spPr>
          <a:xfrm>
            <a:off x="2221903" y="1698172"/>
            <a:ext cx="6726154" cy="2146997"/>
          </a:xfrm>
          <a:prstGeom prst="roundRect">
            <a:avLst>
              <a:gd name="adj" fmla="val 16667"/>
            </a:avLst>
          </a:prstGeom>
          <a:noFill/>
          <a:ln w="9525" cap="flat" cmpd="sng">
            <a:noFill/>
            <a:prstDash val="solid"/>
            <a:miter lim="8000"/>
            <a:headEnd type="none" w="sm" len="sm"/>
            <a:tailEnd type="none" w="sm" len="sm"/>
          </a:ln>
        </p:spPr>
        <p:txBody>
          <a:bodyPr spcFirstLastPara="1" wrap="square" lIns="91425" tIns="45700" rIns="91425" bIns="45700" anchor="ctr" anchorCtr="0">
            <a:noAutofit/>
          </a:bodyPr>
          <a:lstStyle/>
          <a:p>
            <a:pPr marL="628650" lvl="1" indent="-171450">
              <a:buClrTx/>
              <a:buFont typeface="Wingdings" pitchFamily="2" charset="2"/>
              <a:buChar char="§"/>
            </a:pPr>
            <a:r>
              <a:rPr lang="en-US" altLang="en-US" sz="1600" dirty="0">
                <a:solidFill>
                  <a:srgbClr val="1F1F1F"/>
                </a:solidFill>
                <a:latin typeface="Calibri" panose="020F0502020204030204" pitchFamily="34" charset="0"/>
                <a:ea typeface="Calibri" panose="020F0502020204030204" pitchFamily="34" charset="0"/>
                <a:cs typeface="Calibri" panose="020F0502020204030204" pitchFamily="34" charset="0"/>
              </a:rPr>
              <a:t>Improve prior authorization validation before claim submission</a:t>
            </a:r>
          </a:p>
          <a:p>
            <a:pPr marL="457200" lvl="1">
              <a:buClrTx/>
            </a:pPr>
            <a:r>
              <a:rPr lang="en-US" altLang="en-US" sz="1600" dirty="0">
                <a:solidFill>
                  <a:srgbClr val="1F1F1F"/>
                </a:solidFill>
                <a:latin typeface="Calibri" panose="020F0502020204030204" pitchFamily="34" charset="0"/>
                <a:ea typeface="Calibri" panose="020F0502020204030204" pitchFamily="34" charset="0"/>
                <a:cs typeface="Calibri" panose="020F0502020204030204" pitchFamily="34" charset="0"/>
              </a:rPr>
              <a:t> </a:t>
            </a:r>
          </a:p>
          <a:p>
            <a:pPr marL="628650" lvl="1" indent="-171450">
              <a:buClrTx/>
              <a:buFont typeface="Wingdings" pitchFamily="2" charset="2"/>
              <a:buChar char="§"/>
            </a:pPr>
            <a:r>
              <a:rPr lang="en-US" altLang="en-US" sz="1600" dirty="0">
                <a:solidFill>
                  <a:srgbClr val="1F1F1F"/>
                </a:solidFill>
                <a:latin typeface="Calibri" panose="020F0502020204030204" pitchFamily="34" charset="0"/>
                <a:ea typeface="Calibri" panose="020F0502020204030204" pitchFamily="34" charset="0"/>
                <a:cs typeface="Calibri" panose="020F0502020204030204" pitchFamily="34" charset="0"/>
              </a:rPr>
              <a:t>Increase documentation completeness standards </a:t>
            </a:r>
          </a:p>
          <a:p>
            <a:pPr marL="628650" lvl="1" indent="-171450">
              <a:buClrTx/>
              <a:buFont typeface="Wingdings" pitchFamily="2" charset="2"/>
              <a:buChar char="§"/>
            </a:pPr>
            <a:endParaRPr lang="en-US" altLang="en-US" sz="1600" dirty="0">
              <a:solidFill>
                <a:srgbClr val="1F1F1F"/>
              </a:solidFill>
              <a:latin typeface="Calibri" panose="020F0502020204030204" pitchFamily="34" charset="0"/>
              <a:ea typeface="Calibri" panose="020F0502020204030204" pitchFamily="34" charset="0"/>
              <a:cs typeface="Calibri" panose="020F0502020204030204" pitchFamily="34" charset="0"/>
            </a:endParaRPr>
          </a:p>
          <a:p>
            <a:pPr marL="628650" indent="-171450">
              <a:buClrTx/>
              <a:buFont typeface="Wingdings" pitchFamily="2" charset="2"/>
              <a:buChar char="§"/>
            </a:pPr>
            <a:r>
              <a:rPr lang="en-US" altLang="en-US" sz="1600" dirty="0">
                <a:solidFill>
                  <a:srgbClr val="1F1F1F"/>
                </a:solidFill>
                <a:latin typeface="Calibri" panose="020F0502020204030204" pitchFamily="34" charset="0"/>
                <a:ea typeface="Calibri" panose="020F0502020204030204" pitchFamily="34" charset="0"/>
                <a:cs typeface="Calibri" panose="020F0502020204030204" pitchFamily="34" charset="0"/>
              </a:rPr>
              <a:t>Monitor high-risk claims to reduce rework and delays </a:t>
            </a:r>
          </a:p>
          <a:p>
            <a:pPr marL="457200" lvl="1">
              <a:buClrTx/>
            </a:pPr>
            <a:endParaRPr lang="en-US" altLang="en-US" sz="1600" dirty="0">
              <a:solidFill>
                <a:srgbClr val="1F1F1F"/>
              </a:solidFill>
              <a:latin typeface="Calibri" panose="020F0502020204030204" pitchFamily="34" charset="0"/>
              <a:ea typeface="Calibri" panose="020F0502020204030204" pitchFamily="34" charset="0"/>
              <a:cs typeface="Calibri" panose="020F0502020204030204" pitchFamily="34" charset="0"/>
            </a:endParaRPr>
          </a:p>
          <a:p>
            <a:pPr marL="628650" lvl="1" indent="-171450">
              <a:buClrTx/>
              <a:buFont typeface="Wingdings" pitchFamily="2" charset="2"/>
              <a:buChar char="§"/>
            </a:pPr>
            <a:r>
              <a:rPr lang="en-US" altLang="en-US" sz="1600" dirty="0">
                <a:solidFill>
                  <a:srgbClr val="1F1F1F"/>
                </a:solidFill>
                <a:latin typeface="Calibri" panose="020F0502020204030204" pitchFamily="34" charset="0"/>
                <a:ea typeface="Calibri" panose="020F0502020204030204" pitchFamily="34" charset="0"/>
                <a:cs typeface="Calibri" panose="020F0502020204030204" pitchFamily="34" charset="0"/>
              </a:rPr>
              <a:t>Analyze denial categories to reduce preventable denials </a:t>
            </a:r>
          </a:p>
          <a:p>
            <a:pPr marL="628650" lvl="1" indent="-171450">
              <a:buClrTx/>
              <a:buFont typeface="Wingdings" pitchFamily="2" charset="2"/>
              <a:buChar char="§"/>
            </a:pPr>
            <a:endParaRPr lang="en-US" altLang="en-US" sz="1600" dirty="0">
              <a:solidFill>
                <a:srgbClr val="1F1F1F"/>
              </a:solidFill>
              <a:latin typeface="Calibri" panose="020F0502020204030204" pitchFamily="34" charset="0"/>
              <a:ea typeface="Calibri" panose="020F0502020204030204" pitchFamily="34" charset="0"/>
              <a:cs typeface="Calibri" panose="020F0502020204030204" pitchFamily="34" charset="0"/>
            </a:endParaRPr>
          </a:p>
          <a:p>
            <a:pPr marL="628650" lvl="1" indent="-171450">
              <a:buClrTx/>
              <a:buFont typeface="Wingdings" pitchFamily="2" charset="2"/>
              <a:buChar char="§"/>
            </a:pPr>
            <a:r>
              <a:rPr lang="en-US" altLang="en-US" sz="1600" dirty="0">
                <a:solidFill>
                  <a:srgbClr val="1F1F1F"/>
                </a:solidFill>
                <a:latin typeface="Calibri" panose="020F0502020204030204" pitchFamily="34" charset="0"/>
                <a:ea typeface="Calibri" panose="020F0502020204030204" pitchFamily="34" charset="0"/>
                <a:cs typeface="Calibri" panose="020F0502020204030204" pitchFamily="34" charset="0"/>
              </a:rPr>
              <a:t>Implement pre-submission quality checks</a:t>
            </a:r>
          </a:p>
        </p:txBody>
      </p:sp>
      <p:sp>
        <p:nvSpPr>
          <p:cNvPr id="162" name="Google Shape;162;p5">
            <a:extLst>
              <a:ext uri="{FF2B5EF4-FFF2-40B4-BE49-F238E27FC236}">
                <a16:creationId xmlns:a16="http://schemas.microsoft.com/office/drawing/2014/main" id="{C05AD797-0EEE-A775-CBD5-846862FCE3DC}"/>
              </a:ext>
            </a:extLst>
          </p:cNvPr>
          <p:cNvSpPr/>
          <p:nvPr/>
        </p:nvSpPr>
        <p:spPr>
          <a:xfrm>
            <a:off x="2732923" y="4806885"/>
            <a:ext cx="6726154" cy="917239"/>
          </a:xfrm>
          <a:prstGeom prst="roundRect">
            <a:avLst>
              <a:gd name="adj" fmla="val 16667"/>
            </a:avLst>
          </a:prstGeom>
          <a:noFill/>
          <a:ln w="9525" cap="flat" cmpd="sng">
            <a:noFill/>
            <a:prstDash val="solid"/>
            <a:miter lim="8000"/>
            <a:headEnd type="none" w="sm" len="sm"/>
            <a:tailEnd type="none" w="sm" len="sm"/>
          </a:ln>
        </p:spPr>
        <p:txBody>
          <a:bodyPr spcFirstLastPara="1" wrap="square" lIns="91425" tIns="45700" rIns="91425" bIns="45700" anchor="ctr" anchorCtr="0">
            <a:noAutofit/>
          </a:bodyPr>
          <a:lstStyle/>
          <a:p>
            <a:pPr lvl="0" eaLnBrk="0" fontAlgn="base" hangingPunct="0">
              <a:spcBef>
                <a:spcPct val="0"/>
              </a:spcBef>
              <a:spcAft>
                <a:spcPct val="0"/>
              </a:spcAft>
              <a:buClrTx/>
            </a:pPr>
            <a:r>
              <a:rPr lang="en-US" altLang="en-US" sz="1600" dirty="0">
                <a:solidFill>
                  <a:srgbClr val="1F1F1F"/>
                </a:solidFill>
                <a:latin typeface="Calibri" panose="020F0502020204030204" pitchFamily="34" charset="0"/>
                <a:ea typeface="Calibri" panose="020F0502020204030204" pitchFamily="34" charset="0"/>
                <a:cs typeface="Calibri" panose="020F0502020204030204" pitchFamily="34" charset="0"/>
              </a:rPr>
              <a:t>These actions can help improve operational efficiency, reduce administrative burden, and enhance claims processing performance</a:t>
            </a:r>
            <a:r>
              <a:rPr lang="en-US" altLang="en-US" dirty="0">
                <a:solidFill>
                  <a:srgbClr val="1F1F1F"/>
                </a:solidFill>
                <a:latin typeface="Calibri" panose="020F0502020204030204" pitchFamily="34" charset="0"/>
                <a:ea typeface="Calibri" panose="020F0502020204030204" pitchFamily="34" charset="0"/>
                <a:cs typeface="Calibri" panose="020F0502020204030204" pitchFamily="34" charset="0"/>
              </a:rPr>
              <a:t>.</a:t>
            </a:r>
            <a:endParaRPr lang="en-US" altLang="en-US" dirty="0">
              <a:solidFill>
                <a:schemeClr val="tx1"/>
              </a:solidFill>
              <a:latin typeface="Calibri" panose="020F0502020204030204" pitchFamily="34" charset="0"/>
              <a:ea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45568851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209"/>
        <p:cNvGrpSpPr/>
        <p:nvPr/>
      </p:nvGrpSpPr>
      <p:grpSpPr>
        <a:xfrm>
          <a:off x="0" y="0"/>
          <a:ext cx="0" cy="0"/>
          <a:chOff x="0" y="0"/>
          <a:chExt cx="0" cy="0"/>
        </a:xfrm>
      </p:grpSpPr>
      <p:sp>
        <p:nvSpPr>
          <p:cNvPr id="210" name="Google Shape;210;p12"/>
          <p:cNvSpPr txBox="1">
            <a:spLocks noGrp="1"/>
          </p:cNvSpPr>
          <p:nvPr>
            <p:ph type="title"/>
          </p:nvPr>
        </p:nvSpPr>
        <p:spPr>
          <a:xfrm>
            <a:off x="457200" y="2878091"/>
            <a:ext cx="3729789" cy="3440485"/>
          </a:xfrm>
        </p:spPr>
        <p:txBody>
          <a:bodyPr spcFirstLastPara="1" wrap="square" lIns="91425" tIns="45700" rIns="91425" bIns="45700" anchor="ctr" anchorCtr="0">
            <a:normAutofit/>
          </a:bodyPr>
          <a:lstStyle/>
          <a:p>
            <a:pPr marL="0" lvl="0" indent="0" rtl="0">
              <a:spcBef>
                <a:spcPts val="0"/>
              </a:spcBef>
              <a:spcAft>
                <a:spcPts val="0"/>
              </a:spcAft>
              <a:buClr>
                <a:schemeClr val="dk1"/>
              </a:buClr>
              <a:buSzPts val="2800"/>
              <a:buFont typeface="Calibri"/>
              <a:buNone/>
            </a:pPr>
            <a:r>
              <a:rPr lang="en-US" dirty="0"/>
              <a:t>Conclusion </a:t>
            </a:r>
          </a:p>
        </p:txBody>
      </p:sp>
      <p:pic>
        <p:nvPicPr>
          <p:cNvPr id="211" name="Google Shape;211;p12" descr="Businesswoman reviewing sticky notes on a wall"/>
          <p:cNvPicPr preferRelativeResize="0">
            <a:picLocks noGrp="1"/>
          </p:cNvPicPr>
          <p:nvPr>
            <p:ph type="pic" idx="2"/>
          </p:nvPr>
        </p:nvPicPr>
        <p:blipFill>
          <a:blip r:embed="rId3"/>
          <a:srcRect t="35744" b="35744"/>
          <a:stretch/>
        </p:blipFill>
        <p:spPr>
          <a:xfrm>
            <a:off x="457200" y="670560"/>
            <a:ext cx="11267440" cy="2139696"/>
          </a:xfrm>
          <a:prstGeom prst="rect">
            <a:avLst/>
          </a:prstGeom>
          <a:noFill/>
          <a:ln>
            <a:noFill/>
          </a:ln>
        </p:spPr>
      </p:pic>
      <p:sp>
        <p:nvSpPr>
          <p:cNvPr id="2" name="Text Placeholder 1">
            <a:extLst>
              <a:ext uri="{FF2B5EF4-FFF2-40B4-BE49-F238E27FC236}">
                <a16:creationId xmlns:a16="http://schemas.microsoft.com/office/drawing/2014/main" id="{6C2C5BBD-6FFE-02A0-79DB-934C50231D6A}"/>
              </a:ext>
            </a:extLst>
          </p:cNvPr>
          <p:cNvSpPr>
            <a:spLocks noGrp="1" noChangeArrowheads="1"/>
          </p:cNvSpPr>
          <p:nvPr>
            <p:ph type="body" idx="1"/>
          </p:nvPr>
        </p:nvSpPr>
        <p:spPr bwMode="auto">
          <a:xfrm>
            <a:off x="4305827" y="2878091"/>
            <a:ext cx="7418813" cy="3440485"/>
          </a:xfr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79350" rIns="91440" bIns="79350" numCol="1" anchor="ctr" anchorCtr="0" compatLnSpc="1">
            <a:prstTxWarp prst="textNoShape">
              <a:avLst/>
            </a:prstTxWarp>
            <a:norm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marL="0" lvl="0" indent="0" defTabSz="914400" eaLnBrk="0" fontAlgn="base" latinLnBrk="0" hangingPunct="0">
              <a:spcBef>
                <a:spcPts val="0"/>
              </a:spcBef>
              <a:spcAft>
                <a:spcPts val="600"/>
              </a:spcAft>
              <a:buClr>
                <a:srgbClr val="000000"/>
              </a:buClr>
              <a:buSzTx/>
              <a:buFont typeface="Arial"/>
              <a:buNone/>
              <a:tabLst/>
            </a:pPr>
            <a:r>
              <a:rPr kumimoji="0" lang="en-US" altLang="en-US" sz="1600" b="0" i="0" u="none" strike="noStrike" cap="none" normalizeH="0" baseline="0" dirty="0">
                <a:ln>
                  <a:noFill/>
                </a:ln>
                <a:solidFill>
                  <a:schemeClr val="dk1"/>
                </a:solidFill>
                <a:effectLst/>
                <a:latin typeface="Calibri" panose="020F0502020204030204" pitchFamily="34" charset="0"/>
                <a:ea typeface="Calibri" panose="020F0502020204030204" pitchFamily="34" charset="0"/>
                <a:cs typeface="Calibri" panose="020F0502020204030204" pitchFamily="34" charset="0"/>
              </a:rPr>
              <a:t>This capstone project demonstrates how claims data can be used to evaluate processing risk, denial trends, and financial impact.</a:t>
            </a:r>
            <a:r>
              <a:rPr lang="en-US" altLang="en-US" sz="1600" b="0" i="0" u="none" strike="noStrike" cap="none" dirty="0">
                <a:solidFill>
                  <a:schemeClr val="dk1"/>
                </a:solidFill>
                <a:latin typeface="Calibri" panose="020F0502020204030204" pitchFamily="34" charset="0"/>
                <a:ea typeface="Calibri" panose="020F0502020204030204" pitchFamily="34" charset="0"/>
                <a:cs typeface="Calibri" panose="020F0502020204030204" pitchFamily="34" charset="0"/>
              </a:rPr>
              <a:t> </a:t>
            </a:r>
            <a:r>
              <a:rPr kumimoji="0" lang="en-US" altLang="en-US" sz="1600" b="0" i="0" u="none" strike="noStrike" cap="none" normalizeH="0" baseline="0" dirty="0">
                <a:ln>
                  <a:noFill/>
                </a:ln>
                <a:solidFill>
                  <a:schemeClr val="dk1"/>
                </a:solidFill>
                <a:effectLst/>
                <a:latin typeface="Calibri" panose="020F0502020204030204" pitchFamily="34" charset="0"/>
                <a:ea typeface="Calibri" panose="020F0502020204030204" pitchFamily="34" charset="0"/>
                <a:cs typeface="Calibri" panose="020F0502020204030204" pitchFamily="34" charset="0"/>
              </a:rPr>
              <a:t>By cleaning the data, engineering useful fields, calculating denial rates, analyzing risk drivers, and building a scorecard-style dashboard, the project shows how data analytics can support healthcare operations and compliance monitoring.</a:t>
            </a:r>
          </a:p>
          <a:p>
            <a:pPr marL="0" lvl="0" indent="0" defTabSz="914400" eaLnBrk="0" fontAlgn="base" latinLnBrk="0" hangingPunct="0">
              <a:spcBef>
                <a:spcPts val="0"/>
              </a:spcBef>
              <a:spcAft>
                <a:spcPts val="600"/>
              </a:spcAft>
              <a:buClr>
                <a:srgbClr val="000000"/>
              </a:buClr>
              <a:buSzTx/>
              <a:buFont typeface="Arial"/>
              <a:buNone/>
              <a:tabLst/>
            </a:pPr>
            <a:endParaRPr kumimoji="0" lang="en-US" altLang="en-US" sz="1600" b="0" i="0" u="none" strike="noStrike" cap="none" normalizeH="0" baseline="0" dirty="0">
              <a:ln>
                <a:noFill/>
              </a:ln>
              <a:solidFill>
                <a:schemeClr val="dk1"/>
              </a:solidFill>
              <a:effectLst/>
              <a:latin typeface="Calibri" panose="020F0502020204030204" pitchFamily="34" charset="0"/>
              <a:ea typeface="Calibri" panose="020F0502020204030204" pitchFamily="34" charset="0"/>
              <a:cs typeface="Calibri" panose="020F0502020204030204" pitchFamily="34" charset="0"/>
            </a:endParaRPr>
          </a:p>
          <a:p>
            <a:pPr marL="0" lvl="0" indent="0" defTabSz="914400" eaLnBrk="0" fontAlgn="base" latinLnBrk="0" hangingPunct="0">
              <a:spcBef>
                <a:spcPts val="0"/>
              </a:spcBef>
              <a:spcAft>
                <a:spcPts val="600"/>
              </a:spcAft>
              <a:buClr>
                <a:srgbClr val="000000"/>
              </a:buClr>
              <a:buSzTx/>
              <a:buFont typeface="Arial"/>
              <a:buNone/>
              <a:tabLst/>
            </a:pPr>
            <a:r>
              <a:rPr kumimoji="0" lang="en-US" altLang="en-US" sz="1600" b="0" i="0" u="none" strike="noStrike" cap="none" normalizeH="0" baseline="0" dirty="0">
                <a:ln>
                  <a:noFill/>
                </a:ln>
                <a:solidFill>
                  <a:schemeClr val="dk1"/>
                </a:solidFill>
                <a:effectLst/>
                <a:latin typeface="Calibri" panose="020F0502020204030204" pitchFamily="34" charset="0"/>
                <a:ea typeface="Calibri" panose="020F0502020204030204" pitchFamily="34" charset="0"/>
                <a:cs typeface="Calibri" panose="020F0502020204030204" pitchFamily="34" charset="0"/>
              </a:rPr>
              <a:t>The final analysis reflects real-world scorecard concepts used to identify risk, improve operational performance, and strengthen oversight.</a:t>
            </a:r>
          </a:p>
        </p:txBody>
      </p:sp>
    </p:spTree>
  </p:cSld>
  <p:clrMapOvr>
    <a:masterClrMapping/>
  </p:clrMapOvr>
</p:sld>
</file>

<file path=ppt/theme/theme1.xml><?xml version="1.0" encoding="utf-8"?>
<a:theme xmlns:a="http://schemas.openxmlformats.org/drawingml/2006/main" name="Office 2013 - 2022 Theme">
  <a:themeElements>
    <a:clrScheme name="Office 2013 - 2022 Them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Office 2013 - 2022 Theme</Template>
  <TotalTime>1837</TotalTime>
  <Words>1654</Words>
  <Application>Microsoft Office PowerPoint</Application>
  <PresentationFormat>Widescreen</PresentationFormat>
  <Paragraphs>228</Paragraphs>
  <Slides>15</Slides>
  <Notes>14</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15</vt:i4>
      </vt:variant>
    </vt:vector>
  </HeadingPairs>
  <TitlesOfParts>
    <vt:vector size="20" baseType="lpstr">
      <vt:lpstr>Arial</vt:lpstr>
      <vt:lpstr>Calibri</vt:lpstr>
      <vt:lpstr>Noto Sans Symbols</vt:lpstr>
      <vt:lpstr>Wingdings</vt:lpstr>
      <vt:lpstr>Office 2013 - 2022 Theme</vt:lpstr>
      <vt:lpstr>Claims Processing Risk  &amp; Accuracy Analysis</vt:lpstr>
      <vt:lpstr> </vt:lpstr>
      <vt:lpstr>PowerPoint Presentation</vt:lpstr>
      <vt:lpstr> </vt:lpstr>
      <vt:lpstr>PowerPoint Presentation</vt:lpstr>
      <vt:lpstr>Technical Implementation &amp; Risk Model Development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Conclusion </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Martin, Amber</dc:creator>
  <cp:lastModifiedBy>Martin, Amber</cp:lastModifiedBy>
  <cp:revision>6</cp:revision>
  <dcterms:created xsi:type="dcterms:W3CDTF">2026-05-27T21:03:56Z</dcterms:created>
  <dcterms:modified xsi:type="dcterms:W3CDTF">2026-06-04T12:49:38Z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y fmtid="{D5CDD505-2E9C-101B-9397-08002B2CF9AE}" pid="3" name="MSIP_Label_f4882f12-421b-44e0-be57-0bd76256c3e5_Enabled">
    <vt:lpwstr>true</vt:lpwstr>
  </property>
  <property fmtid="{D5CDD505-2E9C-101B-9397-08002B2CF9AE}" pid="4" name="MSIP_Label_f4882f12-421b-44e0-be57-0bd76256c3e5_SetDate">
    <vt:lpwstr>2026-05-27T21:27:39Z</vt:lpwstr>
  </property>
  <property fmtid="{D5CDD505-2E9C-101B-9397-08002B2CF9AE}" pid="5" name="MSIP_Label_f4882f12-421b-44e0-be57-0bd76256c3e5_Method">
    <vt:lpwstr>Standard</vt:lpwstr>
  </property>
  <property fmtid="{D5CDD505-2E9C-101B-9397-08002B2CF9AE}" pid="6" name="MSIP_Label_f4882f12-421b-44e0-be57-0bd76256c3e5_Name">
    <vt:lpwstr>General Business Data</vt:lpwstr>
  </property>
  <property fmtid="{D5CDD505-2E9C-101B-9397-08002B2CF9AE}" pid="7" name="MSIP_Label_f4882f12-421b-44e0-be57-0bd76256c3e5_SiteId">
    <vt:lpwstr>7697727b-2a23-4f42-a66c-02ef2bb7fd6b</vt:lpwstr>
  </property>
  <property fmtid="{D5CDD505-2E9C-101B-9397-08002B2CF9AE}" pid="8" name="MSIP_Label_f4882f12-421b-44e0-be57-0bd76256c3e5_ActionId">
    <vt:lpwstr>26a71c60-d1df-47a4-af10-a084320b44d4</vt:lpwstr>
  </property>
  <property fmtid="{D5CDD505-2E9C-101B-9397-08002B2CF9AE}" pid="9" name="MSIP_Label_f4882f12-421b-44e0-be57-0bd76256c3e5_ContentBits">
    <vt:lpwstr>0</vt:lpwstr>
  </property>
  <property fmtid="{D5CDD505-2E9C-101B-9397-08002B2CF9AE}" pid="10" name="MSIP_Label_f4882f12-421b-44e0-be57-0bd76256c3e5_Tag">
    <vt:lpwstr>10, 3, 0, 1</vt:lpwstr>
  </property>
</Properties>
</file>